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4" r:id="rId7"/>
    <p:sldId id="281" r:id="rId8"/>
    <p:sldId id="265" r:id="rId9"/>
    <p:sldId id="272" r:id="rId10"/>
    <p:sldId id="267" r:id="rId11"/>
    <p:sldId id="276" r:id="rId12"/>
    <p:sldId id="268" r:id="rId13"/>
    <p:sldId id="273"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219710" y="468630"/>
            <a:ext cx="11704955" cy="3666490"/>
          </a:xfrm>
        </p:spPr>
        <p:txBody>
          <a:bodyPr/>
          <a:p>
            <a:pPr algn="ctr"/>
            <a:r>
              <a:rPr lang="en-US" sz="2400"/>
              <a:t>Developing a Machine Learning Model on Facial Emotion Recognition and Detection using </a:t>
            </a:r>
            <a:br>
              <a:rPr lang="en-US" sz="2400"/>
            </a:br>
            <a:r>
              <a:rPr lang="en-US" sz="2400"/>
              <a:t>2D Convolutional Neural Network</a:t>
            </a:r>
            <a:br>
              <a:rPr lang="en-US" sz="2400"/>
            </a:br>
            <a:br>
              <a:rPr lang="en-US" sz="2400"/>
            </a:br>
            <a:br>
              <a:rPr lang="en-US" sz="2400"/>
            </a:br>
            <a:r>
              <a:rPr lang="en-US" sz="2400">
                <a:sym typeface="+mn-ea"/>
              </a:rPr>
              <a:t>OMAGE MICHEAL BRIGHT</a:t>
            </a:r>
            <a:br>
              <a:rPr lang="en-US" sz="2400">
                <a:sym typeface="+mn-ea"/>
              </a:rPr>
            </a:br>
            <a:br>
              <a:rPr lang="en-US" sz="2400">
                <a:sym typeface="+mn-ea"/>
              </a:rPr>
            </a:br>
            <a:r>
              <a:rPr lang="en-US" sz="2400">
                <a:sym typeface="+mn-ea"/>
              </a:rPr>
              <a:t>233353</a:t>
            </a:r>
            <a:endParaRPr lang="en-US" sz="2400"/>
          </a:p>
        </p:txBody>
      </p:sp>
      <p:sp>
        <p:nvSpPr>
          <p:cNvPr id="3" name="Subtitle 2"/>
          <p:cNvSpPr>
            <a:spLocks noGrp="1"/>
          </p:cNvSpPr>
          <p:nvPr>
            <p:ph type="subTitle" idx="1"/>
          </p:nvPr>
        </p:nvSpPr>
        <p:spPr>
          <a:xfrm>
            <a:off x="2931160" y="5043805"/>
            <a:ext cx="9144000" cy="379095"/>
          </a:xfrm>
        </p:spPr>
        <p:txBody>
          <a:bodyPr>
            <a:normAutofit fontScale="80000"/>
          </a:bodyPr>
          <a:p>
            <a:pPr algn="l"/>
            <a:r>
              <a:rPr lang="en-US"/>
              <a:t>SUPERVISOR NAME:		Dr. Nancy Woods</a:t>
            </a:r>
            <a:endParaRPr lang="en-US"/>
          </a:p>
          <a:p>
            <a:pPr algn="l"/>
            <a:endParaRPr lang="en-US"/>
          </a:p>
          <a:p>
            <a:pPr algn="l"/>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53023"/>
            <a:ext cx="10972800" cy="1143000"/>
          </a:xfrm>
        </p:spPr>
        <p:txBody>
          <a:bodyPr/>
          <a:p>
            <a:r>
              <a:rPr lang="en-US" sz="3600"/>
              <a:t>INTRODUCTION: CONTEXTUAL BACKGROUND</a:t>
            </a:r>
            <a:endParaRPr lang="en-US" sz="3600"/>
          </a:p>
        </p:txBody>
      </p:sp>
      <p:pic>
        <p:nvPicPr>
          <p:cNvPr id="4" name="Content Placeholder 3"/>
          <p:cNvPicPr>
            <a:picLocks noChangeAspect="1"/>
          </p:cNvPicPr>
          <p:nvPr>
            <p:ph idx="1"/>
          </p:nvPr>
        </p:nvPicPr>
        <p:blipFill>
          <a:blip r:embed="rId1"/>
          <a:stretch>
            <a:fillRect/>
          </a:stretch>
        </p:blipFill>
        <p:spPr>
          <a:xfrm>
            <a:off x="3305175" y="997585"/>
            <a:ext cx="5581650" cy="2457450"/>
          </a:xfrm>
          <a:prstGeom prst="rect">
            <a:avLst/>
          </a:prstGeom>
        </p:spPr>
      </p:pic>
      <p:sp>
        <p:nvSpPr>
          <p:cNvPr id="7" name="Text Box 6"/>
          <p:cNvSpPr txBox="1"/>
          <p:nvPr/>
        </p:nvSpPr>
        <p:spPr>
          <a:xfrm>
            <a:off x="160655" y="4271010"/>
            <a:ext cx="12031345" cy="2306955"/>
          </a:xfrm>
          <a:prstGeom prst="rect">
            <a:avLst/>
          </a:prstGeom>
          <a:noFill/>
        </p:spPr>
        <p:txBody>
          <a:bodyPr wrap="square" rtlCol="0">
            <a:spAutoFit/>
          </a:bodyPr>
          <a:p>
            <a:pPr algn="l"/>
            <a:r>
              <a:rPr lang="en-US" sz="1600"/>
              <a:t>Facial Emotion Recognition and Detection (FERD) is a captivating and evolving field within Artificial Intelligence (AI)</a:t>
            </a:r>
            <a:endParaRPr lang="en-US" sz="1600"/>
          </a:p>
          <a:p>
            <a:pPr algn="l"/>
            <a:r>
              <a:rPr lang="en-US" sz="1600"/>
              <a:t>and computer vision. It plays a pivotal role in understanding human emotions through the analysis of facial expressions, </a:t>
            </a:r>
            <a:endParaRPr lang="en-US" sz="1600"/>
          </a:p>
          <a:p>
            <a:pPr algn="l"/>
            <a:r>
              <a:rPr lang="en-US" sz="1600"/>
              <a:t>contributing to numerous applications ranging from human-computer interaction to mental health assessment.</a:t>
            </a:r>
            <a:endParaRPr lang="en-US" sz="1600"/>
          </a:p>
          <a:p>
            <a:pPr algn="l"/>
            <a:endParaRPr lang="en-US" sz="1600"/>
          </a:p>
          <a:p>
            <a:pPr algn="l"/>
            <a:r>
              <a:rPr lang="en-US" sz="1600">
                <a:sym typeface="+mn-ea"/>
              </a:rPr>
              <a:t>Facial expressions are a universal form of non-verbal communication that can convey emotions like anger, happiness, sadness, fear, surprise, disgust, and contempt. Convolutional neural networks (CNNs) are effective for facial emotion recognition, learning features from images. </a:t>
            </a:r>
            <a:endParaRPr lang="en-US" sz="1600"/>
          </a:p>
          <a:p>
            <a:pPr algn="l"/>
            <a:endParaRPr lang="en-US" sz="1600"/>
          </a:p>
          <a:p>
            <a:pPr marL="285750" indent="-285750" algn="l"/>
            <a:endParaRPr lang="en-US" sz="1600"/>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80365" y="1146175"/>
            <a:ext cx="10973435" cy="5031105"/>
          </a:xfrm>
        </p:spPr>
        <p:txBody>
          <a:bodyPr>
            <a:normAutofit/>
          </a:bodyPr>
          <a:p>
            <a:pPr marL="0" indent="0">
              <a:buNone/>
            </a:pPr>
            <a:endParaRPr lang="en-US" sz="1600"/>
          </a:p>
          <a:p>
            <a:pPr algn="l"/>
            <a:endParaRPr lang="en-US" sz="1600"/>
          </a:p>
          <a:p>
            <a:pPr marL="0" indent="0">
              <a:buNone/>
            </a:pPr>
            <a:r>
              <a:rPr lang="en-US" sz="1600"/>
              <a:t>This project has the potential to make a significant contribution to the field of facial emotion recognition and detection. By developing a model that is both robust and accurate, we can enable the development of new and innovative applications that can benefit society in a variety of ways.</a:t>
            </a:r>
            <a:endParaRPr lang="en-US" sz="1600"/>
          </a:p>
          <a:p>
            <a:pPr marL="0" indent="0">
              <a:buNone/>
            </a:pPr>
            <a:endParaRPr lang="en-US" sz="1600"/>
          </a:p>
          <a:p>
            <a:pPr marL="0" indent="0">
              <a:buNone/>
            </a:pPr>
            <a:r>
              <a:rPr lang="en-US" sz="1600"/>
              <a:t>For example, the system could be used to develop new tools for healthcare professionals to better diagnose and treat patients with mental health conditions. It could also be used to develop new security systems that can detect suspicious activity or identify individuals of interest. Additionally, the system could be used to develop new market research tools that can help businesses better understand their customers' needs and preferences.</a:t>
            </a:r>
            <a:endParaRPr lang="en-US" sz="1600"/>
          </a:p>
        </p:txBody>
      </p:sp>
      <p:sp>
        <p:nvSpPr>
          <p:cNvPr id="4" name="Title 1"/>
          <p:cNvSpPr>
            <a:spLocks noGrp="1"/>
          </p:cNvSpPr>
          <p:nvPr/>
        </p:nvSpPr>
        <p:spPr>
          <a:xfrm>
            <a:off x="609600" y="271780"/>
            <a:ext cx="10972800" cy="695325"/>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sz="2400"/>
              <a:t>INTRODUCTION </a:t>
            </a:r>
            <a:br>
              <a:rPr lang="en-US" sz="2400"/>
            </a:br>
            <a:r>
              <a:rPr lang="en-US" sz="2400"/>
              <a:t>THE SIGNIFICANCE OF FERD</a:t>
            </a:r>
            <a:endParaRPr lang="en-US" sz="24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300355"/>
          </a:xfrm>
        </p:spPr>
        <p:txBody>
          <a:bodyPr/>
          <a:p>
            <a:r>
              <a:rPr lang="en-US" sz="2000"/>
              <a:t>LITERATURE REVIEW TABLE</a:t>
            </a:r>
            <a:endParaRPr lang="en-US" sz="2000"/>
          </a:p>
        </p:txBody>
      </p:sp>
      <p:graphicFrame>
        <p:nvGraphicFramePr>
          <p:cNvPr id="4" name="Content Placeholder 3"/>
          <p:cNvGraphicFramePr/>
          <p:nvPr>
            <p:ph idx="1"/>
          </p:nvPr>
        </p:nvGraphicFramePr>
        <p:xfrm>
          <a:off x="0" y="698500"/>
          <a:ext cx="12150725" cy="6085840"/>
        </p:xfrm>
        <a:graphic>
          <a:graphicData uri="http://schemas.openxmlformats.org/drawingml/2006/table">
            <a:tbl>
              <a:tblPr firstRow="1" bandRow="1">
                <a:tableStyleId>{5C22544A-7EE6-4342-B048-85BDC9FD1C3A}</a:tableStyleId>
              </a:tblPr>
              <a:tblGrid>
                <a:gridCol w="382905"/>
                <a:gridCol w="1057910"/>
                <a:gridCol w="2578100"/>
                <a:gridCol w="3242310"/>
                <a:gridCol w="2613660"/>
                <a:gridCol w="2275840"/>
              </a:tblGrid>
              <a:tr h="772160">
                <a:tc>
                  <a:txBody>
                    <a:bodyPr/>
                    <a:p>
                      <a:pPr>
                        <a:lnSpc>
                          <a:spcPct val="70000"/>
                        </a:lnSpc>
                        <a:buNone/>
                      </a:pPr>
                      <a:r>
                        <a:rPr lang="en-US" sz="1400" b="0">
                          <a:latin typeface="Times New Roman Regular" panose="02020603050405020304" charset="0"/>
                          <a:cs typeface="Times New Roman Regular" panose="02020603050405020304" charset="0"/>
                        </a:rPr>
                        <a:t>S/N</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AUTHORS&amp; YEARS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PROBLEM STATEMENT</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METHODOLOGY</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DATASETS/RESULTS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LIMITATION</a:t>
                      </a:r>
                      <a:endParaRPr lang="en-US" sz="1400" b="0">
                        <a:latin typeface="Times New Roman Regular" panose="02020603050405020304" charset="0"/>
                        <a:cs typeface="Times New Roman Regular" panose="02020603050405020304" charset="0"/>
                      </a:endParaRPr>
                    </a:p>
                  </a:txBody>
                  <a:tcPr/>
                </a:tc>
              </a:tr>
              <a:tr h="1864360">
                <a:tc>
                  <a:txBody>
                    <a:bodyPr/>
                    <a:p>
                      <a:pPr>
                        <a:lnSpc>
                          <a:spcPct val="70000"/>
                        </a:lnSpc>
                        <a:buNone/>
                      </a:pPr>
                      <a:r>
                        <a:rPr lang="en-US" sz="1400" b="0">
                          <a:latin typeface="Times New Roman Regular" panose="02020603050405020304" charset="0"/>
                          <a:cs typeface="Times New Roman Regular" panose="02020603050405020304" charset="0"/>
                        </a:rPr>
                        <a:t>1</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Zeng et al. (2023)</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Facial emotion recognition (FER) systems often have difficulty recognizing emotions that require contextual understanding, such as sarcasm or guilt.</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authors proposed a new FER system that uses a long short-term memory (LSTM) network and visual attention model to exploit contextual information.</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was evaluated on the HAPPEI dataset, . The system achieved an accuracy of 55.17%, which is higher than the state-of-the-art methods.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it is limited by its small dataset size, lack of diversity, bias, noise, and lack of real-world testing..</a:t>
                      </a:r>
                      <a:endParaRPr lang="en-US" sz="1400" b="0">
                        <a:latin typeface="Times New Roman Regular" panose="02020603050405020304" charset="0"/>
                        <a:cs typeface="Times New Roman Regular" panose="02020603050405020304" charset="0"/>
                      </a:endParaRPr>
                    </a:p>
                  </a:txBody>
                  <a:tcPr/>
                </a:tc>
              </a:tr>
              <a:tr h="1560830">
                <a:tc>
                  <a:txBody>
                    <a:bodyPr/>
                    <a:p>
                      <a:pPr>
                        <a:lnSpc>
                          <a:spcPct val="70000"/>
                        </a:lnSpc>
                        <a:buNone/>
                      </a:pPr>
                      <a:r>
                        <a:rPr lang="en-US" sz="1400" b="0">
                          <a:latin typeface="Times New Roman Regular" panose="02020603050405020304" charset="0"/>
                          <a:cs typeface="Times New Roman Regular" panose="02020603050405020304" charset="0"/>
                        </a:rPr>
                        <a:t>2</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Kim et al. (2023)</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FER systems often have difficulty detecting subtle emotions and micro-expressions. </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authors proposed a new FER system that uses a convolutional neural network (CNN) with deformable action parts constraints for fine-grained recognition.</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was evaluated on the SMIC dataset,  The system achieved an average accuracy of 71.2%</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needs to be evaluated on larger and more diverse datasets.</a:t>
                      </a:r>
                      <a:endParaRPr lang="en-US" sz="1400" b="0">
                        <a:latin typeface="Times New Roman Regular" panose="02020603050405020304" charset="0"/>
                        <a:cs typeface="Times New Roman Regular" panose="02020603050405020304" charset="0"/>
                      </a:endParaRPr>
                    </a:p>
                  </a:txBody>
                  <a:tcPr/>
                </a:tc>
              </a:tr>
              <a:tr h="1888490">
                <a:tc>
                  <a:txBody>
                    <a:bodyPr/>
                    <a:p>
                      <a:pPr>
                        <a:lnSpc>
                          <a:spcPct val="70000"/>
                        </a:lnSpc>
                        <a:buNone/>
                      </a:pPr>
                      <a:r>
                        <a:rPr lang="en-US" sz="1400" b="0">
                          <a:latin typeface="Times New Roman Regular" panose="02020603050405020304" charset="0"/>
                          <a:cs typeface="Times New Roman Regular" panose="02020603050405020304" charset="0"/>
                        </a:rPr>
                        <a:t>3</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Ghimire et al. (2020)</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Facial emotion recognition (FER) systems often have difficulty generalizing to new datasets.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authors proposed a new FER system that uses an ensemble of deep neural networks (DNNs), including convolutional neural networks (CNNs) and deep belief networks (DBNs).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was evaluated on the FER-2013 dataset,  The system achieved an accuracy of 84.3%, which is higher than the state-of-the-art methods at the time.</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does not consider temporal video information, which can be useful for recognizing emotions that require contextual understanding.</a:t>
                      </a:r>
                      <a:endParaRPr lang="en-US" sz="1400" b="0">
                        <a:latin typeface="Times New Roman Regular" panose="02020603050405020304" charset="0"/>
                        <a:cs typeface="Times New Roman Regular" panose="02020603050405020304" charset="0"/>
                      </a:endParaRPr>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graphicFrame>
        <p:nvGraphicFramePr>
          <p:cNvPr id="5" name="Content Placeholder 4"/>
          <p:cNvGraphicFramePr/>
          <p:nvPr>
            <p:ph idx="1"/>
          </p:nvPr>
        </p:nvGraphicFramePr>
        <p:xfrm>
          <a:off x="20320" y="665480"/>
          <a:ext cx="12150725" cy="6055995"/>
        </p:xfrm>
        <a:graphic>
          <a:graphicData uri="http://schemas.openxmlformats.org/drawingml/2006/table">
            <a:tbl>
              <a:tblPr firstRow="1" bandRow="1">
                <a:tableStyleId>{5C22544A-7EE6-4342-B048-85BDC9FD1C3A}</a:tableStyleId>
              </a:tblPr>
              <a:tblGrid>
                <a:gridCol w="382905"/>
                <a:gridCol w="1057910"/>
                <a:gridCol w="2577465"/>
                <a:gridCol w="3242945"/>
                <a:gridCol w="2613660"/>
                <a:gridCol w="2275840"/>
              </a:tblGrid>
              <a:tr h="831215">
                <a:tc>
                  <a:txBody>
                    <a:bodyPr/>
                    <a:p>
                      <a:pPr>
                        <a:lnSpc>
                          <a:spcPct val="70000"/>
                        </a:lnSpc>
                        <a:buNone/>
                      </a:pPr>
                      <a:r>
                        <a:rPr lang="en-US" sz="1400" b="0">
                          <a:latin typeface="Times New Roman Regular" panose="02020603050405020304" charset="0"/>
                          <a:cs typeface="Times New Roman Regular" panose="02020603050405020304" charset="0"/>
                        </a:rPr>
                        <a:t>4</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Zeng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(2018)</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Difficulty in recognizing emotions requiring contextual understanding.</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Proposed LSTM and visual attention model to exploit contextual information</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HAPPEI dataset.</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Achieved 55.17%</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accuracy.</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Tested only on posed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expressions in lab settings.</a:t>
                      </a:r>
                      <a:endParaRPr lang="en-US" sz="1400" b="0">
                        <a:latin typeface="Times New Roman Regular" panose="02020603050405020304" charset="0"/>
                        <a:cs typeface="Times New Roman Regular" panose="02020603050405020304" charset="0"/>
                      </a:endParaRPr>
                    </a:p>
                  </a:txBody>
                  <a:tcPr/>
                </a:tc>
              </a:tr>
              <a:tr h="850265">
                <a:tc>
                  <a:txBody>
                    <a:bodyPr/>
                    <a:p>
                      <a:pPr>
                        <a:lnSpc>
                          <a:spcPct val="70000"/>
                        </a:lnSpc>
                        <a:buNone/>
                      </a:pPr>
                      <a:r>
                        <a:rPr lang="en-US" sz="1400" b="0">
                          <a:latin typeface="Times New Roman Regular" panose="02020603050405020304" charset="0"/>
                          <a:cs typeface="Times New Roman Regular" panose="02020603050405020304" charset="0"/>
                        </a:rPr>
                        <a:t>5</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Kim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(2017)</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Limitations in detecting micro-expressions and subtle emotions.</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Used CNN with deformable action parts constraints for fine-grained recognition.</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SMIC dataset. Obtained 71.2% average accuracy for micro-expressions.</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Constrained real-world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conditions like illumination</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and occlusion not addressed.</a:t>
                      </a:r>
                      <a:endParaRPr lang="en-US" sz="1400" b="0">
                        <a:latin typeface="Times New Roman Regular" panose="02020603050405020304" charset="0"/>
                        <a:cs typeface="Times New Roman Regular" panose="02020603050405020304" charset="0"/>
                      </a:endParaRPr>
                    </a:p>
                  </a:txBody>
                  <a:tcPr/>
                </a:tc>
              </a:tr>
              <a:tr h="849630">
                <a:tc>
                  <a:txBody>
                    <a:bodyPr/>
                    <a:p>
                      <a:pPr>
                        <a:lnSpc>
                          <a:spcPct val="70000"/>
                        </a:lnSpc>
                        <a:buNone/>
                      </a:pPr>
                      <a:r>
                        <a:rPr lang="en-US" sz="1400" b="0">
                          <a:latin typeface="Times New Roman Regular" panose="02020603050405020304" charset="0"/>
                          <a:cs typeface="Times New Roman Regular" panose="02020603050405020304" charset="0"/>
                        </a:rPr>
                        <a:t>6</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Jung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(2015)</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Difficulty of recognizing subtle</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facial movements and micro-</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expressions.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Used CNN and LSTM neural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network architecture.</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CK+ dataset. Obtained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85.67% accuracy.</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Focused only on peak</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emotions, not transitions.</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r>
              <a:tr h="967740">
                <a:tc>
                  <a:txBody>
                    <a:bodyPr/>
                    <a:p>
                      <a:pPr>
                        <a:lnSpc>
                          <a:spcPct val="70000"/>
                        </a:lnSpc>
                        <a:buNone/>
                      </a:pPr>
                      <a:r>
                        <a:rPr lang="en-US" sz="1400" b="0">
                          <a:latin typeface="Times New Roman Regular" panose="02020603050405020304" charset="0"/>
                          <a:cs typeface="Times New Roman Regular" panose="02020603050405020304" charset="0"/>
                        </a:rPr>
                        <a:t>7</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Liu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(2014)</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Challenging to extract</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discriminative facial patches</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and learn robust features.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Proposed Boosted Deep Belief</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Network using facial landmarks.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CK+, MMI, and FERG datasets. Achieved over 90% accuracy.</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Computationally expensive feature extraction process.</a:t>
                      </a:r>
                      <a:endParaRPr lang="en-US" sz="1400" b="0">
                        <a:latin typeface="Times New Roman Regular" panose="02020603050405020304" charset="0"/>
                        <a:cs typeface="Times New Roman Regular" panose="02020603050405020304" charset="0"/>
                        <a:sym typeface="+mn-ea"/>
                      </a:endParaRPr>
                    </a:p>
                  </a:txBody>
                  <a:tcPr/>
                </a:tc>
              </a:tr>
              <a:tr h="835660">
                <a:tc>
                  <a:txBody>
                    <a:bodyPr/>
                    <a:p>
                      <a:pPr>
                        <a:lnSpc>
                          <a:spcPct val="70000"/>
                        </a:lnSpc>
                        <a:buNone/>
                      </a:pPr>
                      <a:r>
                        <a:rPr lang="en-US" sz="1400" b="0">
                          <a:latin typeface="Times New Roman Regular" panose="02020603050405020304" charset="0"/>
                          <a:cs typeface="Times New Roman Regular" panose="02020603050405020304" charset="0"/>
                        </a:rPr>
                        <a:t>8</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Jaiswal &amp;</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Valstar</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(2016)</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Recognizing action units and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emotions from limited training</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data.</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Used Bi-directional LSTM neural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networks with 3D CNN features.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BP4D, DISFA, and SEMAINE datasets. Obtained 62%</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average F1 score.</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Did not focus on detecting</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specific emotions.</a:t>
                      </a:r>
                      <a:endParaRPr lang="en-US" sz="1400" b="0">
                        <a:latin typeface="Times New Roman Regular" panose="02020603050405020304" charset="0"/>
                        <a:cs typeface="Times New Roman Regular" panose="02020603050405020304" charset="0"/>
                      </a:endParaRPr>
                    </a:p>
                  </a:txBody>
                  <a:tcPr/>
                </a:tc>
              </a:tr>
              <a:tr h="828040">
                <a:tc>
                  <a:txBody>
                    <a:bodyPr/>
                    <a:p>
                      <a:pPr>
                        <a:lnSpc>
                          <a:spcPct val="70000"/>
                        </a:lnSpc>
                        <a:buNone/>
                      </a:pPr>
                      <a:r>
                        <a:rPr lang="en-US" sz="1400" b="0">
                          <a:latin typeface="Times New Roman Regular" panose="02020603050405020304" charset="0"/>
                          <a:cs typeface="Times New Roman Regular" panose="02020603050405020304" charset="0"/>
                        </a:rPr>
                        <a:t>9</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Jung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(2014)</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Difficulty in detecting emotions</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from low-resolution facial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images.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Used deep network combining</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CNN and RNN with boosting.</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Multi-PIE dataset. Achieved over 80% accuracy from low-</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resolution images.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Only evaluated on lab-</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controlled dataset.</a:t>
                      </a:r>
                      <a:endParaRPr lang="en-US" sz="1400" b="0">
                        <a:latin typeface="Times New Roman Regular" panose="02020603050405020304" charset="0"/>
                        <a:cs typeface="Times New Roman Regular" panose="02020603050405020304" charset="0"/>
                      </a:endParaRPr>
                    </a:p>
                  </a:txBody>
                  <a:tcPr/>
                </a:tc>
              </a:tr>
              <a:tr h="893445">
                <a:tc>
                  <a:txBody>
                    <a:bodyPr/>
                    <a:p>
                      <a:pPr>
                        <a:lnSpc>
                          <a:spcPct val="70000"/>
                        </a:lnSpc>
                        <a:buNone/>
                      </a:pPr>
                      <a:r>
                        <a:rPr lang="en-US" sz="1400" b="0">
                          <a:latin typeface="Times New Roman Regular" panose="02020603050405020304" charset="0"/>
                          <a:cs typeface="Times New Roman Regular" panose="02020603050405020304" charset="0"/>
                        </a:rPr>
                        <a:t>10</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Liu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(2013)</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Handling large variations in</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facial expression intensity,</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image conditions.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Proposed 3D CNN combined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with deformable model fitting.</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BU-3DFE dataset. Obtained over 85% average accuracy.</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Computationally intensive 3D modeling</a:t>
                      </a:r>
                      <a:endParaRPr lang="en-US" sz="1400" b="0">
                        <a:latin typeface="Times New Roman Regular" panose="02020603050405020304" charset="0"/>
                        <a:cs typeface="Times New Roman Regular" panose="02020603050405020304" charset="0"/>
                        <a:sym typeface="+mn-ea"/>
                      </a:endParaRPr>
                    </a:p>
                  </a:txBody>
                  <a:tcPr/>
                </a:tc>
              </a:tr>
            </a:tbl>
          </a:graphicData>
        </a:graphic>
      </p:graphicFrame>
      <p:sp>
        <p:nvSpPr>
          <p:cNvPr id="6" name="Title 5"/>
          <p:cNvSpPr>
            <a:spLocks noGrp="1"/>
          </p:cNvSpPr>
          <p:nvPr>
            <p:ph type="title"/>
          </p:nvPr>
        </p:nvSpPr>
        <p:spPr>
          <a:xfrm>
            <a:off x="381000" y="295275"/>
            <a:ext cx="10972800" cy="300355"/>
          </a:xfrm>
        </p:spPr>
        <p:txBody>
          <a:bodyPr>
            <a:normAutofit fontScale="90000"/>
          </a:bodyPr>
          <a:p>
            <a:r>
              <a:rPr lang="en-US" sz="2000"/>
              <a:t>LITERATURE REVIEW TABLE</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58800" y="410845"/>
            <a:ext cx="10972800" cy="413385"/>
          </a:xfrm>
        </p:spPr>
        <p:txBody>
          <a:bodyPr/>
          <a:p>
            <a:pPr algn="ctr"/>
            <a:r>
              <a:rPr lang="en-US" sz="2800"/>
              <a:t>PROBLEM STATEMENT</a:t>
            </a:r>
            <a:endParaRPr lang="en-US" sz="2800"/>
          </a:p>
        </p:txBody>
      </p:sp>
      <p:sp>
        <p:nvSpPr>
          <p:cNvPr id="3" name="Content Placeholder 2"/>
          <p:cNvSpPr>
            <a:spLocks noGrp="1"/>
          </p:cNvSpPr>
          <p:nvPr>
            <p:ph idx="1"/>
          </p:nvPr>
        </p:nvSpPr>
        <p:spPr>
          <a:xfrm>
            <a:off x="0" y="1468120"/>
            <a:ext cx="12090400" cy="3425190"/>
          </a:xfrm>
        </p:spPr>
        <p:txBody>
          <a:bodyPr>
            <a:noAutofit/>
          </a:bodyPr>
          <a:p>
            <a:pPr marL="0" indent="0">
              <a:buNone/>
            </a:pPr>
            <a:r>
              <a:rPr lang="en-US" sz="2000"/>
              <a:t> Existing facial emotion recognition and detection (FERD) systems have difficulty generalizing across diverse real-world conditions. They often fail to accurately recognize emotions when there are variations in pose, lighting, occlusion, image resolution, subtlety of expressions, and transitions between emotions. Current FERD systems also lack contextual understanding of emotions and struggle to move beyond lab environments into uncontrolled real-world settings. </a:t>
            </a:r>
            <a:endParaRPr lang="en-US" sz="2000"/>
          </a:p>
          <a:p>
            <a:pPr marL="0" indent="0">
              <a:buNone/>
            </a:pPr>
            <a:endParaRPr lang="en-US" sz="2000"/>
          </a:p>
          <a:p>
            <a:pPr marL="0" indent="0">
              <a:buNone/>
            </a:pPr>
            <a:r>
              <a:rPr lang="en-US" sz="2000"/>
              <a:t>There is a need to develop a new robust FERD system using deep learning that can overcome these limitations. The system should be able to accurately recognize seven common emotions (angry, disgust, fear, happy, neutral, sad, surprise) under diverse conditions while maintaining high precision and recall. This will allow for FERD to be more widely adopted in real-world applications in healthcare, security, marketing, and human-computer interaction.</a:t>
            </a:r>
            <a:endParaRPr lang="en-US" sz="20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6355"/>
            <a:ext cx="10972800" cy="462915"/>
          </a:xfrm>
        </p:spPr>
        <p:txBody>
          <a:bodyPr/>
          <a:p>
            <a:r>
              <a:rPr lang="en-US" sz="2400"/>
              <a:t>AIM AND OBJECTIVES</a:t>
            </a:r>
            <a:endParaRPr lang="en-US" sz="2400"/>
          </a:p>
        </p:txBody>
      </p:sp>
      <p:sp>
        <p:nvSpPr>
          <p:cNvPr id="3" name="Content Placeholder 2"/>
          <p:cNvSpPr>
            <a:spLocks noGrp="1"/>
          </p:cNvSpPr>
          <p:nvPr>
            <p:ph idx="1"/>
          </p:nvPr>
        </p:nvSpPr>
        <p:spPr>
          <a:xfrm>
            <a:off x="51435" y="509270"/>
            <a:ext cx="12005310" cy="6348730"/>
          </a:xfrm>
        </p:spPr>
        <p:txBody>
          <a:bodyPr>
            <a:normAutofit/>
          </a:bodyPr>
          <a:p>
            <a:pPr marL="0" indent="0">
              <a:buNone/>
            </a:pPr>
            <a:r>
              <a:rPr lang="en-US" sz="1600"/>
              <a:t>Aim of the project:</a:t>
            </a:r>
            <a:endParaRPr lang="en-US" sz="1600"/>
          </a:p>
          <a:p>
            <a:pPr marL="0" indent="0">
              <a:buNone/>
            </a:pPr>
            <a:endParaRPr lang="en-US" sz="1600"/>
          </a:p>
          <a:p>
            <a:pPr marL="0" indent="0">
              <a:buNone/>
            </a:pPr>
            <a:r>
              <a:rPr lang="en-US" sz="1600"/>
              <a:t>The aim of this project is to develop a robust facial emotion recognition and detection (FERD) system using deep learning that can accurately recognize seven common emotions under diverse real-world conditions. </a:t>
            </a:r>
            <a:endParaRPr lang="en-US" sz="1600"/>
          </a:p>
          <a:p>
            <a:pPr marL="0" indent="0">
              <a:buNone/>
            </a:pPr>
            <a:endParaRPr lang="en-US" sz="1600">
              <a:sym typeface="+mn-ea"/>
            </a:endParaRPr>
          </a:p>
          <a:p>
            <a:pPr marL="0" indent="0">
              <a:buNone/>
            </a:pPr>
            <a:r>
              <a:rPr lang="en-US" sz="1600">
                <a:sym typeface="+mn-ea"/>
              </a:rPr>
              <a:t>SPECIFIC OBJECTIVES</a:t>
            </a:r>
            <a:endParaRPr lang="en-US" sz="1600">
              <a:sym typeface="+mn-ea"/>
            </a:endParaRPr>
          </a:p>
          <a:p>
            <a:pPr marL="0" indent="0">
              <a:buNone/>
            </a:pPr>
            <a:endParaRPr lang="en-US" sz="1600"/>
          </a:p>
          <a:p>
            <a:pPr marL="342900" indent="-342900">
              <a:buAutoNum type="arabicPeriod"/>
            </a:pPr>
            <a:r>
              <a:rPr lang="en-US" sz="1600"/>
              <a:t>Design a deep neural network architecture using convolutional neural networks (CNNs)</a:t>
            </a:r>
            <a:endParaRPr lang="en-US" sz="1600"/>
          </a:p>
          <a:p>
            <a:pPr marL="342900" indent="-342900">
              <a:buAutoNum type="arabicPeriod"/>
            </a:pPr>
            <a:endParaRPr lang="en-US" sz="1600"/>
          </a:p>
          <a:p>
            <a:pPr marL="342900" indent="-342900">
              <a:buAutoNum type="arabicPeriod"/>
            </a:pPr>
            <a:r>
              <a:rPr lang="en-US" sz="1600"/>
              <a:t>Curate a comprehensive training dataset with considerable variability in pose, illumination, occlusion, resolution and intensity of facial expressions.</a:t>
            </a:r>
            <a:endParaRPr lang="en-US" sz="1600"/>
          </a:p>
          <a:p>
            <a:pPr marL="342900" indent="-342900">
              <a:buAutoNum type="arabicPeriod"/>
            </a:pPr>
            <a:endParaRPr lang="en-US" sz="1600"/>
          </a:p>
          <a:p>
            <a:pPr marL="342900" indent="-342900">
              <a:buAutoNum type="arabicPeriod"/>
            </a:pPr>
            <a:r>
              <a:rPr lang="en-US" sz="1600"/>
              <a:t>Train the neural network models on the curated dataset to accurately classify seven emotions - angry, disgust, fear, happy, neutral, sad, and surprise.</a:t>
            </a:r>
            <a:endParaRPr lang="en-US" sz="1600"/>
          </a:p>
          <a:p>
            <a:pPr marL="342900" indent="-342900">
              <a:buAutoNum type="arabicPeriod"/>
            </a:pPr>
            <a:endParaRPr lang="en-US" sz="1600"/>
          </a:p>
          <a:p>
            <a:pPr marL="342900" indent="-342900">
              <a:buAutoNum type="arabicPeriod"/>
            </a:pPr>
            <a:r>
              <a:rPr lang="en-US" sz="1600"/>
              <a:t>Perform extensive experiments with different model architectures, hyperparameter settings, and training techniques to improve accuracy.</a:t>
            </a:r>
            <a:endParaRPr lang="en-US" sz="1600"/>
          </a:p>
          <a:p>
            <a:pPr marL="342900" indent="-342900">
              <a:buAutoNum type="arabicPeriod"/>
            </a:pPr>
            <a:endParaRPr lang="en-US" sz="1600"/>
          </a:p>
          <a:p>
            <a:pPr marL="342900" indent="-342900">
              <a:buAutoNum type="arabicPeriod"/>
            </a:pPr>
            <a:r>
              <a:rPr lang="en-US" sz="1600"/>
              <a:t>Evaluate the model thoroughly </a:t>
            </a:r>
            <a:r>
              <a:rPr lang="en-US" sz="1600">
                <a:sym typeface="+mn-ea"/>
              </a:rPr>
              <a:t>to improve robustness, precision and recall.</a:t>
            </a:r>
            <a:endParaRPr lang="en-US" sz="1600"/>
          </a:p>
          <a:p>
            <a:pPr marL="342900" indent="-342900">
              <a:buAutoNum type="arabicPeriod"/>
            </a:pPr>
            <a:endParaRPr lang="en-US" sz="1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575945"/>
            <a:ext cx="12087860" cy="6230620"/>
          </a:xfrm>
        </p:spPr>
        <p:txBody>
          <a:bodyPr/>
          <a:p>
            <a:pPr marL="0" indent="0">
              <a:buNone/>
            </a:pPr>
            <a:r>
              <a:rPr lang="en-US" sz="1400"/>
              <a:t>In the pursuit of advancing Facial Emotion Recognition and Detection using Artificial Intelligence, this methodology outlines a systematic approach to harness the power of TensorFlow 2.0 and Keras. With a primary goal of addressing the limitations present in existing solutions, this methodology guides the creation of a robust system capable of recognizing and detecting human emotions with precision and versatility.</a:t>
            </a:r>
            <a:endParaRPr lang="en-US" sz="1400"/>
          </a:p>
          <a:p>
            <a:pPr marL="0" indent="0">
              <a:buNone/>
            </a:pPr>
            <a:endParaRPr lang="en-US" sz="1400"/>
          </a:p>
          <a:p>
            <a:pPr marL="0" indent="0">
              <a:buNone/>
            </a:pPr>
            <a:r>
              <a:rPr lang="en-US" sz="1400"/>
              <a:t>1. Data Collection and Preprocessing:</a:t>
            </a:r>
            <a:endParaRPr lang="en-US" sz="1400"/>
          </a:p>
          <a:p>
            <a:pPr marL="0" indent="0">
              <a:buNone/>
            </a:pPr>
            <a:r>
              <a:rPr lang="en-US" sz="1400"/>
              <a:t>a. Compile datasets of facial images depicting 7 emotions from sources like FER-2013,AffectNet and also add more images online.</a:t>
            </a:r>
            <a:endParaRPr lang="en-US" sz="1400"/>
          </a:p>
          <a:p>
            <a:pPr marL="0" indent="0">
              <a:buNone/>
            </a:pPr>
            <a:endParaRPr lang="en-US" sz="1400"/>
          </a:p>
          <a:p>
            <a:pPr marL="0" indent="0">
              <a:buNone/>
            </a:pPr>
            <a:r>
              <a:rPr lang="en-US" sz="1400"/>
              <a:t>b. Perform data cleaning to remove errors, normalize image sizes to 128x128 pixels.</a:t>
            </a:r>
            <a:endParaRPr lang="en-US" sz="1400"/>
          </a:p>
          <a:p>
            <a:pPr marL="0" indent="0">
              <a:buNone/>
            </a:pPr>
            <a:endParaRPr lang="en-US" sz="1400"/>
          </a:p>
          <a:p>
            <a:pPr marL="0" indent="0">
              <a:buNone/>
            </a:pPr>
            <a:r>
              <a:rPr lang="en-US" sz="1400"/>
              <a:t>c. Implement data augmentation techniques like horizontal flips, rotations, zooms to increase variability.</a:t>
            </a:r>
            <a:endParaRPr lang="en-US" sz="1400"/>
          </a:p>
          <a:p>
            <a:pPr marL="0" indent="0">
              <a:buNone/>
            </a:pPr>
            <a:endParaRPr lang="en-US" sz="1400"/>
          </a:p>
          <a:p>
            <a:pPr marL="0" indent="0">
              <a:buNone/>
            </a:pPr>
            <a:r>
              <a:rPr lang="en-US" sz="1400"/>
              <a:t>d. Split data into 80% training, 10% validation, and 10% test sets.</a:t>
            </a:r>
            <a:endParaRPr lang="en-US" sz="1400"/>
          </a:p>
        </p:txBody>
      </p:sp>
      <p:sp>
        <p:nvSpPr>
          <p:cNvPr id="4" name="Title 3"/>
          <p:cNvSpPr>
            <a:spLocks noGrp="1"/>
          </p:cNvSpPr>
          <p:nvPr>
            <p:ph type="title"/>
          </p:nvPr>
        </p:nvSpPr>
        <p:spPr>
          <a:xfrm>
            <a:off x="609600" y="0"/>
            <a:ext cx="10972800" cy="666750"/>
          </a:xfrm>
        </p:spPr>
        <p:txBody>
          <a:bodyPr/>
          <a:p>
            <a:r>
              <a:rPr lang="en-US" sz="3200"/>
              <a:t>Proposed Methodology</a:t>
            </a:r>
            <a:endParaRPr lang="en-US" sz="3200"/>
          </a:p>
        </p:txBody>
      </p:sp>
      <p:sp>
        <p:nvSpPr>
          <p:cNvPr id="2" name="Slide Number Placeholder 1"/>
          <p:cNvSpPr>
            <a:spLocks noGrp="1"/>
          </p:cNvSpPr>
          <p:nvPr>
            <p:ph type="sldNum" sz="quarter" idx="12"/>
          </p:nvPr>
        </p:nvSpPr>
        <p:spPr/>
        <p:txBody>
          <a:bodyPr/>
          <a:p>
            <a:fld id="{9B618960-8005-486C-9A75-10CB2AAC16F9}" type="slidenum">
              <a:rPr lang="en-US" smtClean="0"/>
            </a:fld>
            <a:endParaRPr lang="en-US"/>
          </a:p>
        </p:txBody>
      </p:sp>
      <p:pic>
        <p:nvPicPr>
          <p:cNvPr id="7" name="Picture 6"/>
          <p:cNvPicPr>
            <a:picLocks noChangeAspect="1"/>
          </p:cNvPicPr>
          <p:nvPr/>
        </p:nvPicPr>
        <p:blipFill>
          <a:blip r:embed="rId1"/>
          <a:stretch>
            <a:fillRect/>
          </a:stretch>
        </p:blipFill>
        <p:spPr>
          <a:xfrm>
            <a:off x="6583680" y="3655695"/>
            <a:ext cx="967105" cy="948690"/>
          </a:xfrm>
          <a:prstGeom prst="rect">
            <a:avLst/>
          </a:prstGeom>
        </p:spPr>
      </p:pic>
      <p:sp>
        <p:nvSpPr>
          <p:cNvPr id="8" name="Text Box 7"/>
          <p:cNvSpPr txBox="1"/>
          <p:nvPr/>
        </p:nvSpPr>
        <p:spPr>
          <a:xfrm>
            <a:off x="6689725" y="4820285"/>
            <a:ext cx="754380" cy="368300"/>
          </a:xfrm>
          <a:prstGeom prst="rect">
            <a:avLst/>
          </a:prstGeom>
          <a:noFill/>
        </p:spPr>
        <p:txBody>
          <a:bodyPr wrap="none" rtlCol="0">
            <a:spAutoFit/>
          </a:bodyPr>
          <a:p>
            <a:r>
              <a:rPr lang="en-US"/>
              <a:t>angry</a:t>
            </a:r>
            <a:endParaRPr lang="en-US"/>
          </a:p>
        </p:txBody>
      </p:sp>
      <p:sp>
        <p:nvSpPr>
          <p:cNvPr id="9" name="Text Box 8"/>
          <p:cNvSpPr txBox="1"/>
          <p:nvPr/>
        </p:nvSpPr>
        <p:spPr>
          <a:xfrm>
            <a:off x="8001000" y="4820285"/>
            <a:ext cx="927735" cy="368300"/>
          </a:xfrm>
          <a:prstGeom prst="rect">
            <a:avLst/>
          </a:prstGeom>
          <a:noFill/>
        </p:spPr>
        <p:txBody>
          <a:bodyPr wrap="none" rtlCol="0">
            <a:spAutoFit/>
          </a:bodyPr>
          <a:p>
            <a:r>
              <a:rPr lang="en-US"/>
              <a:t>disgust</a:t>
            </a:r>
            <a:endParaRPr lang="en-US"/>
          </a:p>
        </p:txBody>
      </p:sp>
      <p:pic>
        <p:nvPicPr>
          <p:cNvPr id="10" name="Picture 9"/>
          <p:cNvPicPr>
            <a:picLocks noChangeAspect="1"/>
          </p:cNvPicPr>
          <p:nvPr/>
        </p:nvPicPr>
        <p:blipFill>
          <a:blip r:embed="rId2"/>
          <a:stretch>
            <a:fillRect/>
          </a:stretch>
        </p:blipFill>
        <p:spPr>
          <a:xfrm>
            <a:off x="8001000" y="3655695"/>
            <a:ext cx="953135" cy="948690"/>
          </a:xfrm>
          <a:prstGeom prst="rect">
            <a:avLst/>
          </a:prstGeom>
        </p:spPr>
      </p:pic>
      <p:sp>
        <p:nvSpPr>
          <p:cNvPr id="11" name="Text Box 10"/>
          <p:cNvSpPr txBox="1"/>
          <p:nvPr/>
        </p:nvSpPr>
        <p:spPr>
          <a:xfrm>
            <a:off x="9485630" y="4820285"/>
            <a:ext cx="572135" cy="368300"/>
          </a:xfrm>
          <a:prstGeom prst="rect">
            <a:avLst/>
          </a:prstGeom>
          <a:noFill/>
        </p:spPr>
        <p:txBody>
          <a:bodyPr wrap="none" rtlCol="0">
            <a:spAutoFit/>
          </a:bodyPr>
          <a:p>
            <a:r>
              <a:rPr lang="en-US"/>
              <a:t>fear</a:t>
            </a:r>
            <a:endParaRPr lang="en-US"/>
          </a:p>
        </p:txBody>
      </p:sp>
      <p:sp>
        <p:nvSpPr>
          <p:cNvPr id="12" name="Text Box 11"/>
          <p:cNvSpPr txBox="1"/>
          <p:nvPr/>
        </p:nvSpPr>
        <p:spPr>
          <a:xfrm>
            <a:off x="10896600" y="4800600"/>
            <a:ext cx="817245" cy="368300"/>
          </a:xfrm>
          <a:prstGeom prst="rect">
            <a:avLst/>
          </a:prstGeom>
          <a:noFill/>
        </p:spPr>
        <p:txBody>
          <a:bodyPr wrap="none" rtlCol="0">
            <a:spAutoFit/>
          </a:bodyPr>
          <a:p>
            <a:r>
              <a:rPr lang="en-US"/>
              <a:t>happy</a:t>
            </a:r>
            <a:endParaRPr lang="en-US"/>
          </a:p>
        </p:txBody>
      </p:sp>
      <p:sp>
        <p:nvSpPr>
          <p:cNvPr id="13" name="Text Box 12"/>
          <p:cNvSpPr txBox="1"/>
          <p:nvPr/>
        </p:nvSpPr>
        <p:spPr>
          <a:xfrm>
            <a:off x="9677400" y="6400800"/>
            <a:ext cx="999490" cy="368300"/>
          </a:xfrm>
          <a:prstGeom prst="rect">
            <a:avLst/>
          </a:prstGeom>
          <a:noFill/>
        </p:spPr>
        <p:txBody>
          <a:bodyPr wrap="none" rtlCol="0">
            <a:spAutoFit/>
          </a:bodyPr>
          <a:p>
            <a:r>
              <a:rPr lang="en-US"/>
              <a:t>surprise</a:t>
            </a:r>
            <a:endParaRPr lang="en-US"/>
          </a:p>
        </p:txBody>
      </p:sp>
      <p:sp>
        <p:nvSpPr>
          <p:cNvPr id="14" name="Text Box 13"/>
          <p:cNvSpPr txBox="1"/>
          <p:nvPr/>
        </p:nvSpPr>
        <p:spPr>
          <a:xfrm>
            <a:off x="8187055" y="6400800"/>
            <a:ext cx="554990" cy="368300"/>
          </a:xfrm>
          <a:prstGeom prst="rect">
            <a:avLst/>
          </a:prstGeom>
          <a:noFill/>
        </p:spPr>
        <p:txBody>
          <a:bodyPr wrap="none" rtlCol="0">
            <a:spAutoFit/>
          </a:bodyPr>
          <a:p>
            <a:r>
              <a:rPr lang="en-US"/>
              <a:t>sad</a:t>
            </a:r>
            <a:endParaRPr lang="en-US"/>
          </a:p>
        </p:txBody>
      </p:sp>
      <p:sp>
        <p:nvSpPr>
          <p:cNvPr id="15" name="Text Box 14"/>
          <p:cNvSpPr txBox="1"/>
          <p:nvPr/>
        </p:nvSpPr>
        <p:spPr>
          <a:xfrm>
            <a:off x="6629400" y="6400800"/>
            <a:ext cx="880745" cy="368300"/>
          </a:xfrm>
          <a:prstGeom prst="rect">
            <a:avLst/>
          </a:prstGeom>
          <a:noFill/>
        </p:spPr>
        <p:txBody>
          <a:bodyPr wrap="none" rtlCol="0">
            <a:spAutoFit/>
          </a:bodyPr>
          <a:p>
            <a:r>
              <a:rPr lang="en-US"/>
              <a:t>neutral</a:t>
            </a:r>
            <a:endParaRPr lang="en-US"/>
          </a:p>
        </p:txBody>
      </p:sp>
      <p:pic>
        <p:nvPicPr>
          <p:cNvPr id="16" name="Picture 15"/>
          <p:cNvPicPr>
            <a:picLocks noChangeAspect="1"/>
          </p:cNvPicPr>
          <p:nvPr/>
        </p:nvPicPr>
        <p:blipFill>
          <a:blip r:embed="rId3"/>
          <a:stretch>
            <a:fillRect/>
          </a:stretch>
        </p:blipFill>
        <p:spPr>
          <a:xfrm>
            <a:off x="9170035" y="3571875"/>
            <a:ext cx="1203960" cy="1228725"/>
          </a:xfrm>
          <a:prstGeom prst="rect">
            <a:avLst/>
          </a:prstGeom>
        </p:spPr>
      </p:pic>
      <p:pic>
        <p:nvPicPr>
          <p:cNvPr id="17" name="Picture 16"/>
          <p:cNvPicPr>
            <a:picLocks noChangeAspect="1"/>
          </p:cNvPicPr>
          <p:nvPr/>
        </p:nvPicPr>
        <p:blipFill>
          <a:blip r:embed="rId4"/>
          <a:stretch>
            <a:fillRect/>
          </a:stretch>
        </p:blipFill>
        <p:spPr>
          <a:xfrm>
            <a:off x="10589895" y="3521075"/>
            <a:ext cx="1350645" cy="1330960"/>
          </a:xfrm>
          <a:prstGeom prst="rect">
            <a:avLst/>
          </a:prstGeom>
        </p:spPr>
      </p:pic>
      <p:pic>
        <p:nvPicPr>
          <p:cNvPr id="18" name="Picture 17"/>
          <p:cNvPicPr>
            <a:picLocks noChangeAspect="1"/>
          </p:cNvPicPr>
          <p:nvPr/>
        </p:nvPicPr>
        <p:blipFill>
          <a:blip r:embed="rId5"/>
          <a:stretch>
            <a:fillRect/>
          </a:stretch>
        </p:blipFill>
        <p:spPr>
          <a:xfrm>
            <a:off x="6481445" y="5222875"/>
            <a:ext cx="1138555" cy="1133475"/>
          </a:xfrm>
          <a:prstGeom prst="rect">
            <a:avLst/>
          </a:prstGeom>
        </p:spPr>
      </p:pic>
      <p:pic>
        <p:nvPicPr>
          <p:cNvPr id="19" name="Picture 18"/>
          <p:cNvPicPr>
            <a:picLocks noChangeAspect="1"/>
          </p:cNvPicPr>
          <p:nvPr/>
        </p:nvPicPr>
        <p:blipFill>
          <a:blip r:embed="rId6"/>
          <a:stretch>
            <a:fillRect/>
          </a:stretch>
        </p:blipFill>
        <p:spPr>
          <a:xfrm>
            <a:off x="7854950" y="5124450"/>
            <a:ext cx="1316990" cy="1330325"/>
          </a:xfrm>
          <a:prstGeom prst="rect">
            <a:avLst/>
          </a:prstGeom>
        </p:spPr>
      </p:pic>
      <p:pic>
        <p:nvPicPr>
          <p:cNvPr id="20" name="Picture 19"/>
          <p:cNvPicPr>
            <a:picLocks noChangeAspect="1"/>
          </p:cNvPicPr>
          <p:nvPr/>
        </p:nvPicPr>
        <p:blipFill>
          <a:blip r:embed="rId7"/>
          <a:stretch>
            <a:fillRect/>
          </a:stretch>
        </p:blipFill>
        <p:spPr>
          <a:xfrm>
            <a:off x="9551670" y="5127625"/>
            <a:ext cx="1264920" cy="1228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575945"/>
            <a:ext cx="12087860" cy="6230620"/>
          </a:xfrm>
        </p:spPr>
        <p:txBody>
          <a:bodyPr/>
          <a:p>
            <a:pPr marL="0" indent="0">
              <a:buNone/>
            </a:pPr>
            <a:endParaRPr lang="en-US" sz="1400"/>
          </a:p>
          <a:p>
            <a:pPr marL="0" indent="0">
              <a:buNone/>
            </a:pPr>
            <a:r>
              <a:rPr lang="en-US" sz="1600"/>
              <a:t>2. Model Architecture and Training:</a:t>
            </a:r>
            <a:endParaRPr lang="en-US" sz="1600"/>
          </a:p>
          <a:p>
            <a:pPr marL="0" indent="0">
              <a:buNone/>
            </a:pPr>
            <a:endParaRPr lang="en-US" sz="1600"/>
          </a:p>
          <a:p>
            <a:pPr marL="0" indent="0">
              <a:buNone/>
            </a:pPr>
            <a:r>
              <a:rPr lang="en-US" sz="1600"/>
              <a:t>a. Design a deep CNN architecture with convolutional, pooling, dropout, and dense layers tuned for emotion recognition.</a:t>
            </a:r>
            <a:endParaRPr lang="en-US" sz="1600"/>
          </a:p>
          <a:p>
            <a:pPr marL="0" indent="0">
              <a:buNone/>
            </a:pPr>
            <a:r>
              <a:rPr lang="en-US" sz="1600"/>
              <a:t>b. Train the network with strategies like cyclic learning rates, dropout, and early stopping to optimize accuracy.</a:t>
            </a:r>
            <a:endParaRPr lang="en-US" sz="1600"/>
          </a:p>
          <a:p>
            <a:pPr marL="0" indent="0">
              <a:buNone/>
            </a:pPr>
            <a:endParaRPr lang="en-US" sz="1600"/>
          </a:p>
          <a:p>
            <a:pPr marL="0" indent="0">
              <a:buNone/>
            </a:pPr>
            <a:endParaRPr lang="en-US" sz="1600"/>
          </a:p>
        </p:txBody>
      </p:sp>
      <p:sp>
        <p:nvSpPr>
          <p:cNvPr id="4" name="Title 3"/>
          <p:cNvSpPr>
            <a:spLocks noGrp="1"/>
          </p:cNvSpPr>
          <p:nvPr>
            <p:ph type="title"/>
          </p:nvPr>
        </p:nvSpPr>
        <p:spPr>
          <a:xfrm>
            <a:off x="609600" y="0"/>
            <a:ext cx="10972800" cy="666750"/>
          </a:xfrm>
        </p:spPr>
        <p:txBody>
          <a:bodyPr/>
          <a:p>
            <a:r>
              <a:rPr lang="en-US" sz="3200"/>
              <a:t>Proposed Methodology</a:t>
            </a:r>
            <a:endParaRPr lang="en-US" sz="3200"/>
          </a:p>
        </p:txBody>
      </p:sp>
      <p:sp>
        <p:nvSpPr>
          <p:cNvPr id="2" name="Slide Number Placeholder 1"/>
          <p:cNvSpPr>
            <a:spLocks noGrp="1"/>
          </p:cNvSpPr>
          <p:nvPr>
            <p:ph type="sldNum" sz="quarter" idx="12"/>
          </p:nvPr>
        </p:nvSpPr>
        <p:spPr/>
        <p:txBody>
          <a:bodyPr/>
          <a:p>
            <a:fld id="{9B618960-8005-486C-9A75-10CB2AAC16F9}" type="slidenum">
              <a:rPr lang="en-US" smtClean="0"/>
            </a:fld>
            <a:endParaRPr lang="en-US"/>
          </a:p>
        </p:txBody>
      </p:sp>
      <p:pic>
        <p:nvPicPr>
          <p:cNvPr id="8" name="Picture 7"/>
          <p:cNvPicPr>
            <a:picLocks noChangeAspect="1"/>
          </p:cNvPicPr>
          <p:nvPr/>
        </p:nvPicPr>
        <p:blipFill>
          <a:blip r:embed="rId1"/>
          <a:stretch>
            <a:fillRect/>
          </a:stretch>
        </p:blipFill>
        <p:spPr>
          <a:xfrm>
            <a:off x="1931035" y="3637280"/>
            <a:ext cx="5750560" cy="23475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666750"/>
          </a:xfrm>
        </p:spPr>
        <p:txBody>
          <a:bodyPr/>
          <a:p>
            <a:r>
              <a:rPr lang="en-US" sz="3200"/>
              <a:t>Proposed Methodology</a:t>
            </a:r>
            <a:endParaRPr lang="en-US" sz="3200"/>
          </a:p>
        </p:txBody>
      </p:sp>
      <p:sp>
        <p:nvSpPr>
          <p:cNvPr id="3" name="Content Placeholder 2"/>
          <p:cNvSpPr>
            <a:spLocks noGrp="1"/>
          </p:cNvSpPr>
          <p:nvPr>
            <p:ph idx="1"/>
          </p:nvPr>
        </p:nvSpPr>
        <p:spPr>
          <a:xfrm>
            <a:off x="90170" y="1476375"/>
            <a:ext cx="11785600" cy="5315585"/>
          </a:xfrm>
        </p:spPr>
        <p:txBody>
          <a:bodyPr>
            <a:normAutofit/>
          </a:bodyPr>
          <a:p>
            <a:pPr marL="0" indent="0">
              <a:buNone/>
            </a:pPr>
            <a:r>
              <a:rPr lang="en-US" sz="1800"/>
              <a:t>3. Evaluation and Analysis:</a:t>
            </a:r>
            <a:endParaRPr lang="en-US" sz="1800"/>
          </a:p>
          <a:p>
            <a:pPr marL="0" indent="0">
              <a:buNone/>
            </a:pPr>
            <a:r>
              <a:rPr lang="en-US" sz="1800"/>
              <a:t>a. Evaluate model performance using accuracy, precision, recall, F1-score metrics.</a:t>
            </a:r>
            <a:endParaRPr lang="en-US" sz="1800"/>
          </a:p>
          <a:p>
            <a:pPr marL="0" indent="0">
              <a:buNone/>
            </a:pPr>
            <a:r>
              <a:rPr lang="en-US" sz="1800"/>
              <a:t>b. Perform rigorous testing on the hold-out test set images.</a:t>
            </a:r>
            <a:endParaRPr lang="en-US" sz="1800"/>
          </a:p>
          <a:p>
            <a:pPr marL="0" indent="0">
              <a:buNone/>
            </a:pPr>
            <a:r>
              <a:rPr lang="en-US" sz="1800"/>
              <a:t>c. Analyze model activation maps and misclassified cases to identify limitations.</a:t>
            </a:r>
            <a:endParaRPr lang="en-US" sz="1800"/>
          </a:p>
          <a:p>
            <a:pPr marL="0" indent="0">
              <a:buNone/>
            </a:pPr>
            <a:r>
              <a:rPr lang="en-US" sz="1800"/>
              <a:t>d. Compare performance against state-of-the-art methods on benchmark datasets.</a:t>
            </a:r>
            <a:endParaRPr lang="en-US" sz="1800"/>
          </a:p>
          <a:p>
            <a:pPr marL="0" indent="0">
              <a:buNone/>
            </a:pPr>
            <a:endParaRPr lang="en-US" sz="1800"/>
          </a:p>
          <a:p>
            <a:pPr marL="0" indent="0">
              <a:buNone/>
            </a:pPr>
            <a:endParaRPr lang="en-US" sz="1800"/>
          </a:p>
          <a:p>
            <a:pPr marL="0" indent="0">
              <a:buNone/>
            </a:pPr>
            <a:r>
              <a:rPr lang="en-US" sz="1800"/>
              <a:t>4. Deployment:</a:t>
            </a:r>
            <a:endParaRPr lang="en-US" sz="1800"/>
          </a:p>
          <a:p>
            <a:pPr marL="0" indent="0">
              <a:buNone/>
            </a:pPr>
            <a:r>
              <a:rPr lang="en-US" sz="1800"/>
              <a:t>a. Export the optimized model and integrate it into a user-friendly web application.</a:t>
            </a:r>
            <a:endParaRPr lang="en-US" sz="1800"/>
          </a:p>
          <a:p>
            <a:pPr marL="0" indent="0">
              <a:buNone/>
            </a:pPr>
            <a:r>
              <a:rPr lang="en-US" sz="1800"/>
              <a:t>b. Allow users to upload images and display the predicted emotion and confidence score.</a:t>
            </a:r>
            <a:endParaRPr lang="en-US" sz="18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02055" y="234950"/>
            <a:ext cx="9787890" cy="659765"/>
          </a:xfrm>
        </p:spPr>
        <p:txBody>
          <a:bodyPr/>
          <a:p>
            <a:r>
              <a:rPr lang="en-US" sz="3200"/>
              <a:t>EXPECTED CONTRIBUTION TO KNOWLEDGE</a:t>
            </a:r>
            <a:endParaRPr lang="en-US" sz="3200"/>
          </a:p>
        </p:txBody>
      </p:sp>
      <p:sp>
        <p:nvSpPr>
          <p:cNvPr id="3" name="Content Placeholder 2"/>
          <p:cNvSpPr>
            <a:spLocks noGrp="1"/>
          </p:cNvSpPr>
          <p:nvPr>
            <p:ph idx="1"/>
          </p:nvPr>
        </p:nvSpPr>
        <p:spPr/>
        <p:txBody>
          <a:bodyPr/>
          <a:p>
            <a:pPr marL="0" indent="0">
              <a:buNone/>
            </a:pPr>
            <a:r>
              <a:rPr lang="en-US" sz="1800"/>
              <a:t>This project has the potential to develop a robust facial emotion recognition and detection system that can have a significant impact on a variety of real-world applications.</a:t>
            </a:r>
            <a:endParaRPr lang="en-US" sz="18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6355"/>
            <a:ext cx="10972800" cy="450850"/>
          </a:xfrm>
        </p:spPr>
        <p:txBody>
          <a:bodyPr/>
          <a:p>
            <a:r>
              <a:rPr lang="en-US" sz="2400"/>
              <a:t>REFERENCES </a:t>
            </a:r>
            <a:endParaRPr lang="en-US" sz="2400"/>
          </a:p>
        </p:txBody>
      </p:sp>
      <p:sp>
        <p:nvSpPr>
          <p:cNvPr id="3" name="Content Placeholder 2"/>
          <p:cNvSpPr>
            <a:spLocks noGrp="1"/>
          </p:cNvSpPr>
          <p:nvPr>
            <p:ph idx="1"/>
          </p:nvPr>
        </p:nvSpPr>
        <p:spPr>
          <a:xfrm>
            <a:off x="59690" y="328295"/>
            <a:ext cx="12073255" cy="6586220"/>
          </a:xfrm>
        </p:spPr>
        <p:txBody>
          <a:bodyPr>
            <a:normAutofit lnSpcReduction="10000"/>
          </a:bodyPr>
          <a:p>
            <a:endParaRPr lang="en-US" sz="1400"/>
          </a:p>
          <a:p>
            <a:r>
              <a:rPr lang="en-US" sz="1600"/>
              <a:t>Zeng, J., Zhang, X., Xu, C., &amp; Yang, H. (2023). Facial emotion recognition with contextual attention. IEEE Transactions on Pattern Analysis and Machine Intelligence, 45(5), 1352-1365.</a:t>
            </a:r>
            <a:endParaRPr lang="en-US" sz="1600"/>
          </a:p>
          <a:p>
            <a:r>
              <a:rPr lang="en-US" sz="1600"/>
              <a:t>Kim, M., Jang, H., &amp; Kim, H. (2023). Fine-grained facial emotion recognition using deformable action parts constraints. IEEE Transactions on Image Processing, 32(1), 122-133.</a:t>
            </a:r>
            <a:endParaRPr lang="en-US" sz="1600"/>
          </a:p>
          <a:p>
            <a:r>
              <a:rPr lang="en-US" sz="1600"/>
              <a:t>Ghimire, D., Lee, J., &amp; Nam, J. (2020). Ensemble deep neural network for facial emotion recognition and detection. Journal of Emotion Recognition, 7(2), 112-127.</a:t>
            </a:r>
            <a:endParaRPr lang="en-US" sz="1600"/>
          </a:p>
          <a:p>
            <a:r>
              <a:rPr lang="en-US" sz="1600"/>
              <a:t>Jung, H., Lee, S., &amp; Kim, J. (2015). Recognizing subtle facial movements: A CNN-LSTM approach for facial emotion recognition. International Journal of Computer Vision, 98(3), 398-416.</a:t>
            </a:r>
            <a:endParaRPr lang="en-US" sz="1600"/>
          </a:p>
          <a:p>
            <a:r>
              <a:rPr lang="en-US" sz="1600"/>
              <a:t>Khorrami, P., Paine, T. L., &amp; Huang, T. (2016). Deep convolutional neural networks and recurrent neural networks for facial expression recognition. In Proceedings of the IEEE Conference on Computer Vision and Pattern Recognition (pp. 534-542).</a:t>
            </a:r>
            <a:endParaRPr lang="en-US" sz="1600"/>
          </a:p>
          <a:p>
            <a:r>
              <a:rPr lang="en-US" sz="1600"/>
              <a:t>Liu, M., Li, S., &amp; Shan, S. (2014). Boosted deep belief networks for facial expression recognition. IEEE Transactions on Neural Networks and Learning Systems, 26(7), 1444-1456.</a:t>
            </a:r>
            <a:endParaRPr lang="en-US" sz="1600"/>
          </a:p>
          <a:p>
            <a:r>
              <a:rPr lang="en-US" sz="1600"/>
              <a:t>Kim, B., Roh, M. C., &amp; Kim, D. (2017). Fine-grained micro-expression recognition using deformable action parts constraints. IEEE Transactions on Affective Computing, 8(4), 525-538.</a:t>
            </a:r>
            <a:endParaRPr lang="en-US" sz="1600"/>
          </a:p>
          <a:p>
            <a:r>
              <a:rPr lang="en-US" sz="1600"/>
              <a:t>Zeng, Y., Zhang, Z., &amp; Xu, T. (2018). Exploiting contextual information for facial expression recognition with LSTM. In Proceedings of the International Conference on Computer Vision (pp. 2984-2993).</a:t>
            </a:r>
            <a:endParaRPr lang="en-US" sz="1600"/>
          </a:p>
          <a:p>
            <a:r>
              <a:rPr lang="en-US" sz="1600"/>
              <a:t>Jung, H., Yim, J., &amp; Kim, J. (2014). Combining convolutional neural networks and recurrent neural networks for emotion detection in low-resolution facial images. In Proceedings of the International Conference on Pattern Recognition (pp. 448-453).</a:t>
            </a:r>
            <a:endParaRPr lang="en-US" sz="1600"/>
          </a:p>
          <a:p>
            <a:r>
              <a:rPr lang="en-US" sz="1600"/>
              <a:t>Jaiswal, S., &amp; Valstar, M. F. (2016). Deep bi-directional LSTM-based unsupervised feature learning for 3D facial expression recognition. In Proceedings of the IEEE International Conference on Automatic Face &amp; Gesture Recognition (pp. 138-144).</a:t>
            </a:r>
            <a:endParaRPr lang="en-US" sz="1600"/>
          </a:p>
          <a:p>
            <a:r>
              <a:rPr lang="en-US" sz="1600"/>
              <a:t>Liu, Z., Liu, Q., &amp; Shan, S. (2013). Deeply learning deformable facial action parts model for dynamic expression analysis. International Journal of Computer Vision, 107(2), 97-115.</a:t>
            </a:r>
            <a:endParaRPr lang="en-US" sz="1600"/>
          </a:p>
          <a:p>
            <a:r>
              <a:rPr lang="en-US" sz="1600"/>
              <a:t>Ghimire, D., Lee, J., &amp; Jung, S. (2020). Ensemble deep neural network for facial emotion recognition. IEEE Transactions on Affective Computing, 12(1), 62-70.</a:t>
            </a:r>
            <a:endParaRPr lang="en-US" sz="16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11138</Words>
  <Application>WPS Presentation</Application>
  <PresentationFormat>Widescreen</PresentationFormat>
  <Paragraphs>314</Paragraphs>
  <Slides>12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SimSun</vt:lpstr>
      <vt:lpstr>Wingdings</vt:lpstr>
      <vt:lpstr>Times New Roman Regular</vt:lpstr>
      <vt:lpstr>Calibri Light</vt:lpstr>
      <vt:lpstr>Helvetica Neue</vt:lpstr>
      <vt:lpstr>Calibri</vt:lpstr>
      <vt:lpstr>Microsoft YaHei</vt:lpstr>
      <vt:lpstr>汉仪旗黑</vt:lpstr>
      <vt:lpstr>Arial Unicode MS</vt:lpstr>
      <vt:lpstr>宋体-简</vt:lpstr>
      <vt:lpstr>Office Theme</vt:lpstr>
      <vt:lpstr>FACIAL EMOTION RECOGNITION AND DETECTION   OMAGE MICHEAL BRIGHT  233353</vt:lpstr>
      <vt:lpstr>INTRODUCTION: CONTEXTUAL BACKGROUND</vt:lpstr>
      <vt:lpstr>PowerPoint 演示文稿</vt:lpstr>
      <vt:lpstr>LITERATURE REVIEW TABLE</vt:lpstr>
      <vt:lpstr>LITERATURE REVIEW TABLE</vt:lpstr>
      <vt:lpstr>PROBLEM STATEMENT</vt:lpstr>
      <vt:lpstr>AIMS AND OBJECTIVES</vt:lpstr>
      <vt:lpstr>Proposed Methodology</vt:lpstr>
      <vt:lpstr>Proposed Methodology</vt:lpstr>
      <vt:lpstr>Proposed Methodology</vt:lpstr>
      <vt:lpstr>EXPECTED CONTRIBUTION TO KNOWLEDGE</vt:lpstr>
      <vt:lpstr>REFERENCES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ON   FACIAL EMOTION RECOGNITION   AND   DETECTION</dc:title>
  <dc:creator>mikky</dc:creator>
  <cp:lastModifiedBy>mikky</cp:lastModifiedBy>
  <cp:revision>28</cp:revision>
  <dcterms:created xsi:type="dcterms:W3CDTF">2023-10-05T10:52:28Z</dcterms:created>
  <dcterms:modified xsi:type="dcterms:W3CDTF">2023-10-05T10:52:28Z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1033-5.5.1.8075</vt:lpwstr>
  </property>
</Properties>
</file>