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7" r:id="rId2"/>
    <p:sldId id="258" r:id="rId3"/>
    <p:sldId id="289" r:id="rId4"/>
    <p:sldId id="281" r:id="rId5"/>
    <p:sldId id="265" r:id="rId6"/>
    <p:sldId id="272" r:id="rId7"/>
    <p:sldId id="268" r:id="rId8"/>
    <p:sldId id="297" r:id="rId9"/>
    <p:sldId id="298" r:id="rId10"/>
    <p:sldId id="303" r:id="rId11"/>
    <p:sldId id="307" r:id="rId12"/>
    <p:sldId id="299" r:id="rId13"/>
    <p:sldId id="304" r:id="rId14"/>
    <p:sldId id="311" r:id="rId15"/>
    <p:sldId id="305" r:id="rId16"/>
    <p:sldId id="308" r:id="rId17"/>
    <p:sldId id="309" r:id="rId18"/>
    <p:sldId id="306" r:id="rId19"/>
    <p:sldId id="310" r:id="rId20"/>
    <p:sldId id="312" r:id="rId21"/>
    <p:sldId id="273"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p:scale>
          <a:sx n="80" d="100"/>
          <a:sy n="80" d="100"/>
        </p:scale>
        <p:origin x="120" y="7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710" y="468630"/>
            <a:ext cx="11704955" cy="3666490"/>
          </a:xfrm>
        </p:spPr>
        <p:txBody>
          <a:bodyPr/>
          <a:lstStyle/>
          <a:p>
            <a:pPr algn="ctr"/>
            <a:r>
              <a:rPr lang="en-US" sz="2400" dirty="0"/>
              <a:t>DEVELOPMENT OF A MULTI-CLASS FACIAL EMOTION RECOGNITION </a:t>
            </a:r>
            <a:br>
              <a:rPr lang="en-US" sz="2400" dirty="0"/>
            </a:br>
            <a:r>
              <a:rPr lang="en-US" sz="2400" dirty="0"/>
              <a:t>ON IMAGES </a:t>
            </a:r>
            <a:br>
              <a:rPr lang="en-US" sz="2400" dirty="0"/>
            </a:br>
            <a:br>
              <a:rPr lang="en-US" sz="2400" dirty="0"/>
            </a:br>
            <a:br>
              <a:rPr lang="en-US" sz="2400" dirty="0"/>
            </a:br>
            <a:r>
              <a:rPr lang="en-US" sz="2400" dirty="0">
                <a:sym typeface="+mn-ea"/>
              </a:rPr>
              <a:t>OMAGE MICHEAL BRIGHT</a:t>
            </a:r>
            <a:br>
              <a:rPr lang="en-US" sz="2400" dirty="0">
                <a:sym typeface="+mn-ea"/>
              </a:rPr>
            </a:br>
            <a:br>
              <a:rPr lang="en-US" sz="2400" dirty="0">
                <a:sym typeface="+mn-ea"/>
              </a:rPr>
            </a:br>
            <a:r>
              <a:rPr lang="en-US" sz="2400" dirty="0">
                <a:sym typeface="+mn-ea"/>
              </a:rPr>
              <a:t>233353</a:t>
            </a:r>
            <a:endParaRPr lang="en-US" sz="2400" dirty="0"/>
          </a:p>
        </p:txBody>
      </p:sp>
      <p:sp>
        <p:nvSpPr>
          <p:cNvPr id="3" name="Subtitle 2"/>
          <p:cNvSpPr>
            <a:spLocks noGrp="1"/>
          </p:cNvSpPr>
          <p:nvPr>
            <p:ph type="subTitle" idx="1"/>
          </p:nvPr>
        </p:nvSpPr>
        <p:spPr>
          <a:xfrm>
            <a:off x="2661285" y="5293360"/>
            <a:ext cx="8769350" cy="1062990"/>
          </a:xfrm>
        </p:spPr>
        <p:txBody>
          <a:bodyPr>
            <a:normAutofit fontScale="85000" lnSpcReduction="20000"/>
          </a:bodyPr>
          <a:lstStyle/>
          <a:p>
            <a:pPr algn="l"/>
            <a:r>
              <a:rPr lang="en-US" dirty="0"/>
              <a:t>SUPERVISOR NAME:		Dr. Nancy Woods</a:t>
            </a:r>
          </a:p>
          <a:p>
            <a:pPr algn="l"/>
            <a:endParaRPr lang="en-US" dirty="0"/>
          </a:p>
          <a:p>
            <a:pPr algn="l"/>
            <a:r>
              <a:rPr lang="en-US" dirty="0"/>
              <a:t>PRESENTATION:			RESULT</a:t>
            </a:r>
          </a:p>
          <a:p>
            <a:pPr algn="l"/>
            <a:endParaRPr lang="en-US" dirty="0"/>
          </a:p>
          <a:p>
            <a:pPr algn="l"/>
            <a:endParaRPr lang="en-US" dirty="0"/>
          </a:p>
        </p:txBody>
      </p:sp>
      <p:sp>
        <p:nvSpPr>
          <p:cNvPr id="4" name="Slide Number Placeholder 3"/>
          <p:cNvSpPr>
            <a:spLocks noGrp="1"/>
          </p:cNvSpPr>
          <p:nvPr>
            <p:ph type="sldNum" sz="quarter" idx="12"/>
          </p:nvPr>
        </p:nvSpPr>
        <p:spPr/>
        <p:txBody>
          <a:bodyPr/>
          <a:lstStyle/>
          <a:p>
            <a:fld id="{9B618960-8005-486C-9A75-10CB2AAC16F9}"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
            <a:ext cx="4293870" cy="683895"/>
          </a:xfrm>
        </p:spPr>
        <p:txBody>
          <a:bodyPr/>
          <a:lstStyle/>
          <a:p>
            <a:r>
              <a:rPr lang="en-US" sz="3600"/>
              <a:t>INTRODUCTION</a:t>
            </a:r>
          </a:p>
        </p:txBody>
      </p:sp>
      <p:sp>
        <p:nvSpPr>
          <p:cNvPr id="7" name="Text Box 6"/>
          <p:cNvSpPr txBox="1"/>
          <p:nvPr/>
        </p:nvSpPr>
        <p:spPr>
          <a:xfrm>
            <a:off x="293370" y="1640205"/>
            <a:ext cx="6833870" cy="4092575"/>
          </a:xfrm>
          <a:prstGeom prst="rect">
            <a:avLst/>
          </a:prstGeom>
          <a:noFill/>
        </p:spPr>
        <p:txBody>
          <a:bodyPr wrap="square" rtlCol="0">
            <a:spAutoFit/>
          </a:bodyPr>
          <a:lstStyle/>
          <a:p>
            <a:pPr marL="342900" indent="-342900" algn="l">
              <a:buFont typeface="Arial" panose="020B0604020202020204" pitchFamily="34" charset="0"/>
              <a:buChar char="•"/>
            </a:pPr>
            <a:r>
              <a:rPr lang="en-US" sz="2000"/>
              <a:t>Facial expressions serve as one of the most natural and powerful means of human communication, capable of conveying a wide spectrum of emotions. </a:t>
            </a:r>
          </a:p>
          <a:p>
            <a:pPr marL="342900" indent="-342900" algn="l">
              <a:buFont typeface="Arial" panose="020B0604020202020204" pitchFamily="34" charset="0"/>
              <a:buChar char="•"/>
            </a:pPr>
            <a:endParaRPr lang="en-US" sz="2000"/>
          </a:p>
          <a:p>
            <a:pPr marL="342900" indent="-342900" algn="l">
              <a:buFont typeface="Arial" panose="020B0604020202020204" pitchFamily="34" charset="0"/>
              <a:buChar char="•"/>
            </a:pPr>
            <a:r>
              <a:rPr lang="en-US" sz="2000"/>
              <a:t>In the realm of artificial intelligence and computer vision, recognizing these emotions from facial cues has gained significant importance.</a:t>
            </a:r>
          </a:p>
          <a:p>
            <a:pPr marL="342900" indent="-342900" algn="l">
              <a:buFont typeface="Arial" panose="020B0604020202020204" pitchFamily="34" charset="0"/>
              <a:buChar char="•"/>
            </a:pPr>
            <a:endParaRPr lang="en-US" sz="2000"/>
          </a:p>
          <a:p>
            <a:pPr marL="342900" indent="-342900" algn="l">
              <a:buFont typeface="Arial" panose="020B0604020202020204" pitchFamily="34" charset="0"/>
              <a:buChar char="•"/>
            </a:pPr>
            <a:r>
              <a:rPr lang="en-US" sz="2000"/>
              <a:t>This presentation delves into the fascinating field of development of facial emotion recognition for multi classification of image, leveraging the capabilities of Convolutional Neural Network (CNN).</a:t>
            </a:r>
          </a:p>
          <a:p>
            <a:pPr marL="342900" indent="-342900" algn="l"/>
            <a:endParaRPr lang="en-US" sz="2000"/>
          </a:p>
        </p:txBody>
      </p:sp>
      <p:sp>
        <p:nvSpPr>
          <p:cNvPr id="3" name="Slide Number Placeholder 2"/>
          <p:cNvSpPr>
            <a:spLocks noGrp="1"/>
          </p:cNvSpPr>
          <p:nvPr>
            <p:ph type="sldNum" sz="quarter" idx="12"/>
          </p:nvPr>
        </p:nvSpPr>
        <p:spPr/>
        <p:txBody>
          <a:bodyPr/>
          <a:lstStyle/>
          <a:p>
            <a:fld id="{9B618960-8005-486C-9A75-10CB2AAC16F9}" type="slidenum">
              <a:rPr lang="en-US" smtClean="0"/>
              <a:t>2</a:t>
            </a:fld>
            <a:endParaRPr lang="en-US"/>
          </a:p>
        </p:txBody>
      </p:sp>
      <p:pic>
        <p:nvPicPr>
          <p:cNvPr id="6" name="Picture 5"/>
          <p:cNvPicPr>
            <a:picLocks noChangeAspect="1"/>
          </p:cNvPicPr>
          <p:nvPr/>
        </p:nvPicPr>
        <p:blipFill>
          <a:blip r:embed="rId2"/>
          <a:stretch>
            <a:fillRect/>
          </a:stretch>
        </p:blipFill>
        <p:spPr>
          <a:xfrm>
            <a:off x="8087995" y="245745"/>
            <a:ext cx="1231900" cy="1597025"/>
          </a:xfrm>
          <a:prstGeom prst="rect">
            <a:avLst/>
          </a:prstGeom>
        </p:spPr>
      </p:pic>
      <p:pic>
        <p:nvPicPr>
          <p:cNvPr id="8" name="Picture 7"/>
          <p:cNvPicPr>
            <a:picLocks noChangeAspect="1"/>
          </p:cNvPicPr>
          <p:nvPr/>
        </p:nvPicPr>
        <p:blipFill>
          <a:blip r:embed="rId3"/>
          <a:stretch>
            <a:fillRect/>
          </a:stretch>
        </p:blipFill>
        <p:spPr>
          <a:xfrm>
            <a:off x="10735945" y="245745"/>
            <a:ext cx="1292225" cy="1637030"/>
          </a:xfrm>
          <a:prstGeom prst="rect">
            <a:avLst/>
          </a:prstGeom>
        </p:spPr>
      </p:pic>
      <p:pic>
        <p:nvPicPr>
          <p:cNvPr id="9" name="Picture 8"/>
          <p:cNvPicPr>
            <a:picLocks noChangeAspect="1"/>
          </p:cNvPicPr>
          <p:nvPr/>
        </p:nvPicPr>
        <p:blipFill>
          <a:blip r:embed="rId4"/>
          <a:stretch>
            <a:fillRect/>
          </a:stretch>
        </p:blipFill>
        <p:spPr>
          <a:xfrm>
            <a:off x="8122285" y="1882775"/>
            <a:ext cx="1162685" cy="1490980"/>
          </a:xfrm>
          <a:prstGeom prst="rect">
            <a:avLst/>
          </a:prstGeom>
        </p:spPr>
      </p:pic>
      <p:pic>
        <p:nvPicPr>
          <p:cNvPr id="10" name="Picture 9"/>
          <p:cNvPicPr>
            <a:picLocks noChangeAspect="1"/>
          </p:cNvPicPr>
          <p:nvPr/>
        </p:nvPicPr>
        <p:blipFill>
          <a:blip r:embed="rId5"/>
          <a:stretch>
            <a:fillRect/>
          </a:stretch>
        </p:blipFill>
        <p:spPr>
          <a:xfrm>
            <a:off x="10875645" y="1882775"/>
            <a:ext cx="1081405" cy="1490345"/>
          </a:xfrm>
          <a:prstGeom prst="rect">
            <a:avLst/>
          </a:prstGeom>
        </p:spPr>
      </p:pic>
      <p:pic>
        <p:nvPicPr>
          <p:cNvPr id="12" name="Picture 11"/>
          <p:cNvPicPr>
            <a:picLocks noChangeAspect="1"/>
          </p:cNvPicPr>
          <p:nvPr/>
        </p:nvPicPr>
        <p:blipFill>
          <a:blip r:embed="rId6"/>
          <a:stretch>
            <a:fillRect/>
          </a:stretch>
        </p:blipFill>
        <p:spPr>
          <a:xfrm>
            <a:off x="8203565" y="3555365"/>
            <a:ext cx="1081405" cy="1406525"/>
          </a:xfrm>
          <a:prstGeom prst="rect">
            <a:avLst/>
          </a:prstGeom>
        </p:spPr>
      </p:pic>
      <p:pic>
        <p:nvPicPr>
          <p:cNvPr id="13" name="Picture 12"/>
          <p:cNvPicPr>
            <a:picLocks noChangeAspect="1"/>
          </p:cNvPicPr>
          <p:nvPr/>
        </p:nvPicPr>
        <p:blipFill>
          <a:blip r:embed="rId7"/>
          <a:stretch>
            <a:fillRect/>
          </a:stretch>
        </p:blipFill>
        <p:spPr>
          <a:xfrm>
            <a:off x="10875010" y="3528695"/>
            <a:ext cx="1082040" cy="1433195"/>
          </a:xfrm>
          <a:prstGeom prst="rect">
            <a:avLst/>
          </a:prstGeom>
        </p:spPr>
      </p:pic>
      <p:pic>
        <p:nvPicPr>
          <p:cNvPr id="14" name="Picture 13"/>
          <p:cNvPicPr>
            <a:picLocks noChangeAspect="1"/>
          </p:cNvPicPr>
          <p:nvPr/>
        </p:nvPicPr>
        <p:blipFill>
          <a:blip r:embed="rId8"/>
          <a:stretch>
            <a:fillRect/>
          </a:stretch>
        </p:blipFill>
        <p:spPr>
          <a:xfrm>
            <a:off x="8122285" y="4961890"/>
            <a:ext cx="1285875" cy="1805940"/>
          </a:xfrm>
          <a:prstGeom prst="rect">
            <a:avLst/>
          </a:prstGeom>
        </p:spPr>
      </p:pic>
      <p:pic>
        <p:nvPicPr>
          <p:cNvPr id="15" name="Picture 14"/>
          <p:cNvPicPr>
            <a:picLocks noChangeAspect="1"/>
          </p:cNvPicPr>
          <p:nvPr/>
        </p:nvPicPr>
        <p:blipFill>
          <a:blip r:embed="rId9"/>
          <a:stretch>
            <a:fillRect/>
          </a:stretch>
        </p:blipFill>
        <p:spPr>
          <a:xfrm>
            <a:off x="10800715" y="4961890"/>
            <a:ext cx="1231900" cy="1697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300355"/>
          </a:xfrm>
        </p:spPr>
        <p:txBody>
          <a:bodyPr>
            <a:normAutofit fontScale="90000"/>
          </a:bodyPr>
          <a:lstStyle/>
          <a:p>
            <a:r>
              <a:rPr lang="en-US" sz="2000"/>
              <a:t>LITERATURE REVIEW TABLE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17570159"/>
              </p:ext>
            </p:extLst>
          </p:nvPr>
        </p:nvGraphicFramePr>
        <p:xfrm>
          <a:off x="0" y="698500"/>
          <a:ext cx="12150725" cy="6085840"/>
        </p:xfrm>
        <a:graphic>
          <a:graphicData uri="http://schemas.openxmlformats.org/drawingml/2006/table">
            <a:tbl>
              <a:tblPr firstRow="1" bandRow="1">
                <a:tableStyleId>{5C22544A-7EE6-4342-B048-85BDC9FD1C3A}</a:tableStyleId>
              </a:tblPr>
              <a:tblGrid>
                <a:gridCol w="382905">
                  <a:extLst>
                    <a:ext uri="{9D8B030D-6E8A-4147-A177-3AD203B41FA5}">
                      <a16:colId xmlns:a16="http://schemas.microsoft.com/office/drawing/2014/main" val="20000"/>
                    </a:ext>
                  </a:extLst>
                </a:gridCol>
                <a:gridCol w="1057910">
                  <a:extLst>
                    <a:ext uri="{9D8B030D-6E8A-4147-A177-3AD203B41FA5}">
                      <a16:colId xmlns:a16="http://schemas.microsoft.com/office/drawing/2014/main" val="20001"/>
                    </a:ext>
                  </a:extLst>
                </a:gridCol>
                <a:gridCol w="2578100">
                  <a:extLst>
                    <a:ext uri="{9D8B030D-6E8A-4147-A177-3AD203B41FA5}">
                      <a16:colId xmlns:a16="http://schemas.microsoft.com/office/drawing/2014/main" val="20002"/>
                    </a:ext>
                  </a:extLst>
                </a:gridCol>
                <a:gridCol w="3242310">
                  <a:extLst>
                    <a:ext uri="{9D8B030D-6E8A-4147-A177-3AD203B41FA5}">
                      <a16:colId xmlns:a16="http://schemas.microsoft.com/office/drawing/2014/main" val="20003"/>
                    </a:ext>
                  </a:extLst>
                </a:gridCol>
                <a:gridCol w="2613660">
                  <a:extLst>
                    <a:ext uri="{9D8B030D-6E8A-4147-A177-3AD203B41FA5}">
                      <a16:colId xmlns:a16="http://schemas.microsoft.com/office/drawing/2014/main" val="20004"/>
                    </a:ext>
                  </a:extLst>
                </a:gridCol>
                <a:gridCol w="2275840">
                  <a:extLst>
                    <a:ext uri="{9D8B030D-6E8A-4147-A177-3AD203B41FA5}">
                      <a16:colId xmlns:a16="http://schemas.microsoft.com/office/drawing/2014/main" val="20005"/>
                    </a:ext>
                  </a:extLst>
                </a:gridCol>
              </a:tblGrid>
              <a:tr h="772160">
                <a:tc>
                  <a:txBody>
                    <a:bodyPr/>
                    <a:lstStyle/>
                    <a:p>
                      <a:pPr>
                        <a:lnSpc>
                          <a:spcPct val="70000"/>
                        </a:lnSpc>
                        <a:buNone/>
                      </a:pPr>
                      <a:r>
                        <a:rPr lang="en-US" sz="1800" b="0">
                          <a:latin typeface="Times New Roman Regular" panose="02020603050405020304" charset="0"/>
                          <a:cs typeface="Times New Roman Regular" panose="02020603050405020304" charset="0"/>
                        </a:rPr>
                        <a:t>S/N</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AUTHORS&amp; YEARS</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PROBLEM STATEMENT</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METHODOLOGY</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DATASETS/RESULTS</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LIMITATION</a:t>
                      </a:r>
                    </a:p>
                  </a:txBody>
                  <a:tcPr/>
                </a:tc>
                <a:extLst>
                  <a:ext uri="{0D108BD9-81ED-4DB2-BD59-A6C34878D82A}">
                    <a16:rowId xmlns:a16="http://schemas.microsoft.com/office/drawing/2014/main" val="10000"/>
                  </a:ext>
                </a:extLst>
              </a:tr>
              <a:tr h="1864360">
                <a:tc>
                  <a:txBody>
                    <a:bodyPr/>
                    <a:lstStyle/>
                    <a:p>
                      <a:pPr>
                        <a:lnSpc>
                          <a:spcPct val="70000"/>
                        </a:lnSpc>
                        <a:buNone/>
                      </a:pPr>
                      <a:r>
                        <a:rPr lang="en-US" sz="1800" b="0">
                          <a:latin typeface="Times New Roman Regular" panose="02020603050405020304" charset="0"/>
                          <a:cs typeface="Times New Roman Regular" panose="02020603050405020304" charset="0"/>
                        </a:rPr>
                        <a:t>1</a:t>
                      </a:r>
                    </a:p>
                  </a:txBody>
                  <a:tcPr/>
                </a:tc>
                <a:tc>
                  <a:txBody>
                    <a:bodyPr/>
                    <a:lstStyle/>
                    <a:p>
                      <a:pPr>
                        <a:lnSpc>
                          <a:spcPct val="70000"/>
                        </a:lnSpc>
                        <a:buNone/>
                      </a:pPr>
                      <a:r>
                        <a:rPr lang="en-US" sz="1800">
                          <a:latin typeface="Times New Roman Regular" panose="02020603050405020304" charset="0"/>
                          <a:cs typeface="Times New Roman Regular" panose="02020603050405020304" charset="0"/>
                          <a:sym typeface="+mn-ea"/>
                        </a:rPr>
                        <a:t>Kim et al. (2023)</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dirty="0">
                          <a:latin typeface="Times New Roman Regular" panose="02020603050405020304" charset="0"/>
                          <a:cs typeface="Times New Roman Regular" panose="02020603050405020304" charset="0"/>
                          <a:sym typeface="+mn-ea"/>
                        </a:rPr>
                        <a:t>Difficulty recognizing subtle and blended emotions. </a:t>
                      </a:r>
                      <a:endParaRPr lang="en-US" sz="1800" b="0" dirty="0">
                        <a:latin typeface="Times New Roman Regular" panose="02020603050405020304" charset="0"/>
                        <a:cs typeface="Times New Roman Regular" panose="02020603050405020304" charset="0"/>
                      </a:endParaRPr>
                    </a:p>
                    <a:p>
                      <a:pPr>
                        <a:lnSpc>
                          <a:spcPct val="70000"/>
                        </a:lnSpc>
                        <a:buNone/>
                      </a:pP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i="0" kern="1200" dirty="0">
                          <a:solidFill>
                            <a:schemeClr val="dk1"/>
                          </a:solidFill>
                          <a:effectLst/>
                          <a:latin typeface="+mn-lt"/>
                          <a:ea typeface="+mn-ea"/>
                          <a:cs typeface="+mn-cs"/>
                        </a:rPr>
                        <a:t>Proposed multi-output CNN architecture for subtle and blended emotion recognition. Utilized a multi-label approach to handle mixed emotions.</a:t>
                      </a: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a:latin typeface="Times New Roman Regular" panose="02020603050405020304" charset="0"/>
                          <a:cs typeface="Times New Roman Regular" panose="02020603050405020304" charset="0"/>
                          <a:sym typeface="+mn-ea"/>
                        </a:rPr>
                        <a:t>Achieved 67.2% avg F1-score on RAF-DB.</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dirty="0">
                          <a:latin typeface="Times New Roman Regular" panose="02020603050405020304" charset="0"/>
                          <a:cs typeface="Times New Roman Regular" panose="02020603050405020304" charset="0"/>
                          <a:sym typeface="+mn-ea"/>
                        </a:rPr>
                        <a:t>It was limited by its small dataset size, lack of diversity, bias and noise.</a:t>
                      </a:r>
                    </a:p>
                  </a:txBody>
                  <a:tcPr/>
                </a:tc>
                <a:extLst>
                  <a:ext uri="{0D108BD9-81ED-4DB2-BD59-A6C34878D82A}">
                    <a16:rowId xmlns:a16="http://schemas.microsoft.com/office/drawing/2014/main" val="10001"/>
                  </a:ext>
                </a:extLst>
              </a:tr>
              <a:tr h="1560830">
                <a:tc>
                  <a:txBody>
                    <a:bodyPr/>
                    <a:lstStyle/>
                    <a:p>
                      <a:pPr>
                        <a:lnSpc>
                          <a:spcPct val="70000"/>
                        </a:lnSpc>
                        <a:buNone/>
                      </a:pPr>
                      <a:r>
                        <a:rPr lang="en-US" sz="1800" b="0">
                          <a:latin typeface="Times New Roman Regular" panose="02020603050405020304" charset="0"/>
                          <a:cs typeface="Times New Roman Regular" panose="02020603050405020304" charset="0"/>
                        </a:rPr>
                        <a:t>2</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Lee et al. (2022)</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Limits in handling multiple emotion labels.</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Used an ensemble of CNNs for multi-label prediction</a:t>
                      </a:r>
                    </a:p>
                  </a:txBody>
                  <a:tcPr/>
                </a:tc>
                <a:tc>
                  <a:txBody>
                    <a:bodyPr/>
                    <a:lstStyle/>
                    <a:p>
                      <a:pPr>
                        <a:lnSpc>
                          <a:spcPct val="70000"/>
                        </a:lnSpc>
                        <a:buNone/>
                      </a:pPr>
                      <a:r>
                        <a:rPr lang="en-US" sz="1800" b="0" i="0" kern="1200" dirty="0">
                          <a:solidFill>
                            <a:schemeClr val="dk1"/>
                          </a:solidFill>
                          <a:effectLst/>
                          <a:latin typeface="+mn-lt"/>
                          <a:ea typeface="+mn-ea"/>
                          <a:cs typeface="+mn-cs"/>
                        </a:rPr>
                        <a:t>Obtained 58.4% micro F1-score on </a:t>
                      </a:r>
                      <a:r>
                        <a:rPr lang="en-US" sz="1800" b="0" i="0" kern="1200" dirty="0" err="1">
                          <a:solidFill>
                            <a:schemeClr val="dk1"/>
                          </a:solidFill>
                          <a:effectLst/>
                          <a:latin typeface="+mn-lt"/>
                          <a:ea typeface="+mn-ea"/>
                          <a:cs typeface="+mn-cs"/>
                        </a:rPr>
                        <a:t>FERPlus</a:t>
                      </a:r>
                      <a:r>
                        <a:rPr lang="en-US" sz="1800" b="0" i="0" kern="1200" dirty="0">
                          <a:solidFill>
                            <a:schemeClr val="dk1"/>
                          </a:solidFill>
                          <a:effectLst/>
                          <a:latin typeface="+mn-lt"/>
                          <a:ea typeface="+mn-ea"/>
                          <a:cs typeface="+mn-cs"/>
                        </a:rPr>
                        <a:t>, outperforming single-model methods.</a:t>
                      </a: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rPr>
                        <a:t>Prone to overfitting on small datasets with limited diversity. </a:t>
                      </a:r>
                    </a:p>
                  </a:txBody>
                  <a:tcPr/>
                </a:tc>
                <a:extLst>
                  <a:ext uri="{0D108BD9-81ED-4DB2-BD59-A6C34878D82A}">
                    <a16:rowId xmlns:a16="http://schemas.microsoft.com/office/drawing/2014/main" val="10002"/>
                  </a:ext>
                </a:extLst>
              </a:tr>
              <a:tr h="1888490">
                <a:tc>
                  <a:txBody>
                    <a:bodyPr/>
                    <a:lstStyle/>
                    <a:p>
                      <a:pPr>
                        <a:lnSpc>
                          <a:spcPct val="70000"/>
                        </a:lnSpc>
                        <a:buNone/>
                      </a:pPr>
                      <a:r>
                        <a:rPr lang="en-US" sz="1800" b="0">
                          <a:latin typeface="Times New Roman Regular" panose="02020603050405020304" charset="0"/>
                          <a:cs typeface="Times New Roman Regular" panose="02020603050405020304" charset="0"/>
                        </a:rPr>
                        <a:t>3</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Ahmed et al. (2021)</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Existing methods do not effectively model multiple emotions. </a:t>
                      </a: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rPr>
                        <a:t>Proposed a multi-task CNN architecture that jointly learns facial action units and emotion labels</a:t>
                      </a:r>
                    </a:p>
                  </a:txBody>
                  <a:tcPr/>
                </a:tc>
                <a:tc>
                  <a:txBody>
                    <a:bodyPr/>
                    <a:lstStyle/>
                    <a:p>
                      <a:pPr>
                        <a:lnSpc>
                          <a:spcPct val="70000"/>
                        </a:lnSpc>
                        <a:buNone/>
                      </a:pPr>
                      <a:r>
                        <a:rPr lang="en-US" sz="1800" b="0" i="0" kern="1200" dirty="0">
                          <a:solidFill>
                            <a:schemeClr val="dk1"/>
                          </a:solidFill>
                          <a:effectLst/>
                          <a:latin typeface="+mn-lt"/>
                          <a:ea typeface="+mn-ea"/>
                          <a:cs typeface="+mn-cs"/>
                        </a:rPr>
                        <a:t>Achieved 52.6% macro F1 on </a:t>
                      </a:r>
                      <a:r>
                        <a:rPr lang="en-US" sz="1800" b="0" i="0" kern="1200" dirty="0" err="1">
                          <a:solidFill>
                            <a:schemeClr val="dk1"/>
                          </a:solidFill>
                          <a:effectLst/>
                          <a:latin typeface="+mn-lt"/>
                          <a:ea typeface="+mn-ea"/>
                          <a:cs typeface="+mn-cs"/>
                        </a:rPr>
                        <a:t>EmotiW</a:t>
                      </a:r>
                      <a:r>
                        <a:rPr lang="en-US" sz="1800" b="0" i="0" kern="1200" dirty="0">
                          <a:solidFill>
                            <a:schemeClr val="dk1"/>
                          </a:solidFill>
                          <a:effectLst/>
                          <a:latin typeface="+mn-lt"/>
                          <a:ea typeface="+mn-ea"/>
                          <a:cs typeface="+mn-cs"/>
                        </a:rPr>
                        <a:t> 2020, demonstrating improved performance in handling label ambiguity.</a:t>
                      </a: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i="0" kern="1200" dirty="0">
                          <a:solidFill>
                            <a:schemeClr val="dk1"/>
                          </a:solidFill>
                          <a:effectLst/>
                          <a:latin typeface="+mn-lt"/>
                          <a:ea typeface="+mn-ea"/>
                          <a:cs typeface="+mn-cs"/>
                        </a:rPr>
                        <a:t>Further improvements needed to better handle label ambiguity and blended emotions.</a:t>
                      </a:r>
                      <a:endParaRPr lang="en-US" sz="1800" b="0" dirty="0">
                        <a:latin typeface="Times New Roman Regular" panose="02020603050405020304" charset="0"/>
                        <a:cs typeface="Times New Roman Regular" panose="02020603050405020304"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t>4</a:t>
            </a:fld>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51209916"/>
              </p:ext>
            </p:extLst>
          </p:nvPr>
        </p:nvGraphicFramePr>
        <p:xfrm>
          <a:off x="20320" y="528320"/>
          <a:ext cx="12150725" cy="6231255"/>
        </p:xfrm>
        <a:graphic>
          <a:graphicData uri="http://schemas.openxmlformats.org/drawingml/2006/table">
            <a:tbl>
              <a:tblPr firstRow="1" bandRow="1">
                <a:tableStyleId>{5C22544A-7EE6-4342-B048-85BDC9FD1C3A}</a:tableStyleId>
              </a:tblPr>
              <a:tblGrid>
                <a:gridCol w="492760">
                  <a:extLst>
                    <a:ext uri="{9D8B030D-6E8A-4147-A177-3AD203B41FA5}">
                      <a16:colId xmlns:a16="http://schemas.microsoft.com/office/drawing/2014/main" val="20000"/>
                    </a:ext>
                  </a:extLst>
                </a:gridCol>
                <a:gridCol w="948055">
                  <a:extLst>
                    <a:ext uri="{9D8B030D-6E8A-4147-A177-3AD203B41FA5}">
                      <a16:colId xmlns:a16="http://schemas.microsoft.com/office/drawing/2014/main" val="20001"/>
                    </a:ext>
                  </a:extLst>
                </a:gridCol>
                <a:gridCol w="2577465">
                  <a:extLst>
                    <a:ext uri="{9D8B030D-6E8A-4147-A177-3AD203B41FA5}">
                      <a16:colId xmlns:a16="http://schemas.microsoft.com/office/drawing/2014/main" val="20002"/>
                    </a:ext>
                  </a:extLst>
                </a:gridCol>
                <a:gridCol w="3242945">
                  <a:extLst>
                    <a:ext uri="{9D8B030D-6E8A-4147-A177-3AD203B41FA5}">
                      <a16:colId xmlns:a16="http://schemas.microsoft.com/office/drawing/2014/main" val="20003"/>
                    </a:ext>
                  </a:extLst>
                </a:gridCol>
                <a:gridCol w="2613660">
                  <a:extLst>
                    <a:ext uri="{9D8B030D-6E8A-4147-A177-3AD203B41FA5}">
                      <a16:colId xmlns:a16="http://schemas.microsoft.com/office/drawing/2014/main" val="20004"/>
                    </a:ext>
                  </a:extLst>
                </a:gridCol>
                <a:gridCol w="2275840">
                  <a:extLst>
                    <a:ext uri="{9D8B030D-6E8A-4147-A177-3AD203B41FA5}">
                      <a16:colId xmlns:a16="http://schemas.microsoft.com/office/drawing/2014/main" val="20005"/>
                    </a:ext>
                  </a:extLst>
                </a:gridCol>
              </a:tblGrid>
              <a:tr h="850265">
                <a:tc>
                  <a:txBody>
                    <a:bodyPr/>
                    <a:lstStyle/>
                    <a:p>
                      <a:pPr>
                        <a:lnSpc>
                          <a:spcPct val="70000"/>
                        </a:lnSpc>
                        <a:buNone/>
                      </a:pPr>
                      <a:r>
                        <a:rPr lang="en-US" sz="1600" b="0" dirty="0">
                          <a:latin typeface="Times New Roman Regular" panose="02020603050405020304" charset="0"/>
                          <a:cs typeface="Times New Roman Regular" panose="02020603050405020304" charset="0"/>
                        </a:rPr>
                        <a:t>4</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Wang et al. (2020)</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Limitations in recognizing subtle facial expressions.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Used 3D CNNs and attention mechanism.   </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Obtained 73.2% accuracy on CASME II dataset.</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Tested only on micro-expressions. </a:t>
                      </a:r>
                    </a:p>
                  </a:txBody>
                  <a:tcPr/>
                </a:tc>
                <a:extLst>
                  <a:ext uri="{0D108BD9-81ED-4DB2-BD59-A6C34878D82A}">
                    <a16:rowId xmlns:a16="http://schemas.microsoft.com/office/drawing/2014/main" val="10000"/>
                  </a:ext>
                </a:extLst>
              </a:tr>
              <a:tr h="907415">
                <a:tc>
                  <a:txBody>
                    <a:bodyPr/>
                    <a:lstStyle/>
                    <a:p>
                      <a:pPr>
                        <a:lnSpc>
                          <a:spcPct val="70000"/>
                        </a:lnSpc>
                        <a:buNone/>
                      </a:pPr>
                      <a:r>
                        <a:rPr lang="en-US" sz="1600" b="0" dirty="0">
                          <a:latin typeface="Times New Roman Regular" panose="02020603050405020304" charset="0"/>
                          <a:cs typeface="Times New Roman Regular" panose="02020603050405020304" charset="0"/>
                        </a:rPr>
                        <a:t>5</a:t>
                      </a:r>
                    </a:p>
                  </a:txBody>
                  <a:tcPr/>
                </a:tc>
                <a:tc>
                  <a:txBody>
                    <a:bodyPr/>
                    <a:lstStyle/>
                    <a:p>
                      <a:pPr>
                        <a:lnSpc>
                          <a:spcPct val="70000"/>
                        </a:lnSpc>
                        <a:buNone/>
                      </a:pPr>
                      <a:r>
                        <a:rPr lang="en-US" sz="1600" b="0" dirty="0">
                          <a:latin typeface="Times New Roman Regular" panose="02020603050405020304" charset="0"/>
                          <a:cs typeface="Times New Roman Regular" panose="02020603050405020304" charset="0"/>
                          <a:sym typeface="+mn-ea"/>
                        </a:rPr>
                        <a:t>Liu et al. (2019)</a:t>
                      </a:r>
                    </a:p>
                  </a:txBody>
                  <a:tcPr/>
                </a:tc>
                <a:tc>
                  <a:txBody>
                    <a:bodyPr/>
                    <a:lstStyle/>
                    <a:p>
                      <a:pPr>
                        <a:lnSpc>
                          <a:spcPct val="70000"/>
                        </a:lnSpc>
                        <a:buNone/>
                      </a:pPr>
                      <a:r>
                        <a:rPr lang="en-US" sz="1600" b="0" dirty="0">
                          <a:latin typeface="Times New Roman Regular" panose="02020603050405020304" charset="0"/>
                          <a:cs typeface="Times New Roman Regular" panose="02020603050405020304" charset="0"/>
                          <a:sym typeface="+mn-ea"/>
                        </a:rPr>
                        <a:t>Handling ambiguities in multi-label emotion data.</a:t>
                      </a:r>
                    </a:p>
                  </a:txBody>
                  <a:tcPr/>
                </a:tc>
                <a:tc>
                  <a:txBody>
                    <a:bodyPr/>
                    <a:lstStyle/>
                    <a:p>
                      <a:pPr>
                        <a:lnSpc>
                          <a:spcPct val="70000"/>
                        </a:lnSpc>
                        <a:buNone/>
                      </a:pPr>
                      <a:r>
                        <a:rPr lang="en-US" sz="1600" b="0" dirty="0">
                          <a:latin typeface="Times New Roman Regular" panose="02020603050405020304" charset="0"/>
                          <a:cs typeface="Times New Roman Regular" panose="02020603050405020304" charset="0"/>
                          <a:sym typeface="+mn-ea"/>
                        </a:rPr>
                        <a:t>Proposed CNN-RNN model with joint-loss training.</a:t>
                      </a:r>
                    </a:p>
                  </a:txBody>
                  <a:tcPr/>
                </a:tc>
                <a:tc>
                  <a:txBody>
                    <a:bodyPr/>
                    <a:lstStyle/>
                    <a:p>
                      <a:pPr>
                        <a:lnSpc>
                          <a:spcPct val="70000"/>
                        </a:lnSpc>
                        <a:buNone/>
                      </a:pPr>
                      <a:r>
                        <a:rPr lang="en-US" sz="1600" b="0" dirty="0">
                          <a:latin typeface="Times New Roman Regular" panose="02020603050405020304" charset="0"/>
                          <a:cs typeface="Times New Roman Regular" panose="02020603050405020304" charset="0"/>
                          <a:sym typeface="+mn-ea"/>
                        </a:rPr>
                        <a:t>Achieved 63.7% F1 score on </a:t>
                      </a:r>
                      <a:r>
                        <a:rPr lang="en-US" sz="1600" b="0" dirty="0" err="1">
                          <a:latin typeface="Times New Roman Regular" panose="02020603050405020304" charset="0"/>
                          <a:cs typeface="Times New Roman Regular" panose="02020603050405020304" charset="0"/>
                          <a:sym typeface="+mn-ea"/>
                        </a:rPr>
                        <a:t>FERPlus</a:t>
                      </a:r>
                      <a:r>
                        <a:rPr lang="en-US" sz="1600" b="0" dirty="0">
                          <a:latin typeface="Times New Roman Regular" panose="02020603050405020304" charset="0"/>
                          <a:cs typeface="Times New Roman Regular" panose="02020603050405020304" charset="0"/>
                          <a:sym typeface="+mn-ea"/>
                        </a:rPr>
                        <a:t> dataset. </a:t>
                      </a:r>
                    </a:p>
                  </a:txBody>
                  <a:tcPr/>
                </a:tc>
                <a:tc>
                  <a:txBody>
                    <a:bodyPr/>
                    <a:lstStyle/>
                    <a:p>
                      <a:pPr>
                        <a:lnSpc>
                          <a:spcPct val="70000"/>
                        </a:lnSpc>
                        <a:buNone/>
                      </a:pPr>
                      <a:r>
                        <a:rPr lang="en-US" sz="1600" b="0" dirty="0">
                          <a:latin typeface="Times New Roman Regular" panose="02020603050405020304" charset="0"/>
                          <a:cs typeface="Times New Roman Regular" panose="02020603050405020304" charset="0"/>
                          <a:sym typeface="+mn-ea"/>
                        </a:rPr>
                        <a:t>Did not explore very deep architectures.</a:t>
                      </a:r>
                    </a:p>
                  </a:txBody>
                  <a:tcPr/>
                </a:tc>
                <a:extLst>
                  <a:ext uri="{0D108BD9-81ED-4DB2-BD59-A6C34878D82A}">
                    <a16:rowId xmlns:a16="http://schemas.microsoft.com/office/drawing/2014/main" val="10001"/>
                  </a:ext>
                </a:extLst>
              </a:tr>
              <a:tr h="868680">
                <a:tc>
                  <a:txBody>
                    <a:bodyPr/>
                    <a:lstStyle/>
                    <a:p>
                      <a:pPr>
                        <a:lnSpc>
                          <a:spcPct val="70000"/>
                        </a:lnSpc>
                        <a:buNone/>
                      </a:pPr>
                      <a:r>
                        <a:rPr lang="en-US" sz="1600" b="0">
                          <a:latin typeface="Times New Roman Regular" panose="02020603050405020304" charset="0"/>
                          <a:cs typeface="Times New Roman Regular" panose="02020603050405020304" charset="0"/>
                        </a:rPr>
                        <a:t>6</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Jung et al. (2017)</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Difficulty recognizing mixtures of facial expressions.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Used ensemble of CNNs trained on expression zones.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Obtained 71.3% accuracy on CK+ dataset.</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 Limited diversity in dataset. </a:t>
                      </a:r>
                    </a:p>
                  </a:txBody>
                  <a:tcPr/>
                </a:tc>
                <a:extLst>
                  <a:ext uri="{0D108BD9-81ED-4DB2-BD59-A6C34878D82A}">
                    <a16:rowId xmlns:a16="http://schemas.microsoft.com/office/drawing/2014/main" val="10002"/>
                  </a:ext>
                </a:extLst>
              </a:tr>
              <a:tr h="989965">
                <a:tc>
                  <a:txBody>
                    <a:bodyPr/>
                    <a:lstStyle/>
                    <a:p>
                      <a:pPr>
                        <a:lnSpc>
                          <a:spcPct val="70000"/>
                        </a:lnSpc>
                        <a:buNone/>
                      </a:pPr>
                      <a:r>
                        <a:rPr lang="en-US" sz="1600" b="0">
                          <a:latin typeface="Times New Roman Regular" panose="02020603050405020304" charset="0"/>
                          <a:cs typeface="Times New Roman Regular" panose="02020603050405020304" charset="0"/>
                        </a:rPr>
                        <a:t>7</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Liu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(2014)</a:t>
                      </a:r>
                      <a:endParaRPr lang="en-US" sz="1600" b="0">
                        <a:latin typeface="Times New Roman Regular" panose="02020603050405020304" charset="0"/>
                        <a:cs typeface="Times New Roman Regular" panose="02020603050405020304" charset="0"/>
                      </a:endParaRPr>
                    </a:p>
                    <a:p>
                      <a:pPr>
                        <a:lnSpc>
                          <a:spcPct val="70000"/>
                        </a:lnSpc>
                        <a:buNone/>
                      </a:pPr>
                      <a:endParaRPr lang="en-US" sz="1600" b="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Challenging to extract</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discriminative facial patches</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and learn robust features.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Proposed Boosted Deep Belief</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Network using facial landmarks.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CK+, MMI, and FERG datasets. Achieved over 90% accuracy.</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Computationally expensive feature extraction process.</a:t>
                      </a:r>
                    </a:p>
                  </a:txBody>
                  <a:tcPr/>
                </a:tc>
                <a:extLst>
                  <a:ext uri="{0D108BD9-81ED-4DB2-BD59-A6C34878D82A}">
                    <a16:rowId xmlns:a16="http://schemas.microsoft.com/office/drawing/2014/main" val="10003"/>
                  </a:ext>
                </a:extLst>
              </a:tr>
              <a:tr h="854710">
                <a:tc>
                  <a:txBody>
                    <a:bodyPr/>
                    <a:lstStyle/>
                    <a:p>
                      <a:pPr>
                        <a:lnSpc>
                          <a:spcPct val="70000"/>
                        </a:lnSpc>
                        <a:buNone/>
                      </a:pPr>
                      <a:r>
                        <a:rPr lang="en-US" sz="1600" b="0">
                          <a:latin typeface="Times New Roman Regular" panose="02020603050405020304" charset="0"/>
                          <a:cs typeface="Times New Roman Regular" panose="02020603050405020304" charset="0"/>
                        </a:rPr>
                        <a:t>8</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Jaiswal &amp;</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Valstar</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(2016)</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Recognizing action units and</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emotions from limited training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data.</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Used Bi-directional LSTM neural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networks with 3D CNN features.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BP4D, DISFA, and SEMAINE datasets. Obtained 62%</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average F1 score.</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Did not focus on detecting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specific emotions.</a:t>
                      </a:r>
                    </a:p>
                  </a:txBody>
                  <a:tcPr/>
                </a:tc>
                <a:extLst>
                  <a:ext uri="{0D108BD9-81ED-4DB2-BD59-A6C34878D82A}">
                    <a16:rowId xmlns:a16="http://schemas.microsoft.com/office/drawing/2014/main" val="10004"/>
                  </a:ext>
                </a:extLst>
              </a:tr>
              <a:tr h="846455">
                <a:tc>
                  <a:txBody>
                    <a:bodyPr/>
                    <a:lstStyle/>
                    <a:p>
                      <a:pPr>
                        <a:lnSpc>
                          <a:spcPct val="70000"/>
                        </a:lnSpc>
                        <a:buNone/>
                      </a:pPr>
                      <a:r>
                        <a:rPr lang="en-US" sz="1600" b="0">
                          <a:latin typeface="Times New Roman Regular" panose="02020603050405020304" charset="0"/>
                          <a:cs typeface="Times New Roman Regular" panose="02020603050405020304" charset="0"/>
                        </a:rPr>
                        <a:t>9</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Jung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(2014)</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Difficulty in detecting emotions</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from low-resolution facial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images.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Used deep network combining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CNN and RNN with boosting.</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Multi-PIE dataset. Achieved over 80% accuracy from low-</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resolution images.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Only evaluated on lab-</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controlled dataset.</a:t>
                      </a:r>
                    </a:p>
                  </a:txBody>
                  <a:tcPr/>
                </a:tc>
                <a:extLst>
                  <a:ext uri="{0D108BD9-81ED-4DB2-BD59-A6C34878D82A}">
                    <a16:rowId xmlns:a16="http://schemas.microsoft.com/office/drawing/2014/main" val="10005"/>
                  </a:ext>
                </a:extLst>
              </a:tr>
              <a:tr h="913765">
                <a:tc>
                  <a:txBody>
                    <a:bodyPr/>
                    <a:lstStyle/>
                    <a:p>
                      <a:pPr>
                        <a:lnSpc>
                          <a:spcPct val="70000"/>
                        </a:lnSpc>
                        <a:buNone/>
                      </a:pPr>
                      <a:r>
                        <a:rPr lang="en-US" sz="1600" b="0">
                          <a:latin typeface="Times New Roman Regular" panose="02020603050405020304" charset="0"/>
                          <a:cs typeface="Times New Roman Regular" panose="02020603050405020304" charset="0"/>
                        </a:rPr>
                        <a:t>10</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Liu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(2013)</a:t>
                      </a:r>
                      <a:endParaRPr lang="en-US" sz="1600" b="0">
                        <a:latin typeface="Times New Roman Regular" panose="02020603050405020304" charset="0"/>
                        <a:cs typeface="Times New Roman Regular" panose="02020603050405020304" charset="0"/>
                      </a:endParaRPr>
                    </a:p>
                    <a:p>
                      <a:pPr>
                        <a:lnSpc>
                          <a:spcPct val="70000"/>
                        </a:lnSpc>
                        <a:buNone/>
                      </a:pPr>
                      <a:endParaRPr lang="en-US" sz="1600" b="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Handling large variations in</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facial expression intensity,</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image conditions.</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Proposed 3D CNN combined</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with deformable model fitting.</a:t>
                      </a:r>
                    </a:p>
                  </a:txBody>
                  <a:tcPr/>
                </a:tc>
                <a:tc>
                  <a:txBody>
                    <a:bodyPr/>
                    <a:lstStyle/>
                    <a:p>
                      <a:pPr>
                        <a:lnSpc>
                          <a:spcPct val="70000"/>
                        </a:lnSpc>
                        <a:buNone/>
                      </a:pPr>
                      <a:r>
                        <a:rPr lang="en-US" sz="1600" b="0">
                          <a:latin typeface="Times New Roman Regular" panose="02020603050405020304" charset="0"/>
                          <a:cs typeface="Times New Roman Regular" panose="02020603050405020304" charset="0"/>
                          <a:sym typeface="+mn-ea"/>
                        </a:rPr>
                        <a:t>BU-3DFE dataset. Obtained over 85% average accuracy.</a:t>
                      </a:r>
                    </a:p>
                  </a:txBody>
                  <a:tcPr/>
                </a:tc>
                <a:tc>
                  <a:txBody>
                    <a:bodyPr/>
                    <a:lstStyle/>
                    <a:p>
                      <a:pPr>
                        <a:lnSpc>
                          <a:spcPct val="70000"/>
                        </a:lnSpc>
                        <a:buNone/>
                      </a:pPr>
                      <a:r>
                        <a:rPr lang="en-US" sz="1600" b="0" dirty="0">
                          <a:latin typeface="Times New Roman Regular" panose="02020603050405020304" charset="0"/>
                          <a:cs typeface="Times New Roman Regular" panose="02020603050405020304" charset="0"/>
                          <a:sym typeface="+mn-ea"/>
                        </a:rPr>
                        <a:t>Computationally intensive 3D modeling</a:t>
                      </a:r>
                    </a:p>
                  </a:txBody>
                  <a:tcPr/>
                </a:tc>
                <a:extLst>
                  <a:ext uri="{0D108BD9-81ED-4DB2-BD59-A6C34878D82A}">
                    <a16:rowId xmlns:a16="http://schemas.microsoft.com/office/drawing/2014/main" val="10006"/>
                  </a:ext>
                </a:extLst>
              </a:tr>
            </a:tbl>
          </a:graphicData>
        </a:graphic>
      </p:graphicFrame>
      <p:sp>
        <p:nvSpPr>
          <p:cNvPr id="6" name="Title 5"/>
          <p:cNvSpPr>
            <a:spLocks noGrp="1"/>
          </p:cNvSpPr>
          <p:nvPr>
            <p:ph type="title"/>
          </p:nvPr>
        </p:nvSpPr>
        <p:spPr>
          <a:xfrm>
            <a:off x="381000" y="92710"/>
            <a:ext cx="10972800" cy="300355"/>
          </a:xfrm>
        </p:spPr>
        <p:txBody>
          <a:bodyPr>
            <a:normAutofit fontScale="90000"/>
          </a:bodyPr>
          <a:lstStyle/>
          <a:p>
            <a:r>
              <a:rPr lang="en-US" sz="2000"/>
              <a:t>LITERATURE REVIEW 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800" y="410845"/>
            <a:ext cx="10972800" cy="413385"/>
          </a:xfrm>
        </p:spPr>
        <p:txBody>
          <a:bodyPr>
            <a:normAutofit fontScale="90000"/>
          </a:bodyPr>
          <a:lstStyle/>
          <a:p>
            <a:pPr algn="ctr"/>
            <a:r>
              <a:rPr lang="en-US" sz="2800"/>
              <a:t>PROBLEM STATEMENT</a:t>
            </a:r>
          </a:p>
        </p:txBody>
      </p:sp>
      <p:sp>
        <p:nvSpPr>
          <p:cNvPr id="3" name="Content Placeholder 2"/>
          <p:cNvSpPr>
            <a:spLocks noGrp="1"/>
          </p:cNvSpPr>
          <p:nvPr>
            <p:ph idx="1"/>
          </p:nvPr>
        </p:nvSpPr>
        <p:spPr>
          <a:xfrm>
            <a:off x="50800" y="1721485"/>
            <a:ext cx="12090400" cy="3415030"/>
          </a:xfrm>
        </p:spPr>
        <p:txBody>
          <a:bodyPr>
            <a:noAutofit/>
          </a:bodyPr>
          <a:lstStyle/>
          <a:p>
            <a:pPr marL="0" indent="0">
              <a:buNone/>
            </a:pPr>
            <a:r>
              <a:rPr lang="en-US" sz="2000" dirty="0"/>
              <a:t>Current Facial Expression Recognition (FER) systems primarily focus on detecting single dominant emotions and struggle with multi-classifying an image based on probability and chances an image might have more than one emotion. This limitation highlights the pressing need for more sophisticated approaches capable of accurately modeling emotion mixtures.</a:t>
            </a:r>
          </a:p>
          <a:p>
            <a:pPr marL="0" indent="0">
              <a:buNone/>
            </a:pPr>
            <a:endParaRPr lang="en-US" sz="2000" dirty="0"/>
          </a:p>
          <a:p>
            <a:pPr marL="0" indent="0">
              <a:buNone/>
            </a:pPr>
            <a:r>
              <a:rPr lang="en-US" sz="2000" dirty="0"/>
              <a:t>The task of recognizing facial expressions is inherently challenging. It becomes particularly intricate when faced with blended expressions, where multiple emotions coexist in a single facial display. Additionally, detecting subtle emotions, like faint smiles, demands a precise approach. Addressing these complexities necessitates the application of advanced techniques, and Convolutional Neural Network emerge as a promising solution.</a:t>
            </a:r>
          </a:p>
        </p:txBody>
      </p:sp>
      <p:sp>
        <p:nvSpPr>
          <p:cNvPr id="4" name="Slide Number Placeholder 3"/>
          <p:cNvSpPr>
            <a:spLocks noGrp="1"/>
          </p:cNvSpPr>
          <p:nvPr>
            <p:ph type="sldNum" sz="quarter" idx="12"/>
          </p:nvPr>
        </p:nvSpPr>
        <p:spPr/>
        <p:txBody>
          <a:bodyPr/>
          <a:lstStyle/>
          <a:p>
            <a:fld id="{9B618960-8005-486C-9A75-10CB2AAC16F9}"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6355"/>
            <a:ext cx="10972800" cy="462915"/>
          </a:xfrm>
        </p:spPr>
        <p:txBody>
          <a:bodyPr/>
          <a:lstStyle/>
          <a:p>
            <a:r>
              <a:rPr lang="en-US" sz="2400"/>
              <a:t>AIM AND OBJECTIVES</a:t>
            </a:r>
          </a:p>
        </p:txBody>
      </p:sp>
      <p:sp>
        <p:nvSpPr>
          <p:cNvPr id="3" name="Content Placeholder 2"/>
          <p:cNvSpPr>
            <a:spLocks noGrp="1"/>
          </p:cNvSpPr>
          <p:nvPr>
            <p:ph idx="1"/>
          </p:nvPr>
        </p:nvSpPr>
        <p:spPr>
          <a:xfrm>
            <a:off x="93345" y="779145"/>
            <a:ext cx="12005310" cy="4867910"/>
          </a:xfrm>
        </p:spPr>
        <p:txBody>
          <a:bodyPr>
            <a:noAutofit/>
          </a:bodyPr>
          <a:lstStyle/>
          <a:p>
            <a:pPr marL="0" indent="0">
              <a:buNone/>
            </a:pPr>
            <a:r>
              <a:rPr lang="en-US" sz="2000" dirty="0"/>
              <a:t>Aim of the project:</a:t>
            </a:r>
          </a:p>
          <a:p>
            <a:pPr marL="0" indent="0">
              <a:buNone/>
            </a:pPr>
            <a:r>
              <a:rPr lang="en-US" sz="2000" dirty="0"/>
              <a:t>Develop a FER system that can predict and quantify the presence of multiple emotions in a single facial image, providing a list of emotions along with their respective probabilities.</a:t>
            </a:r>
          </a:p>
          <a:p>
            <a:pPr marL="0" indent="0">
              <a:buNone/>
            </a:pPr>
            <a:endParaRPr lang="en-US" sz="2000" dirty="0"/>
          </a:p>
          <a:p>
            <a:pPr marL="0" indent="0">
              <a:buNone/>
            </a:pPr>
            <a:r>
              <a:rPr lang="en-US" sz="2000" dirty="0">
                <a:sym typeface="+mn-ea"/>
              </a:rPr>
              <a:t>SPECIFIC OBJECTIVES</a:t>
            </a:r>
          </a:p>
          <a:p>
            <a:pPr marL="0" indent="0">
              <a:buNone/>
            </a:pPr>
            <a:endParaRPr lang="en-US" sz="2000" dirty="0"/>
          </a:p>
          <a:p>
            <a:pPr marL="342900" indent="-342900">
              <a:buAutoNum type="arabicPeriod"/>
            </a:pPr>
            <a:r>
              <a:rPr lang="en-US" sz="2000" dirty="0"/>
              <a:t>Design CNN architecture optimized for probability prediction on 8 classes of facial emotions.</a:t>
            </a:r>
          </a:p>
          <a:p>
            <a:pPr marL="342900" indent="-342900">
              <a:buAutoNum type="arabicPeriod"/>
            </a:pPr>
            <a:endParaRPr lang="en-US" sz="2000" dirty="0"/>
          </a:p>
          <a:p>
            <a:pPr marL="342900" indent="-342900">
              <a:buAutoNum type="arabicPeriod"/>
            </a:pPr>
            <a:r>
              <a:rPr lang="en-US" sz="2000" dirty="0">
                <a:sym typeface="+mn-ea"/>
              </a:rPr>
              <a:t>Analyze model for blended emotion insights.</a:t>
            </a:r>
            <a:endParaRPr lang="en-US" sz="2000" dirty="0"/>
          </a:p>
          <a:p>
            <a:pPr marL="342900" indent="-342900">
              <a:buAutoNum type="arabicPeriod"/>
            </a:pPr>
            <a:endParaRPr lang="en-US" sz="2000" dirty="0"/>
          </a:p>
          <a:p>
            <a:pPr marL="342900" indent="-342900">
              <a:buAutoNum type="arabicPeriod"/>
            </a:pPr>
            <a:r>
              <a:rPr lang="en-US" sz="2000" dirty="0"/>
              <a:t>Evaluate using metrics like micro/macro F1 score, and ROC curve</a:t>
            </a:r>
            <a:r>
              <a:rPr lang="en-US" sz="2000" dirty="0">
                <a:sym typeface="+mn-ea"/>
              </a:rPr>
              <a:t>.</a:t>
            </a:r>
            <a:endParaRPr lang="en-US" sz="2000" dirty="0"/>
          </a:p>
          <a:p>
            <a:pPr marL="0" indent="0">
              <a:buNone/>
            </a:pPr>
            <a:endParaRPr lang="en-US" sz="2000" dirty="0"/>
          </a:p>
          <a:p>
            <a:pPr marL="342900" indent="-342900">
              <a:buAutoNum type="arabicPeriod"/>
            </a:pPr>
            <a:endParaRPr lang="en-US" sz="2000" dirty="0"/>
          </a:p>
        </p:txBody>
      </p:sp>
      <p:sp>
        <p:nvSpPr>
          <p:cNvPr id="4" name="Slide Number Placeholder 3"/>
          <p:cNvSpPr>
            <a:spLocks noGrp="1"/>
          </p:cNvSpPr>
          <p:nvPr>
            <p:ph type="sldNum" sz="quarter" idx="12"/>
          </p:nvPr>
        </p:nvSpPr>
        <p:spPr/>
        <p:txBody>
          <a:bodyPr/>
          <a:lstStyle/>
          <a:p>
            <a:fld id="{9B618960-8005-486C-9A75-10CB2AAC16F9}"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666750"/>
          </a:xfrm>
        </p:spPr>
        <p:txBody>
          <a:bodyPr/>
          <a:lstStyle/>
          <a:p>
            <a:r>
              <a:rPr lang="en-US" sz="3200"/>
              <a:t>Methodology</a:t>
            </a:r>
          </a:p>
        </p:txBody>
      </p:sp>
      <p:sp>
        <p:nvSpPr>
          <p:cNvPr id="5" name="Slide Number Placeholder 4"/>
          <p:cNvSpPr>
            <a:spLocks noGrp="1"/>
          </p:cNvSpPr>
          <p:nvPr>
            <p:ph type="sldNum" sz="quarter" idx="12"/>
          </p:nvPr>
        </p:nvSpPr>
        <p:spPr/>
        <p:txBody>
          <a:bodyPr/>
          <a:lstStyle/>
          <a:p>
            <a:fld id="{9B618960-8005-486C-9A75-10CB2AAC16F9}" type="slidenum">
              <a:rPr lang="en-US" smtClean="0"/>
              <a:t>7</a:t>
            </a:fld>
            <a:endParaRPr lang="en-US"/>
          </a:p>
        </p:txBody>
      </p:sp>
      <p:pic>
        <p:nvPicPr>
          <p:cNvPr id="4" name="Picture 3" descr="electronics-10-01036-g003"/>
          <p:cNvPicPr>
            <a:picLocks noChangeAspect="1"/>
          </p:cNvPicPr>
          <p:nvPr/>
        </p:nvPicPr>
        <p:blipFill>
          <a:blip r:embed="rId2"/>
          <a:stretch>
            <a:fillRect/>
          </a:stretch>
        </p:blipFill>
        <p:spPr>
          <a:xfrm>
            <a:off x="61546" y="666750"/>
            <a:ext cx="12192000" cy="5743575"/>
          </a:xfrm>
          <a:prstGeom prst="rect">
            <a:avLst/>
          </a:prstGeom>
        </p:spPr>
      </p:pic>
      <p:pic>
        <p:nvPicPr>
          <p:cNvPr id="6" name="Picture 5"/>
          <p:cNvPicPr>
            <a:picLocks noChangeAspect="1"/>
          </p:cNvPicPr>
          <p:nvPr/>
        </p:nvPicPr>
        <p:blipFill>
          <a:blip r:embed="rId3"/>
          <a:stretch>
            <a:fillRect/>
          </a:stretch>
        </p:blipFill>
        <p:spPr>
          <a:xfrm>
            <a:off x="315595" y="1170940"/>
            <a:ext cx="5396230" cy="2468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840" y="41275"/>
            <a:ext cx="11236960" cy="694690"/>
          </a:xfrm>
        </p:spPr>
        <p:txBody>
          <a:bodyPr/>
          <a:lstStyle/>
          <a:p>
            <a:r>
              <a:rPr lang="en-US" sz="2400"/>
              <a:t>Dataset Preprocessing and Argumentation</a:t>
            </a:r>
          </a:p>
        </p:txBody>
      </p:sp>
      <p:sp>
        <p:nvSpPr>
          <p:cNvPr id="4" name="Slide Number Placeholder 3"/>
          <p:cNvSpPr>
            <a:spLocks noGrp="1"/>
          </p:cNvSpPr>
          <p:nvPr>
            <p:ph type="sldNum" sz="quarter" idx="12"/>
          </p:nvPr>
        </p:nvSpPr>
        <p:spPr/>
        <p:txBody>
          <a:bodyPr/>
          <a:lstStyle/>
          <a:p>
            <a:fld id="{9B618960-8005-486C-9A75-10CB2AAC16F9}" type="slidenum">
              <a:rPr lang="en-US" smtClean="0"/>
              <a:t>8</a:t>
            </a:fld>
            <a:endParaRPr lang="en-US"/>
          </a:p>
        </p:txBody>
      </p:sp>
      <p:pic>
        <p:nvPicPr>
          <p:cNvPr id="7" name="Content Placeholder 6"/>
          <p:cNvPicPr>
            <a:picLocks noGrp="1" noChangeAspect="1"/>
          </p:cNvPicPr>
          <p:nvPr>
            <p:ph idx="1"/>
          </p:nvPr>
        </p:nvPicPr>
        <p:blipFill>
          <a:blip r:embed="rId2"/>
          <a:stretch>
            <a:fillRect/>
          </a:stretch>
        </p:blipFill>
        <p:spPr>
          <a:xfrm>
            <a:off x="8350885" y="1577340"/>
            <a:ext cx="3848100" cy="5280660"/>
          </a:xfrm>
          <a:prstGeom prst="rect">
            <a:avLst/>
          </a:prstGeom>
        </p:spPr>
      </p:pic>
      <p:pic>
        <p:nvPicPr>
          <p:cNvPr id="8" name="Picture 7"/>
          <p:cNvPicPr>
            <a:picLocks noChangeAspect="1"/>
          </p:cNvPicPr>
          <p:nvPr/>
        </p:nvPicPr>
        <p:blipFill>
          <a:blip r:embed="rId3"/>
          <a:stretch>
            <a:fillRect/>
          </a:stretch>
        </p:blipFill>
        <p:spPr>
          <a:xfrm>
            <a:off x="0" y="984885"/>
            <a:ext cx="5676265" cy="2748915"/>
          </a:xfrm>
          <a:prstGeom prst="rect">
            <a:avLst/>
          </a:prstGeom>
        </p:spPr>
      </p:pic>
      <p:pic>
        <p:nvPicPr>
          <p:cNvPr id="9" name="Picture 8"/>
          <p:cNvPicPr>
            <a:picLocks noChangeAspect="1"/>
          </p:cNvPicPr>
          <p:nvPr/>
        </p:nvPicPr>
        <p:blipFill>
          <a:blip r:embed="rId4"/>
          <a:stretch>
            <a:fillRect/>
          </a:stretch>
        </p:blipFill>
        <p:spPr>
          <a:xfrm>
            <a:off x="5690235" y="557530"/>
            <a:ext cx="2660650" cy="5984875"/>
          </a:xfrm>
          <a:prstGeom prst="rect">
            <a:avLst/>
          </a:prstGeom>
        </p:spPr>
      </p:pic>
      <p:sp>
        <p:nvSpPr>
          <p:cNvPr id="11" name="Text Box 10"/>
          <p:cNvSpPr txBox="1"/>
          <p:nvPr/>
        </p:nvSpPr>
        <p:spPr>
          <a:xfrm>
            <a:off x="0" y="4874895"/>
            <a:ext cx="6378575" cy="2030095"/>
          </a:xfrm>
          <a:prstGeom prst="rect">
            <a:avLst/>
          </a:prstGeom>
          <a:noFill/>
        </p:spPr>
        <p:txBody>
          <a:bodyPr wrap="square" rtlCol="0">
            <a:spAutoFit/>
          </a:bodyPr>
          <a:lstStyle/>
          <a:p>
            <a:r>
              <a:rPr lang="en-US" dirty="0"/>
              <a:t>The use of OpenCV libraries helps in the Capturing of Facial Images by using histogram equalization for contrast enhancement and Gaussian blur for noise reduction, which makes it easy for the detection of eyes using an eye classifier, by detecting the left and right eye, makes it easier for OpenCV to align itself with the face rotation so as to detect the nose and mouth, for better cropping of the image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990" y="265430"/>
            <a:ext cx="9106535" cy="516890"/>
          </a:xfrm>
        </p:spPr>
        <p:txBody>
          <a:bodyPr/>
          <a:lstStyle/>
          <a:p>
            <a:r>
              <a:rPr lang="en-US" sz="2000" dirty="0"/>
              <a:t>More information about Dataset</a:t>
            </a:r>
          </a:p>
        </p:txBody>
      </p:sp>
      <p:sp>
        <p:nvSpPr>
          <p:cNvPr id="3" name="Content Placeholder 2"/>
          <p:cNvSpPr>
            <a:spLocks noGrp="1"/>
          </p:cNvSpPr>
          <p:nvPr>
            <p:ph idx="1"/>
          </p:nvPr>
        </p:nvSpPr>
        <p:spPr>
          <a:xfrm>
            <a:off x="87923" y="1173479"/>
            <a:ext cx="11825947" cy="5547995"/>
          </a:xfrm>
        </p:spPr>
        <p:txBody>
          <a:bodyPr/>
          <a:lstStyle/>
          <a:p>
            <a:pPr marL="0" indent="0">
              <a:buNone/>
            </a:pPr>
            <a:r>
              <a:rPr lang="en-US" sz="1600" dirty="0"/>
              <a:t>The </a:t>
            </a:r>
            <a:r>
              <a:rPr lang="en-US" sz="1600" dirty="0" err="1"/>
              <a:t>AffectNet</a:t>
            </a:r>
            <a:r>
              <a:rPr lang="en-US" sz="1600" dirty="0"/>
              <a:t> dataset has over 27,836 images with 8 classes of images which are :-</a:t>
            </a:r>
          </a:p>
          <a:p>
            <a:r>
              <a:rPr lang="en-US" sz="1600" dirty="0"/>
              <a:t>Anger</a:t>
            </a:r>
          </a:p>
          <a:p>
            <a:r>
              <a:rPr lang="en-US" sz="1600" dirty="0" err="1"/>
              <a:t>Comtempt</a:t>
            </a:r>
            <a:endParaRPr lang="en-US" sz="1600" dirty="0"/>
          </a:p>
          <a:p>
            <a:r>
              <a:rPr lang="en-US" sz="1600" dirty="0"/>
              <a:t>Disgust</a:t>
            </a:r>
          </a:p>
          <a:p>
            <a:r>
              <a:rPr lang="en-US" sz="1600" dirty="0"/>
              <a:t>Fear </a:t>
            </a:r>
          </a:p>
          <a:p>
            <a:r>
              <a:rPr lang="en-US" sz="1600" dirty="0"/>
              <a:t>Happy </a:t>
            </a:r>
          </a:p>
          <a:p>
            <a:r>
              <a:rPr lang="en-US" sz="1600" dirty="0"/>
              <a:t>Neural</a:t>
            </a:r>
          </a:p>
          <a:p>
            <a:r>
              <a:rPr lang="en-US" sz="1600" dirty="0"/>
              <a:t>Surprise</a:t>
            </a:r>
          </a:p>
          <a:p>
            <a:r>
              <a:rPr lang="en-US" sz="1600" dirty="0"/>
              <a:t>Sad</a:t>
            </a:r>
          </a:p>
          <a:p>
            <a:pPr marL="0" indent="0">
              <a:buNone/>
            </a:pPr>
            <a:endParaRPr lang="en-US" sz="1600" dirty="0"/>
          </a:p>
          <a:p>
            <a:pPr marL="0" indent="0">
              <a:buNone/>
            </a:pPr>
            <a:r>
              <a:rPr lang="en-US" sz="1600" dirty="0"/>
              <a:t>Each images are of size 96 X 96, which are in the form RGB, which is publicly accessible through Kaggle datasets and research publications, </a:t>
            </a:r>
            <a:r>
              <a:rPr lang="en-US" sz="1600" dirty="0" err="1"/>
              <a:t>AffectNet</a:t>
            </a:r>
            <a:r>
              <a:rPr lang="en-US" sz="1600" dirty="0"/>
              <a:t> empowers researchers and developers to leverage its rich database for facial expression analysis and emotion recognition advancements, while I use FER Plus dataset which has over 35,710 images to evaluate the model, although the images are in form of grey scale but maintain at 3 channels </a:t>
            </a:r>
          </a:p>
        </p:txBody>
      </p:sp>
      <p:sp>
        <p:nvSpPr>
          <p:cNvPr id="4" name="Slide Number Placeholder 3"/>
          <p:cNvSpPr>
            <a:spLocks noGrp="1"/>
          </p:cNvSpPr>
          <p:nvPr>
            <p:ph type="sldNum" sz="quarter" idx="12"/>
          </p:nvPr>
        </p:nvSpPr>
        <p:spPr/>
        <p:txBody>
          <a:bodyPr/>
          <a:lstStyle/>
          <a:p>
            <a:fld id="{9B618960-8005-486C-9A75-10CB2AAC16F9}"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37186-C555-05A9-1C6E-14FA8A657AF3}"/>
              </a:ext>
            </a:extLst>
          </p:cNvPr>
          <p:cNvSpPr>
            <a:spLocks noGrp="1"/>
          </p:cNvSpPr>
          <p:nvPr>
            <p:ph type="title"/>
          </p:nvPr>
        </p:nvSpPr>
        <p:spPr>
          <a:xfrm>
            <a:off x="0" y="1"/>
            <a:ext cx="3894992" cy="681036"/>
          </a:xfrm>
        </p:spPr>
        <p:txBody>
          <a:bodyPr>
            <a:normAutofit fontScale="90000"/>
          </a:bodyPr>
          <a:lstStyle/>
          <a:p>
            <a:r>
              <a:rPr lang="en-US" dirty="0"/>
              <a:t>Data Generator</a:t>
            </a:r>
          </a:p>
        </p:txBody>
      </p:sp>
      <p:pic>
        <p:nvPicPr>
          <p:cNvPr id="6" name="Content Placeholder 5">
            <a:extLst>
              <a:ext uri="{FF2B5EF4-FFF2-40B4-BE49-F238E27FC236}">
                <a16:creationId xmlns:a16="http://schemas.microsoft.com/office/drawing/2014/main" id="{96E7AB3E-FB3B-D51F-00A6-F11149B3D8CC}"/>
              </a:ext>
            </a:extLst>
          </p:cNvPr>
          <p:cNvPicPr>
            <a:picLocks noGrp="1" noChangeAspect="1"/>
          </p:cNvPicPr>
          <p:nvPr>
            <p:ph idx="1"/>
          </p:nvPr>
        </p:nvPicPr>
        <p:blipFill>
          <a:blip r:embed="rId2"/>
          <a:stretch>
            <a:fillRect/>
          </a:stretch>
        </p:blipFill>
        <p:spPr>
          <a:xfrm>
            <a:off x="0" y="565913"/>
            <a:ext cx="3258005" cy="3067478"/>
          </a:xfrm>
        </p:spPr>
      </p:pic>
      <p:sp>
        <p:nvSpPr>
          <p:cNvPr id="4" name="Slide Number Placeholder 3">
            <a:extLst>
              <a:ext uri="{FF2B5EF4-FFF2-40B4-BE49-F238E27FC236}">
                <a16:creationId xmlns:a16="http://schemas.microsoft.com/office/drawing/2014/main" id="{C5BE8F4B-B5EE-4127-0431-055F58170DCD}"/>
              </a:ext>
            </a:extLst>
          </p:cNvPr>
          <p:cNvSpPr>
            <a:spLocks noGrp="1"/>
          </p:cNvSpPr>
          <p:nvPr>
            <p:ph type="sldNum" sz="quarter" idx="12"/>
          </p:nvPr>
        </p:nvSpPr>
        <p:spPr/>
        <p:txBody>
          <a:bodyPr/>
          <a:lstStyle/>
          <a:p>
            <a:fld id="{9B618960-8005-486C-9A75-10CB2AAC16F9}" type="slidenum">
              <a:rPr lang="en-US" smtClean="0"/>
              <a:t>10</a:t>
            </a:fld>
            <a:endParaRPr lang="en-US"/>
          </a:p>
        </p:txBody>
      </p:sp>
      <p:sp>
        <p:nvSpPr>
          <p:cNvPr id="10" name="TextBox 9">
            <a:extLst>
              <a:ext uri="{FF2B5EF4-FFF2-40B4-BE49-F238E27FC236}">
                <a16:creationId xmlns:a16="http://schemas.microsoft.com/office/drawing/2014/main" id="{19C98098-7BFD-A423-0606-D4D85D4B61F8}"/>
              </a:ext>
            </a:extLst>
          </p:cNvPr>
          <p:cNvSpPr txBox="1"/>
          <p:nvPr/>
        </p:nvSpPr>
        <p:spPr>
          <a:xfrm>
            <a:off x="586154" y="4327440"/>
            <a:ext cx="11605846" cy="1384995"/>
          </a:xfrm>
          <a:prstGeom prst="rect">
            <a:avLst/>
          </a:prstGeom>
          <a:noFill/>
        </p:spPr>
        <p:txBody>
          <a:bodyPr wrap="square">
            <a:spAutoFit/>
          </a:bodyPr>
          <a:lstStyle/>
          <a:p>
            <a:r>
              <a:rPr lang="en-US" sz="1400" dirty="0"/>
              <a:t>Benefits of Data Augmentation:</a:t>
            </a:r>
          </a:p>
          <a:p>
            <a:endParaRPr lang="en-US" sz="1400" dirty="0"/>
          </a:p>
          <a:p>
            <a:pPr marL="285750" indent="-285750">
              <a:buFont typeface="Arial" panose="020B0604020202020204" pitchFamily="34" charset="0"/>
              <a:buChar char="•"/>
            </a:pPr>
            <a:r>
              <a:rPr lang="en-US" sz="1400" dirty="0"/>
              <a:t>Prevents Overfitting: By introducing variations, data augmentation helps the model learn features that are relevant to the task at hand, rather than memorizing specific details of the training images. This leads to a model that performs better on unseen data.</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Improves Generalizability: The model becomes more robust to small variations in the data it encounters during deployment.</a:t>
            </a:r>
          </a:p>
        </p:txBody>
      </p:sp>
      <p:pic>
        <p:nvPicPr>
          <p:cNvPr id="14" name="Picture 13">
            <a:extLst>
              <a:ext uri="{FF2B5EF4-FFF2-40B4-BE49-F238E27FC236}">
                <a16:creationId xmlns:a16="http://schemas.microsoft.com/office/drawing/2014/main" id="{F10FD2F8-34E7-1EB5-A4DF-DA7FEE6B06EA}"/>
              </a:ext>
            </a:extLst>
          </p:cNvPr>
          <p:cNvPicPr>
            <a:picLocks noChangeAspect="1"/>
          </p:cNvPicPr>
          <p:nvPr/>
        </p:nvPicPr>
        <p:blipFill>
          <a:blip r:embed="rId3"/>
          <a:stretch>
            <a:fillRect/>
          </a:stretch>
        </p:blipFill>
        <p:spPr>
          <a:xfrm>
            <a:off x="3502270" y="681037"/>
            <a:ext cx="2496816" cy="2417009"/>
          </a:xfrm>
          <a:prstGeom prst="rect">
            <a:avLst/>
          </a:prstGeom>
        </p:spPr>
      </p:pic>
      <p:pic>
        <p:nvPicPr>
          <p:cNvPr id="16" name="Picture 15">
            <a:extLst>
              <a:ext uri="{FF2B5EF4-FFF2-40B4-BE49-F238E27FC236}">
                <a16:creationId xmlns:a16="http://schemas.microsoft.com/office/drawing/2014/main" id="{FAC2180A-A31D-DA9A-1084-013858F4309E}"/>
              </a:ext>
            </a:extLst>
          </p:cNvPr>
          <p:cNvPicPr>
            <a:picLocks noChangeAspect="1"/>
          </p:cNvPicPr>
          <p:nvPr/>
        </p:nvPicPr>
        <p:blipFill>
          <a:blip r:embed="rId4"/>
          <a:stretch>
            <a:fillRect/>
          </a:stretch>
        </p:blipFill>
        <p:spPr>
          <a:xfrm>
            <a:off x="6243351" y="748220"/>
            <a:ext cx="2389227" cy="2417009"/>
          </a:xfrm>
          <a:prstGeom prst="rect">
            <a:avLst/>
          </a:prstGeom>
        </p:spPr>
      </p:pic>
      <p:pic>
        <p:nvPicPr>
          <p:cNvPr id="20" name="Picture 19">
            <a:extLst>
              <a:ext uri="{FF2B5EF4-FFF2-40B4-BE49-F238E27FC236}">
                <a16:creationId xmlns:a16="http://schemas.microsoft.com/office/drawing/2014/main" id="{E2AA6828-CC1B-E501-9FE0-09AA4F540FAE}"/>
              </a:ext>
            </a:extLst>
          </p:cNvPr>
          <p:cNvPicPr>
            <a:picLocks noChangeAspect="1"/>
          </p:cNvPicPr>
          <p:nvPr/>
        </p:nvPicPr>
        <p:blipFill>
          <a:blip r:embed="rId5"/>
          <a:stretch>
            <a:fillRect/>
          </a:stretch>
        </p:blipFill>
        <p:spPr>
          <a:xfrm>
            <a:off x="8984432" y="748220"/>
            <a:ext cx="2458361" cy="2491922"/>
          </a:xfrm>
          <a:prstGeom prst="rect">
            <a:avLst/>
          </a:prstGeom>
        </p:spPr>
      </p:pic>
    </p:spTree>
    <p:extLst>
      <p:ext uri="{BB962C8B-B14F-4D97-AF65-F5344CB8AC3E}">
        <p14:creationId xmlns:p14="http://schemas.microsoft.com/office/powerpoint/2010/main" val="2076902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6DB39-32C5-1F96-5626-57F08294C86C}"/>
              </a:ext>
            </a:extLst>
          </p:cNvPr>
          <p:cNvSpPr>
            <a:spLocks noGrp="1"/>
          </p:cNvSpPr>
          <p:nvPr>
            <p:ph idx="1"/>
          </p:nvPr>
        </p:nvSpPr>
        <p:spPr>
          <a:xfrm>
            <a:off x="96715" y="681037"/>
            <a:ext cx="11500339" cy="5939571"/>
          </a:xfrm>
        </p:spPr>
        <p:txBody>
          <a:bodyPr>
            <a:normAutofit fontScale="47500" lnSpcReduction="20000"/>
          </a:bodyPr>
          <a:lstStyle/>
          <a:p>
            <a:pPr algn="l"/>
            <a:r>
              <a:rPr lang="en-US" sz="2900" i="0" dirty="0">
                <a:effectLst/>
                <a:latin typeface="Google Sans"/>
              </a:rPr>
              <a:t>Key Parameters:</a:t>
            </a:r>
          </a:p>
          <a:p>
            <a:pPr algn="l"/>
            <a:endParaRPr lang="en-US" sz="2900" i="0" dirty="0">
              <a:effectLst/>
              <a:latin typeface="Google Sans"/>
            </a:endParaRPr>
          </a:p>
          <a:p>
            <a:pPr algn="l">
              <a:buFont typeface="Arial" panose="020B0604020202020204" pitchFamily="34" charset="0"/>
              <a:buChar char="•"/>
            </a:pPr>
            <a:r>
              <a:rPr lang="en-US" sz="2900" i="0" dirty="0">
                <a:effectLst/>
                <a:latin typeface="Google Sans"/>
              </a:rPr>
              <a:t>rescale=1./255: This line scales the pixel values of your images from a range of [0, 255] (typical for image data) to a range of [0, 1]. This normalization is often a good practice for training image classification models.</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width_shift_range</a:t>
            </a:r>
            <a:r>
              <a:rPr lang="en-US" sz="2900" i="0" dirty="0">
                <a:effectLst/>
                <a:latin typeface="Google Sans"/>
              </a:rPr>
              <a:t>=0.1, </a:t>
            </a:r>
            <a:r>
              <a:rPr lang="en-US" sz="2900" i="0" dirty="0" err="1">
                <a:effectLst/>
                <a:latin typeface="Google Sans"/>
              </a:rPr>
              <a:t>height_shift_range</a:t>
            </a:r>
            <a:r>
              <a:rPr lang="en-US" sz="2900" i="0" dirty="0">
                <a:effectLst/>
                <a:latin typeface="Google Sans"/>
              </a:rPr>
              <a:t>=0.1: These parameters introduce random horizontal and vertical shifts of the image content within a range of 10% of the image width and height, respectively. This simulates slightly different camera angles or object positions.</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brightness_range</a:t>
            </a:r>
            <a:r>
              <a:rPr lang="en-US" sz="2900" i="0" dirty="0">
                <a:effectLst/>
                <a:latin typeface="Google Sans"/>
              </a:rPr>
              <a:t> = (0.8,1.2): This parameter randomly adjusts the brightness of the images by a scale factor between 0.8 (darker) and 1.2 (brighter). This helps the model learn to recognize objects under different lighting conditions.</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zoom_range</a:t>
            </a:r>
            <a:r>
              <a:rPr lang="en-US" sz="2900" i="0" dirty="0">
                <a:effectLst/>
                <a:latin typeface="Google Sans"/>
              </a:rPr>
              <a:t>=0.1: This parameter applies random zoom of up to 10% to the images. This simulates objects being slightly closer or farther away from the camera.</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horizontal_flip</a:t>
            </a:r>
            <a:r>
              <a:rPr lang="en-US" sz="2900" i="0" dirty="0">
                <a:effectLst/>
                <a:latin typeface="Google Sans"/>
              </a:rPr>
              <a:t>=True, </a:t>
            </a:r>
            <a:r>
              <a:rPr lang="en-US" sz="2900" i="0" dirty="0" err="1">
                <a:effectLst/>
                <a:latin typeface="Google Sans"/>
              </a:rPr>
              <a:t>vertical_flip</a:t>
            </a:r>
            <a:r>
              <a:rPr lang="en-US" sz="2900" i="0" dirty="0">
                <a:effectLst/>
                <a:latin typeface="Google Sans"/>
              </a:rPr>
              <a:t>=False: This setting performs a random horizontal flip (mirroring) of the image with a probability of True. Vertical flipping is set to False here. This introduces variations in object orientation.</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rotation_range</a:t>
            </a:r>
            <a:r>
              <a:rPr lang="en-US" sz="2900" i="0" dirty="0">
                <a:effectLst/>
                <a:latin typeface="Google Sans"/>
              </a:rPr>
              <a:t> = 20: This parameter applies random rotations to the images within a range of 20 degrees. This helps the model recognize objects from different viewpoints.</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fill_mode</a:t>
            </a:r>
            <a:r>
              <a:rPr lang="en-US" sz="2900" i="0" dirty="0">
                <a:effectLst/>
                <a:latin typeface="Google Sans"/>
              </a:rPr>
              <a:t>='nearest': This parameter specifies how to fill the background pixels that become exposed due to random shifts, zooms, or rotations. </a:t>
            </a:r>
          </a:p>
          <a:p>
            <a:pPr algn="l">
              <a:buFont typeface="Arial" panose="020B0604020202020204" pitchFamily="34" charset="0"/>
              <a:buChar char="•"/>
            </a:pPr>
            <a:endParaRPr lang="en-US" sz="2900" i="0" dirty="0">
              <a:effectLst/>
              <a:latin typeface="Google Sans"/>
            </a:endParaRPr>
          </a:p>
          <a:p>
            <a:pPr algn="l">
              <a:buFont typeface="Arial" panose="020B0604020202020204" pitchFamily="34" charset="0"/>
              <a:buChar char="•"/>
            </a:pPr>
            <a:r>
              <a:rPr lang="en-US" sz="2900" i="0" dirty="0" err="1">
                <a:effectLst/>
                <a:latin typeface="Google Sans"/>
              </a:rPr>
              <a:t>data_format</a:t>
            </a:r>
            <a:r>
              <a:rPr lang="en-US" sz="2900" i="0" dirty="0">
                <a:effectLst/>
                <a:latin typeface="Google Sans"/>
              </a:rPr>
              <a:t>='</a:t>
            </a:r>
            <a:r>
              <a:rPr lang="en-US" sz="2900" i="0" dirty="0" err="1">
                <a:effectLst/>
                <a:latin typeface="Google Sans"/>
              </a:rPr>
              <a:t>channels_last</a:t>
            </a:r>
            <a:r>
              <a:rPr lang="en-US" sz="2900" i="0" dirty="0">
                <a:effectLst/>
                <a:latin typeface="Google Sans"/>
              </a:rPr>
              <a:t>': This parameter specifies the data format expected by the model. Here, '</a:t>
            </a:r>
            <a:r>
              <a:rPr lang="en-US" sz="2900" i="0" dirty="0" err="1">
                <a:effectLst/>
                <a:latin typeface="Google Sans"/>
              </a:rPr>
              <a:t>channels_last</a:t>
            </a:r>
            <a:r>
              <a:rPr lang="en-US" sz="2900" i="0" dirty="0">
                <a:effectLst/>
                <a:latin typeface="Google Sans"/>
              </a:rPr>
              <a:t>' indicates that color channels are stored at the end of each pixel value (e.g., [red, green, blue]). </a:t>
            </a:r>
          </a:p>
          <a:p>
            <a:endParaRPr lang="en-US" dirty="0"/>
          </a:p>
        </p:txBody>
      </p:sp>
      <p:sp>
        <p:nvSpPr>
          <p:cNvPr id="4" name="Slide Number Placeholder 3">
            <a:extLst>
              <a:ext uri="{FF2B5EF4-FFF2-40B4-BE49-F238E27FC236}">
                <a16:creationId xmlns:a16="http://schemas.microsoft.com/office/drawing/2014/main" id="{C679C4DA-AE84-4DF6-6A42-F1C44D3E5E23}"/>
              </a:ext>
            </a:extLst>
          </p:cNvPr>
          <p:cNvSpPr>
            <a:spLocks noGrp="1"/>
          </p:cNvSpPr>
          <p:nvPr>
            <p:ph type="sldNum" sz="quarter" idx="12"/>
          </p:nvPr>
        </p:nvSpPr>
        <p:spPr/>
        <p:txBody>
          <a:bodyPr/>
          <a:lstStyle/>
          <a:p>
            <a:fld id="{9B618960-8005-486C-9A75-10CB2AAC16F9}" type="slidenum">
              <a:rPr lang="en-US" smtClean="0"/>
              <a:t>11</a:t>
            </a:fld>
            <a:endParaRPr lang="en-US"/>
          </a:p>
        </p:txBody>
      </p:sp>
      <p:sp>
        <p:nvSpPr>
          <p:cNvPr id="6" name="Title 1">
            <a:extLst>
              <a:ext uri="{FF2B5EF4-FFF2-40B4-BE49-F238E27FC236}">
                <a16:creationId xmlns:a16="http://schemas.microsoft.com/office/drawing/2014/main" id="{651F2C30-CF68-2947-1A06-E94594074E10}"/>
              </a:ext>
            </a:extLst>
          </p:cNvPr>
          <p:cNvSpPr txBox="1">
            <a:spLocks/>
          </p:cNvSpPr>
          <p:nvPr/>
        </p:nvSpPr>
        <p:spPr>
          <a:xfrm>
            <a:off x="0" y="1"/>
            <a:ext cx="3894992" cy="681036"/>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Data Generator</a:t>
            </a:r>
            <a:endParaRPr lang="en-US" dirty="0"/>
          </a:p>
        </p:txBody>
      </p:sp>
    </p:spTree>
    <p:extLst>
      <p:ext uri="{BB962C8B-B14F-4D97-AF65-F5344CB8AC3E}">
        <p14:creationId xmlns:p14="http://schemas.microsoft.com/office/powerpoint/2010/main" val="42976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 y="137258"/>
            <a:ext cx="8992018" cy="443035"/>
          </a:xfrm>
        </p:spPr>
        <p:txBody>
          <a:bodyPr>
            <a:normAutofit fontScale="90000"/>
          </a:bodyPr>
          <a:lstStyle/>
          <a:p>
            <a:r>
              <a:rPr lang="en-US" dirty="0"/>
              <a:t>CNN Architecture: Objective 1</a:t>
            </a:r>
          </a:p>
        </p:txBody>
      </p:sp>
      <p:sp>
        <p:nvSpPr>
          <p:cNvPr id="4" name="Slide Number Placeholder 3"/>
          <p:cNvSpPr>
            <a:spLocks noGrp="1"/>
          </p:cNvSpPr>
          <p:nvPr>
            <p:ph type="sldNum" sz="quarter" idx="12"/>
          </p:nvPr>
        </p:nvSpPr>
        <p:spPr/>
        <p:txBody>
          <a:bodyPr/>
          <a:lstStyle/>
          <a:p>
            <a:fld id="{9B618960-8005-486C-9A75-10CB2AAC16F9}" type="slidenum">
              <a:rPr lang="en-US" smtClean="0"/>
              <a:t>12</a:t>
            </a:fld>
            <a:endParaRPr lang="en-US"/>
          </a:p>
        </p:txBody>
      </p:sp>
      <p:pic>
        <p:nvPicPr>
          <p:cNvPr id="7" name="Picture 6">
            <a:extLst>
              <a:ext uri="{FF2B5EF4-FFF2-40B4-BE49-F238E27FC236}">
                <a16:creationId xmlns:a16="http://schemas.microsoft.com/office/drawing/2014/main" id="{5862C9E7-43AB-68D2-60ED-EF27DF7B2ABD}"/>
              </a:ext>
            </a:extLst>
          </p:cNvPr>
          <p:cNvPicPr>
            <a:picLocks noChangeAspect="1"/>
          </p:cNvPicPr>
          <p:nvPr/>
        </p:nvPicPr>
        <p:blipFill>
          <a:blip r:embed="rId2"/>
          <a:stretch>
            <a:fillRect/>
          </a:stretch>
        </p:blipFill>
        <p:spPr>
          <a:xfrm>
            <a:off x="-10203" y="1083807"/>
            <a:ext cx="2910254" cy="5600700"/>
          </a:xfrm>
          <a:prstGeom prst="rect">
            <a:avLst/>
          </a:prstGeom>
        </p:spPr>
      </p:pic>
      <p:pic>
        <p:nvPicPr>
          <p:cNvPr id="9" name="Picture 8">
            <a:extLst>
              <a:ext uri="{FF2B5EF4-FFF2-40B4-BE49-F238E27FC236}">
                <a16:creationId xmlns:a16="http://schemas.microsoft.com/office/drawing/2014/main" id="{E1086F67-9098-C38F-2129-BD5C67247550}"/>
              </a:ext>
            </a:extLst>
          </p:cNvPr>
          <p:cNvPicPr>
            <a:picLocks noChangeAspect="1"/>
          </p:cNvPicPr>
          <p:nvPr/>
        </p:nvPicPr>
        <p:blipFill>
          <a:blip r:embed="rId3"/>
          <a:stretch>
            <a:fillRect/>
          </a:stretch>
        </p:blipFill>
        <p:spPr>
          <a:xfrm>
            <a:off x="2977120" y="1083807"/>
            <a:ext cx="2910254" cy="5710848"/>
          </a:xfrm>
          <a:prstGeom prst="rect">
            <a:avLst/>
          </a:prstGeom>
        </p:spPr>
      </p:pic>
      <p:pic>
        <p:nvPicPr>
          <p:cNvPr id="12" name="Picture 11">
            <a:extLst>
              <a:ext uri="{FF2B5EF4-FFF2-40B4-BE49-F238E27FC236}">
                <a16:creationId xmlns:a16="http://schemas.microsoft.com/office/drawing/2014/main" id="{1153EAA8-A58A-AEB5-7F4E-E2705AB75168}"/>
              </a:ext>
            </a:extLst>
          </p:cNvPr>
          <p:cNvPicPr>
            <a:picLocks noChangeAspect="1"/>
          </p:cNvPicPr>
          <p:nvPr/>
        </p:nvPicPr>
        <p:blipFill>
          <a:blip r:embed="rId4"/>
          <a:stretch>
            <a:fillRect/>
          </a:stretch>
        </p:blipFill>
        <p:spPr>
          <a:xfrm>
            <a:off x="6096000" y="1071650"/>
            <a:ext cx="2969678" cy="5564487"/>
          </a:xfrm>
          <a:prstGeom prst="rect">
            <a:avLst/>
          </a:prstGeom>
        </p:spPr>
      </p:pic>
      <p:pic>
        <p:nvPicPr>
          <p:cNvPr id="14" name="Picture 13">
            <a:extLst>
              <a:ext uri="{FF2B5EF4-FFF2-40B4-BE49-F238E27FC236}">
                <a16:creationId xmlns:a16="http://schemas.microsoft.com/office/drawing/2014/main" id="{7B6CCDAA-08F3-7332-1ED8-AA9182004E90}"/>
              </a:ext>
            </a:extLst>
          </p:cNvPr>
          <p:cNvPicPr>
            <a:picLocks noChangeAspect="1"/>
          </p:cNvPicPr>
          <p:nvPr/>
        </p:nvPicPr>
        <p:blipFill>
          <a:blip r:embed="rId5"/>
          <a:stretch>
            <a:fillRect/>
          </a:stretch>
        </p:blipFill>
        <p:spPr>
          <a:xfrm>
            <a:off x="9144542" y="1144831"/>
            <a:ext cx="2969678" cy="5503463"/>
          </a:xfrm>
          <a:prstGeom prst="rect">
            <a:avLst/>
          </a:prstGeom>
        </p:spPr>
      </p:pic>
      <p:pic>
        <p:nvPicPr>
          <p:cNvPr id="16" name="Picture 15">
            <a:extLst>
              <a:ext uri="{FF2B5EF4-FFF2-40B4-BE49-F238E27FC236}">
                <a16:creationId xmlns:a16="http://schemas.microsoft.com/office/drawing/2014/main" id="{61715567-ABB7-EC55-82DB-351608EBF351}"/>
              </a:ext>
            </a:extLst>
          </p:cNvPr>
          <p:cNvPicPr>
            <a:picLocks noChangeAspect="1"/>
          </p:cNvPicPr>
          <p:nvPr/>
        </p:nvPicPr>
        <p:blipFill>
          <a:blip r:embed="rId6"/>
          <a:stretch>
            <a:fillRect/>
          </a:stretch>
        </p:blipFill>
        <p:spPr>
          <a:xfrm>
            <a:off x="9631457" y="136525"/>
            <a:ext cx="2143424" cy="6382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5448C0-5E7E-A410-F367-23E9A8A16270}"/>
              </a:ext>
            </a:extLst>
          </p:cNvPr>
          <p:cNvSpPr>
            <a:spLocks noGrp="1"/>
          </p:cNvSpPr>
          <p:nvPr>
            <p:ph type="sldNum" sz="quarter" idx="12"/>
          </p:nvPr>
        </p:nvSpPr>
        <p:spPr/>
        <p:txBody>
          <a:bodyPr/>
          <a:lstStyle/>
          <a:p>
            <a:fld id="{9B618960-8005-486C-9A75-10CB2AAC16F9}" type="slidenum">
              <a:rPr lang="en-US" smtClean="0"/>
              <a:t>13</a:t>
            </a:fld>
            <a:endParaRPr lang="en-US"/>
          </a:p>
        </p:txBody>
      </p:sp>
      <p:sp>
        <p:nvSpPr>
          <p:cNvPr id="7" name="Title 1">
            <a:extLst>
              <a:ext uri="{FF2B5EF4-FFF2-40B4-BE49-F238E27FC236}">
                <a16:creationId xmlns:a16="http://schemas.microsoft.com/office/drawing/2014/main" id="{DC8A8D6C-B5E2-E26E-10EF-209C4932DFBC}"/>
              </a:ext>
            </a:extLst>
          </p:cNvPr>
          <p:cNvSpPr txBox="1">
            <a:spLocks/>
          </p:cNvSpPr>
          <p:nvPr/>
        </p:nvSpPr>
        <p:spPr>
          <a:xfrm>
            <a:off x="-84602" y="0"/>
            <a:ext cx="10213340" cy="443035"/>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CNN Training Result Analysis</a:t>
            </a:r>
          </a:p>
        </p:txBody>
      </p:sp>
      <p:pic>
        <p:nvPicPr>
          <p:cNvPr id="9" name="Picture 8">
            <a:extLst>
              <a:ext uri="{FF2B5EF4-FFF2-40B4-BE49-F238E27FC236}">
                <a16:creationId xmlns:a16="http://schemas.microsoft.com/office/drawing/2014/main" id="{CD3B3D4A-3F6E-DC4E-06ED-22F7DC40AB33}"/>
              </a:ext>
            </a:extLst>
          </p:cNvPr>
          <p:cNvPicPr>
            <a:picLocks noChangeAspect="1"/>
          </p:cNvPicPr>
          <p:nvPr/>
        </p:nvPicPr>
        <p:blipFill>
          <a:blip r:embed="rId2"/>
          <a:stretch>
            <a:fillRect/>
          </a:stretch>
        </p:blipFill>
        <p:spPr>
          <a:xfrm>
            <a:off x="0" y="495787"/>
            <a:ext cx="3733616" cy="6365631"/>
          </a:xfrm>
          <a:prstGeom prst="rect">
            <a:avLst/>
          </a:prstGeom>
        </p:spPr>
      </p:pic>
      <p:pic>
        <p:nvPicPr>
          <p:cNvPr id="11" name="Picture 10">
            <a:extLst>
              <a:ext uri="{FF2B5EF4-FFF2-40B4-BE49-F238E27FC236}">
                <a16:creationId xmlns:a16="http://schemas.microsoft.com/office/drawing/2014/main" id="{9F3533D6-23C8-CD41-FAAB-E18D3F4C50A6}"/>
              </a:ext>
            </a:extLst>
          </p:cNvPr>
          <p:cNvPicPr>
            <a:picLocks noChangeAspect="1"/>
          </p:cNvPicPr>
          <p:nvPr/>
        </p:nvPicPr>
        <p:blipFill>
          <a:blip r:embed="rId3"/>
          <a:stretch>
            <a:fillRect/>
          </a:stretch>
        </p:blipFill>
        <p:spPr>
          <a:xfrm>
            <a:off x="3733616" y="443035"/>
            <a:ext cx="2895784" cy="2301640"/>
          </a:xfrm>
          <a:prstGeom prst="rect">
            <a:avLst/>
          </a:prstGeom>
        </p:spPr>
      </p:pic>
      <p:pic>
        <p:nvPicPr>
          <p:cNvPr id="13" name="Picture 12">
            <a:extLst>
              <a:ext uri="{FF2B5EF4-FFF2-40B4-BE49-F238E27FC236}">
                <a16:creationId xmlns:a16="http://schemas.microsoft.com/office/drawing/2014/main" id="{7B0709CF-EEA0-77BB-261E-C2470A1F1895}"/>
              </a:ext>
            </a:extLst>
          </p:cNvPr>
          <p:cNvPicPr>
            <a:picLocks noChangeAspect="1"/>
          </p:cNvPicPr>
          <p:nvPr/>
        </p:nvPicPr>
        <p:blipFill>
          <a:blip r:embed="rId4"/>
          <a:stretch>
            <a:fillRect/>
          </a:stretch>
        </p:blipFill>
        <p:spPr>
          <a:xfrm>
            <a:off x="6606572" y="443035"/>
            <a:ext cx="2930329" cy="2301640"/>
          </a:xfrm>
          <a:prstGeom prst="rect">
            <a:avLst/>
          </a:prstGeom>
        </p:spPr>
      </p:pic>
      <p:pic>
        <p:nvPicPr>
          <p:cNvPr id="15" name="Picture 14">
            <a:extLst>
              <a:ext uri="{FF2B5EF4-FFF2-40B4-BE49-F238E27FC236}">
                <a16:creationId xmlns:a16="http://schemas.microsoft.com/office/drawing/2014/main" id="{A97CB514-9DC7-EA56-A6CF-25B8738E4B6D}"/>
              </a:ext>
            </a:extLst>
          </p:cNvPr>
          <p:cNvPicPr>
            <a:picLocks noChangeAspect="1"/>
          </p:cNvPicPr>
          <p:nvPr/>
        </p:nvPicPr>
        <p:blipFill>
          <a:blip r:embed="rId5"/>
          <a:stretch>
            <a:fillRect/>
          </a:stretch>
        </p:blipFill>
        <p:spPr>
          <a:xfrm>
            <a:off x="9287435" y="554402"/>
            <a:ext cx="2904565" cy="2057400"/>
          </a:xfrm>
          <a:prstGeom prst="rect">
            <a:avLst/>
          </a:prstGeom>
        </p:spPr>
      </p:pic>
      <p:pic>
        <p:nvPicPr>
          <p:cNvPr id="17" name="Picture 16">
            <a:extLst>
              <a:ext uri="{FF2B5EF4-FFF2-40B4-BE49-F238E27FC236}">
                <a16:creationId xmlns:a16="http://schemas.microsoft.com/office/drawing/2014/main" id="{8F85D123-83EE-3D8D-B80C-A7C2B028AC12}"/>
              </a:ext>
            </a:extLst>
          </p:cNvPr>
          <p:cNvPicPr>
            <a:picLocks noChangeAspect="1"/>
          </p:cNvPicPr>
          <p:nvPr/>
        </p:nvPicPr>
        <p:blipFill>
          <a:blip r:embed="rId6"/>
          <a:stretch>
            <a:fillRect/>
          </a:stretch>
        </p:blipFill>
        <p:spPr>
          <a:xfrm>
            <a:off x="3851031" y="3719434"/>
            <a:ext cx="8006970" cy="2584164"/>
          </a:xfrm>
          <a:prstGeom prst="rect">
            <a:avLst/>
          </a:prstGeom>
        </p:spPr>
      </p:pic>
    </p:spTree>
    <p:extLst>
      <p:ext uri="{BB962C8B-B14F-4D97-AF65-F5344CB8AC3E}">
        <p14:creationId xmlns:p14="http://schemas.microsoft.com/office/powerpoint/2010/main" val="4223946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B5F7-9635-CF1C-72EA-07017E1C7AE0}"/>
              </a:ext>
            </a:extLst>
          </p:cNvPr>
          <p:cNvSpPr>
            <a:spLocks noGrp="1"/>
          </p:cNvSpPr>
          <p:nvPr>
            <p:ph type="title"/>
          </p:nvPr>
        </p:nvSpPr>
        <p:spPr>
          <a:xfrm>
            <a:off x="114299" y="136525"/>
            <a:ext cx="11922369" cy="544512"/>
          </a:xfrm>
        </p:spPr>
        <p:txBody>
          <a:bodyPr>
            <a:normAutofit fontScale="90000"/>
          </a:bodyPr>
          <a:lstStyle/>
          <a:p>
            <a:r>
              <a:rPr lang="en-US" sz="4400" dirty="0">
                <a:sym typeface="+mn-ea"/>
              </a:rPr>
              <a:t>Analyze model for blended emotion insights: Objective 2</a:t>
            </a:r>
            <a:endParaRPr lang="en-US" dirty="0"/>
          </a:p>
        </p:txBody>
      </p:sp>
      <p:pic>
        <p:nvPicPr>
          <p:cNvPr id="6" name="Content Placeholder 5">
            <a:extLst>
              <a:ext uri="{FF2B5EF4-FFF2-40B4-BE49-F238E27FC236}">
                <a16:creationId xmlns:a16="http://schemas.microsoft.com/office/drawing/2014/main" id="{0D3D9256-7829-BAF8-52D1-28D7B5EB5B83}"/>
              </a:ext>
            </a:extLst>
          </p:cNvPr>
          <p:cNvPicPr>
            <a:picLocks noGrp="1" noChangeAspect="1"/>
          </p:cNvPicPr>
          <p:nvPr>
            <p:ph idx="1"/>
          </p:nvPr>
        </p:nvPicPr>
        <p:blipFill>
          <a:blip r:embed="rId2"/>
          <a:stretch>
            <a:fillRect/>
          </a:stretch>
        </p:blipFill>
        <p:spPr>
          <a:xfrm>
            <a:off x="313174" y="1855177"/>
            <a:ext cx="1867318" cy="2059051"/>
          </a:xfrm>
        </p:spPr>
      </p:pic>
      <p:sp>
        <p:nvSpPr>
          <p:cNvPr id="4" name="Slide Number Placeholder 3">
            <a:extLst>
              <a:ext uri="{FF2B5EF4-FFF2-40B4-BE49-F238E27FC236}">
                <a16:creationId xmlns:a16="http://schemas.microsoft.com/office/drawing/2014/main" id="{8EBAC656-1A57-B88D-32A2-387280ED2FE1}"/>
              </a:ext>
            </a:extLst>
          </p:cNvPr>
          <p:cNvSpPr>
            <a:spLocks noGrp="1"/>
          </p:cNvSpPr>
          <p:nvPr>
            <p:ph type="sldNum" sz="quarter" idx="12"/>
          </p:nvPr>
        </p:nvSpPr>
        <p:spPr/>
        <p:txBody>
          <a:bodyPr/>
          <a:lstStyle/>
          <a:p>
            <a:fld id="{9B618960-8005-486C-9A75-10CB2AAC16F9}" type="slidenum">
              <a:rPr lang="en-US" smtClean="0"/>
              <a:t>14</a:t>
            </a:fld>
            <a:endParaRPr lang="en-US"/>
          </a:p>
        </p:txBody>
      </p:sp>
      <p:cxnSp>
        <p:nvCxnSpPr>
          <p:cNvPr id="8" name="Straight Arrow Connector 7">
            <a:extLst>
              <a:ext uri="{FF2B5EF4-FFF2-40B4-BE49-F238E27FC236}">
                <a16:creationId xmlns:a16="http://schemas.microsoft.com/office/drawing/2014/main" id="{C5349051-214A-5916-E0C5-D64B5548A88E}"/>
              </a:ext>
            </a:extLst>
          </p:cNvPr>
          <p:cNvCxnSpPr>
            <a:cxnSpLocks/>
          </p:cNvCxnSpPr>
          <p:nvPr/>
        </p:nvCxnSpPr>
        <p:spPr>
          <a:xfrm>
            <a:off x="2180492" y="2775561"/>
            <a:ext cx="342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20E8716-E15D-174E-0DEB-B8824E9BC7A1}"/>
              </a:ext>
            </a:extLst>
          </p:cNvPr>
          <p:cNvSpPr txBox="1"/>
          <p:nvPr/>
        </p:nvSpPr>
        <p:spPr>
          <a:xfrm>
            <a:off x="313174" y="1391539"/>
            <a:ext cx="3874266" cy="369332"/>
          </a:xfrm>
          <a:prstGeom prst="rect">
            <a:avLst/>
          </a:prstGeom>
          <a:noFill/>
        </p:spPr>
        <p:txBody>
          <a:bodyPr wrap="none" rtlCol="0">
            <a:spAutoFit/>
          </a:bodyPr>
          <a:lstStyle/>
          <a:p>
            <a:r>
              <a:rPr lang="en-US" dirty="0"/>
              <a:t>Real Image from https://unsplash.com/</a:t>
            </a:r>
          </a:p>
        </p:txBody>
      </p:sp>
      <p:pic>
        <p:nvPicPr>
          <p:cNvPr id="12" name="Picture 11">
            <a:extLst>
              <a:ext uri="{FF2B5EF4-FFF2-40B4-BE49-F238E27FC236}">
                <a16:creationId xmlns:a16="http://schemas.microsoft.com/office/drawing/2014/main" id="{E8964ABD-B812-292C-D428-930BB265724F}"/>
              </a:ext>
            </a:extLst>
          </p:cNvPr>
          <p:cNvPicPr>
            <a:picLocks noChangeAspect="1"/>
          </p:cNvPicPr>
          <p:nvPr/>
        </p:nvPicPr>
        <p:blipFill>
          <a:blip r:embed="rId3"/>
          <a:stretch>
            <a:fillRect/>
          </a:stretch>
        </p:blipFill>
        <p:spPr>
          <a:xfrm>
            <a:off x="2505842" y="2119403"/>
            <a:ext cx="1065927" cy="1362989"/>
          </a:xfrm>
          <a:prstGeom prst="rect">
            <a:avLst/>
          </a:prstGeom>
        </p:spPr>
      </p:pic>
      <p:cxnSp>
        <p:nvCxnSpPr>
          <p:cNvPr id="14" name="Straight Arrow Connector 13">
            <a:extLst>
              <a:ext uri="{FF2B5EF4-FFF2-40B4-BE49-F238E27FC236}">
                <a16:creationId xmlns:a16="http://schemas.microsoft.com/office/drawing/2014/main" id="{0FCDC684-615A-F97D-4908-523548AFA542}"/>
              </a:ext>
            </a:extLst>
          </p:cNvPr>
          <p:cNvCxnSpPr>
            <a:cxnSpLocks/>
            <a:stCxn id="12" idx="3"/>
          </p:cNvCxnSpPr>
          <p:nvPr/>
        </p:nvCxnSpPr>
        <p:spPr>
          <a:xfrm>
            <a:off x="3571769" y="2800898"/>
            <a:ext cx="4156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8C42FD3-B8E0-91C7-E536-CCF93243A4AA}"/>
              </a:ext>
            </a:extLst>
          </p:cNvPr>
          <p:cNvSpPr txBox="1"/>
          <p:nvPr/>
        </p:nvSpPr>
        <p:spPr>
          <a:xfrm>
            <a:off x="3981897" y="2153706"/>
            <a:ext cx="5313107" cy="523220"/>
          </a:xfrm>
          <a:prstGeom prst="rect">
            <a:avLst/>
          </a:prstGeom>
          <a:noFill/>
        </p:spPr>
        <p:txBody>
          <a:bodyPr wrap="square">
            <a:spAutoFit/>
          </a:bodyPr>
          <a:lstStyle/>
          <a:p>
            <a:r>
              <a:rPr lang="en-US" sz="1400" dirty="0"/>
              <a:t>[[3.0024806e-01 7.2210595e-02 7.3986992e-02 1.7576167e-02 1.5977972e-04 8.0852937e-03 5.2031827e-01 7.4148248e-03]]</a:t>
            </a:r>
          </a:p>
        </p:txBody>
      </p:sp>
      <p:sp>
        <p:nvSpPr>
          <p:cNvPr id="18" name="TextBox 17">
            <a:extLst>
              <a:ext uri="{FF2B5EF4-FFF2-40B4-BE49-F238E27FC236}">
                <a16:creationId xmlns:a16="http://schemas.microsoft.com/office/drawing/2014/main" id="{DB808CD6-0A38-7091-3A23-D6C957D01742}"/>
              </a:ext>
            </a:extLst>
          </p:cNvPr>
          <p:cNvSpPr txBox="1"/>
          <p:nvPr/>
        </p:nvSpPr>
        <p:spPr>
          <a:xfrm>
            <a:off x="685800" y="726309"/>
            <a:ext cx="11413809" cy="369332"/>
          </a:xfrm>
          <a:prstGeom prst="rect">
            <a:avLst/>
          </a:prstGeom>
          <a:noFill/>
        </p:spPr>
        <p:txBody>
          <a:bodyPr wrap="square">
            <a:spAutoFit/>
          </a:bodyPr>
          <a:lstStyle/>
          <a:p>
            <a:r>
              <a:rPr lang="en-US" b="0" i="0" dirty="0">
                <a:solidFill>
                  <a:srgbClr val="3B3B3B"/>
                </a:solidFill>
                <a:effectLst/>
                <a:latin typeface="Consolas" panose="020B0609020204030204" pitchFamily="49" charset="0"/>
              </a:rPr>
              <a:t>['anger', 'contempt', 'disgust', 'fear', 'happy', 'neutral', 'sad', 'surprise']</a:t>
            </a:r>
            <a:endParaRPr lang="en-US" dirty="0"/>
          </a:p>
        </p:txBody>
      </p:sp>
      <p:sp>
        <p:nvSpPr>
          <p:cNvPr id="20" name="TextBox 19">
            <a:extLst>
              <a:ext uri="{FF2B5EF4-FFF2-40B4-BE49-F238E27FC236}">
                <a16:creationId xmlns:a16="http://schemas.microsoft.com/office/drawing/2014/main" id="{982E14C4-F27F-960F-E3CE-331B3A68ED66}"/>
              </a:ext>
            </a:extLst>
          </p:cNvPr>
          <p:cNvSpPr txBox="1"/>
          <p:nvPr/>
        </p:nvSpPr>
        <p:spPr>
          <a:xfrm>
            <a:off x="3697459" y="3047986"/>
            <a:ext cx="5704368" cy="307777"/>
          </a:xfrm>
          <a:prstGeom prst="rect">
            <a:avLst/>
          </a:prstGeom>
          <a:noFill/>
        </p:spPr>
        <p:txBody>
          <a:bodyPr wrap="square">
            <a:spAutoFit/>
          </a:bodyPr>
          <a:lstStyle/>
          <a:p>
            <a:r>
              <a:rPr lang="en-US" sz="1400" b="0" i="0" dirty="0">
                <a:solidFill>
                  <a:srgbClr val="3B3B3B"/>
                </a:solidFill>
                <a:effectLst/>
                <a:latin typeface="Consolas" panose="020B0609020204030204" pitchFamily="49" charset="0"/>
              </a:rPr>
              <a:t>[[0.3 0.072 0.074 0.018 0. 0.008 0.52 0.007]]</a:t>
            </a:r>
            <a:endParaRPr lang="en-US" sz="1400" dirty="0"/>
          </a:p>
        </p:txBody>
      </p:sp>
      <p:sp>
        <p:nvSpPr>
          <p:cNvPr id="23" name="TextBox 22">
            <a:extLst>
              <a:ext uri="{FF2B5EF4-FFF2-40B4-BE49-F238E27FC236}">
                <a16:creationId xmlns:a16="http://schemas.microsoft.com/office/drawing/2014/main" id="{5CDCA9ED-4D18-5B48-A7C9-2BB6587FE16A}"/>
              </a:ext>
            </a:extLst>
          </p:cNvPr>
          <p:cNvSpPr txBox="1"/>
          <p:nvPr/>
        </p:nvSpPr>
        <p:spPr>
          <a:xfrm>
            <a:off x="313174" y="4229099"/>
            <a:ext cx="1667251" cy="369332"/>
          </a:xfrm>
          <a:prstGeom prst="rect">
            <a:avLst/>
          </a:prstGeom>
          <a:noFill/>
        </p:spPr>
        <p:txBody>
          <a:bodyPr wrap="none" rtlCol="0">
            <a:spAutoFit/>
          </a:bodyPr>
          <a:lstStyle/>
          <a:p>
            <a:r>
              <a:rPr lang="en-US" dirty="0"/>
              <a:t>DALL-E 3 Model</a:t>
            </a:r>
          </a:p>
        </p:txBody>
      </p:sp>
      <p:pic>
        <p:nvPicPr>
          <p:cNvPr id="25" name="Picture 24">
            <a:extLst>
              <a:ext uri="{FF2B5EF4-FFF2-40B4-BE49-F238E27FC236}">
                <a16:creationId xmlns:a16="http://schemas.microsoft.com/office/drawing/2014/main" id="{3AC47AFA-4520-BB74-F237-EE99C9A29298}"/>
              </a:ext>
            </a:extLst>
          </p:cNvPr>
          <p:cNvPicPr>
            <a:picLocks noChangeAspect="1"/>
          </p:cNvPicPr>
          <p:nvPr/>
        </p:nvPicPr>
        <p:blipFill>
          <a:blip r:embed="rId4"/>
          <a:stretch>
            <a:fillRect/>
          </a:stretch>
        </p:blipFill>
        <p:spPr>
          <a:xfrm>
            <a:off x="267747" y="4712677"/>
            <a:ext cx="1758103" cy="1748057"/>
          </a:xfrm>
          <a:prstGeom prst="rect">
            <a:avLst/>
          </a:prstGeom>
        </p:spPr>
      </p:pic>
      <p:sp>
        <p:nvSpPr>
          <p:cNvPr id="29" name="TextBox 28">
            <a:extLst>
              <a:ext uri="{FF2B5EF4-FFF2-40B4-BE49-F238E27FC236}">
                <a16:creationId xmlns:a16="http://schemas.microsoft.com/office/drawing/2014/main" id="{D4FBF337-F255-9C38-EBF1-1C82E9AC15CC}"/>
              </a:ext>
            </a:extLst>
          </p:cNvPr>
          <p:cNvSpPr txBox="1"/>
          <p:nvPr/>
        </p:nvSpPr>
        <p:spPr>
          <a:xfrm>
            <a:off x="2460382" y="4678224"/>
            <a:ext cx="6150218" cy="523220"/>
          </a:xfrm>
          <a:prstGeom prst="rect">
            <a:avLst/>
          </a:prstGeom>
          <a:noFill/>
        </p:spPr>
        <p:txBody>
          <a:bodyPr wrap="square">
            <a:spAutoFit/>
          </a:bodyPr>
          <a:lstStyle/>
          <a:p>
            <a:r>
              <a:rPr lang="en-US" sz="1400" b="0" i="0" dirty="0">
                <a:solidFill>
                  <a:srgbClr val="3B3B3B"/>
                </a:solidFill>
                <a:effectLst/>
                <a:latin typeface="Consolas" panose="020B0609020204030204" pitchFamily="49" charset="0"/>
              </a:rPr>
              <a:t>[[2.6173051e-02 7.1953731e-03 2.1232111e-02 3.8065571e-01 9.5840449e-05 1.3002047e-03 5.4262662e-01 2.0721048e-02]]</a:t>
            </a:r>
            <a:endParaRPr lang="en-US" sz="1400" dirty="0"/>
          </a:p>
        </p:txBody>
      </p:sp>
      <p:sp>
        <p:nvSpPr>
          <p:cNvPr id="31" name="TextBox 30">
            <a:extLst>
              <a:ext uri="{FF2B5EF4-FFF2-40B4-BE49-F238E27FC236}">
                <a16:creationId xmlns:a16="http://schemas.microsoft.com/office/drawing/2014/main" id="{0A196778-63D0-4CEA-EBF4-47B5B671955A}"/>
              </a:ext>
            </a:extLst>
          </p:cNvPr>
          <p:cNvSpPr txBox="1"/>
          <p:nvPr/>
        </p:nvSpPr>
        <p:spPr>
          <a:xfrm>
            <a:off x="2595026" y="5658846"/>
            <a:ext cx="6150218" cy="307777"/>
          </a:xfrm>
          <a:prstGeom prst="rect">
            <a:avLst/>
          </a:prstGeom>
          <a:noFill/>
        </p:spPr>
        <p:txBody>
          <a:bodyPr wrap="square">
            <a:spAutoFit/>
          </a:bodyPr>
          <a:lstStyle/>
          <a:p>
            <a:r>
              <a:rPr lang="en-US" sz="1400" b="0" i="0" dirty="0">
                <a:solidFill>
                  <a:srgbClr val="3B3B3B"/>
                </a:solidFill>
                <a:effectLst/>
                <a:latin typeface="Consolas" panose="020B0609020204030204" pitchFamily="49" charset="0"/>
              </a:rPr>
              <a:t>[[0.026 0.007 0.021 0.381 0. 0.001 0.543 0.021]]</a:t>
            </a:r>
            <a:endParaRPr lang="en-US" sz="1400" dirty="0"/>
          </a:p>
        </p:txBody>
      </p:sp>
      <p:sp>
        <p:nvSpPr>
          <p:cNvPr id="34" name="TextBox 33">
            <a:extLst>
              <a:ext uri="{FF2B5EF4-FFF2-40B4-BE49-F238E27FC236}">
                <a16:creationId xmlns:a16="http://schemas.microsoft.com/office/drawing/2014/main" id="{1651C6E4-7863-B6FB-646E-AD20864FDAA9}"/>
              </a:ext>
            </a:extLst>
          </p:cNvPr>
          <p:cNvSpPr txBox="1"/>
          <p:nvPr/>
        </p:nvSpPr>
        <p:spPr>
          <a:xfrm>
            <a:off x="166913" y="6496702"/>
            <a:ext cx="6150218" cy="369332"/>
          </a:xfrm>
          <a:prstGeom prst="rect">
            <a:avLst/>
          </a:prstGeom>
          <a:noFill/>
        </p:spPr>
        <p:txBody>
          <a:bodyPr wrap="square">
            <a:spAutoFit/>
          </a:bodyPr>
          <a:lstStyle/>
          <a:p>
            <a:r>
              <a:rPr lang="en-US" dirty="0"/>
              <a:t>a face of a boy that is sad and fearful</a:t>
            </a:r>
          </a:p>
        </p:txBody>
      </p:sp>
      <p:cxnSp>
        <p:nvCxnSpPr>
          <p:cNvPr id="36" name="Straight Arrow Connector 35">
            <a:extLst>
              <a:ext uri="{FF2B5EF4-FFF2-40B4-BE49-F238E27FC236}">
                <a16:creationId xmlns:a16="http://schemas.microsoft.com/office/drawing/2014/main" id="{9EDAE9B0-970C-4753-A08C-144358CA303D}"/>
              </a:ext>
            </a:extLst>
          </p:cNvPr>
          <p:cNvCxnSpPr>
            <a:stCxn id="25" idx="3"/>
          </p:cNvCxnSpPr>
          <p:nvPr/>
        </p:nvCxnSpPr>
        <p:spPr>
          <a:xfrm flipV="1">
            <a:off x="2025850" y="5586705"/>
            <a:ext cx="56788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0EEE2745-E797-8531-4474-EDFB6C36C0D6}"/>
              </a:ext>
            </a:extLst>
          </p:cNvPr>
          <p:cNvPicPr>
            <a:picLocks noChangeAspect="1"/>
          </p:cNvPicPr>
          <p:nvPr/>
        </p:nvPicPr>
        <p:blipFill>
          <a:blip r:embed="rId5"/>
          <a:stretch>
            <a:fillRect/>
          </a:stretch>
        </p:blipFill>
        <p:spPr>
          <a:xfrm>
            <a:off x="9295005" y="2416085"/>
            <a:ext cx="2896996" cy="4450774"/>
          </a:xfrm>
          <a:prstGeom prst="rect">
            <a:avLst/>
          </a:prstGeom>
        </p:spPr>
      </p:pic>
      <p:sp>
        <p:nvSpPr>
          <p:cNvPr id="40" name="TextBox 39">
            <a:extLst>
              <a:ext uri="{FF2B5EF4-FFF2-40B4-BE49-F238E27FC236}">
                <a16:creationId xmlns:a16="http://schemas.microsoft.com/office/drawing/2014/main" id="{4FF563BD-5996-6DC0-1DEC-FA980E7D81FF}"/>
              </a:ext>
            </a:extLst>
          </p:cNvPr>
          <p:cNvSpPr txBox="1"/>
          <p:nvPr/>
        </p:nvSpPr>
        <p:spPr>
          <a:xfrm>
            <a:off x="2593731" y="3755459"/>
            <a:ext cx="9420365" cy="276999"/>
          </a:xfrm>
          <a:prstGeom prst="rect">
            <a:avLst/>
          </a:prstGeom>
          <a:noFill/>
        </p:spPr>
        <p:txBody>
          <a:bodyPr wrap="square">
            <a:spAutoFit/>
          </a:bodyPr>
          <a:lstStyle/>
          <a:p>
            <a:r>
              <a:rPr lang="en-US" sz="1200" b="0" i="0" dirty="0">
                <a:solidFill>
                  <a:srgbClr val="3B3B3B"/>
                </a:solidFill>
                <a:effectLst/>
                <a:latin typeface="Consolas" panose="020B0609020204030204" pitchFamily="49" charset="0"/>
              </a:rPr>
              <a:t>['anger', 'contempt', 'disgust', 'fear', 'happy', 'neutral', 'sad', 'surprise']</a:t>
            </a:r>
            <a:endParaRPr lang="en-US" sz="1200" dirty="0"/>
          </a:p>
        </p:txBody>
      </p:sp>
      <p:sp>
        <p:nvSpPr>
          <p:cNvPr id="41" name="TextBox 40">
            <a:extLst>
              <a:ext uri="{FF2B5EF4-FFF2-40B4-BE49-F238E27FC236}">
                <a16:creationId xmlns:a16="http://schemas.microsoft.com/office/drawing/2014/main" id="{31580AEF-99B7-1317-0AEA-3A9498EE85C3}"/>
              </a:ext>
            </a:extLst>
          </p:cNvPr>
          <p:cNvSpPr txBox="1"/>
          <p:nvPr/>
        </p:nvSpPr>
        <p:spPr>
          <a:xfrm>
            <a:off x="1955028" y="6170956"/>
            <a:ext cx="9741034" cy="276999"/>
          </a:xfrm>
          <a:prstGeom prst="rect">
            <a:avLst/>
          </a:prstGeom>
          <a:noFill/>
        </p:spPr>
        <p:txBody>
          <a:bodyPr wrap="square">
            <a:spAutoFit/>
          </a:bodyPr>
          <a:lstStyle/>
          <a:p>
            <a:r>
              <a:rPr lang="en-US" sz="1200" b="0" i="0" dirty="0">
                <a:solidFill>
                  <a:srgbClr val="3B3B3B"/>
                </a:solidFill>
                <a:effectLst/>
                <a:latin typeface="Consolas" panose="020B0609020204030204" pitchFamily="49" charset="0"/>
              </a:rPr>
              <a:t>['anger', 'contempt', 'disgust', 'fear', 'happy', 'neutral', 'sad', 'surprise']</a:t>
            </a:r>
            <a:endParaRPr lang="en-US" sz="1200" dirty="0"/>
          </a:p>
        </p:txBody>
      </p:sp>
      <p:cxnSp>
        <p:nvCxnSpPr>
          <p:cNvPr id="55" name="Straight Arrow Connector 54">
            <a:extLst>
              <a:ext uri="{FF2B5EF4-FFF2-40B4-BE49-F238E27FC236}">
                <a16:creationId xmlns:a16="http://schemas.microsoft.com/office/drawing/2014/main" id="{49D667D8-1B15-3CDE-2B05-596160C2B6EE}"/>
              </a:ext>
            </a:extLst>
          </p:cNvPr>
          <p:cNvCxnSpPr/>
          <p:nvPr/>
        </p:nvCxnSpPr>
        <p:spPr>
          <a:xfrm flipH="1">
            <a:off x="3038805" y="3201874"/>
            <a:ext cx="943092" cy="5535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C0A773A-E777-F284-6C15-272B6196DB9B}"/>
              </a:ext>
            </a:extLst>
          </p:cNvPr>
          <p:cNvCxnSpPr/>
          <p:nvPr/>
        </p:nvCxnSpPr>
        <p:spPr>
          <a:xfrm flipH="1">
            <a:off x="3981897" y="3246316"/>
            <a:ext cx="513413" cy="566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8253FA2-6897-46B0-9E66-7C1AAE3A5760}"/>
              </a:ext>
            </a:extLst>
          </p:cNvPr>
          <p:cNvCxnSpPr/>
          <p:nvPr/>
        </p:nvCxnSpPr>
        <p:spPr>
          <a:xfrm flipH="1">
            <a:off x="4785403" y="3258301"/>
            <a:ext cx="372963" cy="582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43D56E6-9265-6ED2-587B-F2C13CA2D290}"/>
              </a:ext>
            </a:extLst>
          </p:cNvPr>
          <p:cNvCxnSpPr/>
          <p:nvPr/>
        </p:nvCxnSpPr>
        <p:spPr>
          <a:xfrm flipH="1">
            <a:off x="5670135" y="3246316"/>
            <a:ext cx="115000" cy="603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90C6B18-24A8-2B56-BB66-E7336D83E8D4}"/>
              </a:ext>
            </a:extLst>
          </p:cNvPr>
          <p:cNvCxnSpPr>
            <a:cxnSpLocks/>
          </p:cNvCxnSpPr>
          <p:nvPr/>
        </p:nvCxnSpPr>
        <p:spPr>
          <a:xfrm>
            <a:off x="6638450" y="3282922"/>
            <a:ext cx="419851" cy="472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7900417-6C8B-6A20-274A-680FC58F4ADF}"/>
              </a:ext>
            </a:extLst>
          </p:cNvPr>
          <p:cNvCxnSpPr>
            <a:cxnSpLocks/>
          </p:cNvCxnSpPr>
          <p:nvPr/>
        </p:nvCxnSpPr>
        <p:spPr>
          <a:xfrm>
            <a:off x="7180307" y="3308827"/>
            <a:ext cx="824873" cy="504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6438B5A-D0EA-A49E-E91E-3FA091ADF3CC}"/>
              </a:ext>
            </a:extLst>
          </p:cNvPr>
          <p:cNvCxnSpPr/>
          <p:nvPr/>
        </p:nvCxnSpPr>
        <p:spPr>
          <a:xfrm>
            <a:off x="7903728" y="3273353"/>
            <a:ext cx="841516" cy="461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5E051B0-35DF-A02F-D950-0272F8147A7C}"/>
              </a:ext>
            </a:extLst>
          </p:cNvPr>
          <p:cNvCxnSpPr/>
          <p:nvPr/>
        </p:nvCxnSpPr>
        <p:spPr>
          <a:xfrm>
            <a:off x="6198374" y="3273353"/>
            <a:ext cx="118757" cy="482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B00D3D8-D1F1-A69F-A31E-72EF5763E3EA}"/>
              </a:ext>
            </a:extLst>
          </p:cNvPr>
          <p:cNvCxnSpPr/>
          <p:nvPr/>
        </p:nvCxnSpPr>
        <p:spPr>
          <a:xfrm flipH="1">
            <a:off x="2250307" y="5812734"/>
            <a:ext cx="788498" cy="496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10A6B8D4-0F3A-AF4D-C7EB-B9265A9A1894}"/>
              </a:ext>
            </a:extLst>
          </p:cNvPr>
          <p:cNvCxnSpPr/>
          <p:nvPr/>
        </p:nvCxnSpPr>
        <p:spPr>
          <a:xfrm flipH="1">
            <a:off x="3315675" y="5904612"/>
            <a:ext cx="256094" cy="388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FE982FB-A282-5384-6626-4C748940BC1E}"/>
              </a:ext>
            </a:extLst>
          </p:cNvPr>
          <p:cNvCxnSpPr/>
          <p:nvPr/>
        </p:nvCxnSpPr>
        <p:spPr>
          <a:xfrm flipH="1">
            <a:off x="4187440" y="5847210"/>
            <a:ext cx="51163" cy="462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EB54812-5BB7-8171-FFA1-88EDD5E1FF6D}"/>
              </a:ext>
            </a:extLst>
          </p:cNvPr>
          <p:cNvCxnSpPr/>
          <p:nvPr/>
        </p:nvCxnSpPr>
        <p:spPr>
          <a:xfrm>
            <a:off x="4971884" y="5872261"/>
            <a:ext cx="31840" cy="298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FAE6B2E-0EAB-6C72-9B5F-0F135561CB2F}"/>
              </a:ext>
            </a:extLst>
          </p:cNvPr>
          <p:cNvCxnSpPr/>
          <p:nvPr/>
        </p:nvCxnSpPr>
        <p:spPr>
          <a:xfrm>
            <a:off x="5302305" y="5847210"/>
            <a:ext cx="319490" cy="446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172AE858-FF9D-7C2F-7515-ED179CEA5F7B}"/>
              </a:ext>
            </a:extLst>
          </p:cNvPr>
          <p:cNvCxnSpPr/>
          <p:nvPr/>
        </p:nvCxnSpPr>
        <p:spPr>
          <a:xfrm>
            <a:off x="5784623" y="5872261"/>
            <a:ext cx="764052" cy="383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0DC19C19-9CB0-D662-3B2F-02B180E2F1F6}"/>
              </a:ext>
            </a:extLst>
          </p:cNvPr>
          <p:cNvCxnSpPr/>
          <p:nvPr/>
        </p:nvCxnSpPr>
        <p:spPr>
          <a:xfrm>
            <a:off x="6513132" y="5893957"/>
            <a:ext cx="820273" cy="368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09901036-23FC-8049-5B2D-BF1612A97D28}"/>
              </a:ext>
            </a:extLst>
          </p:cNvPr>
          <p:cNvCxnSpPr/>
          <p:nvPr/>
        </p:nvCxnSpPr>
        <p:spPr>
          <a:xfrm>
            <a:off x="7129934" y="5884420"/>
            <a:ext cx="851664" cy="371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3524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772900" cy="659423"/>
          </a:xfrm>
        </p:spPr>
        <p:txBody>
          <a:bodyPr>
            <a:normAutofit fontScale="90000"/>
          </a:bodyPr>
          <a:lstStyle/>
          <a:p>
            <a:r>
              <a:rPr lang="en-US" dirty="0"/>
              <a:t>Performance and Evaluation: Objective 3</a:t>
            </a:r>
          </a:p>
        </p:txBody>
      </p:sp>
      <p:sp>
        <p:nvSpPr>
          <p:cNvPr id="3" name="Content Placeholder 2"/>
          <p:cNvSpPr>
            <a:spLocks noGrp="1"/>
          </p:cNvSpPr>
          <p:nvPr>
            <p:ph idx="1"/>
          </p:nvPr>
        </p:nvSpPr>
        <p:spPr>
          <a:xfrm>
            <a:off x="0" y="773723"/>
            <a:ext cx="12192000" cy="6084277"/>
          </a:xfrm>
        </p:spPr>
        <p:txBody>
          <a:bodyPr>
            <a:normAutofit fontScale="97500"/>
          </a:bodyPr>
          <a:lstStyle/>
          <a:p>
            <a:r>
              <a:rPr lang="en-US" sz="1600" dirty="0"/>
              <a:t>Classification Report and Confusion Metrics:</a:t>
            </a:r>
          </a:p>
          <a:p>
            <a:pPr marL="800100" lvl="1" indent="-342900">
              <a:buAutoNum type="arabicPeriod"/>
            </a:pPr>
            <a:r>
              <a:rPr lang="en-US" sz="1555" dirty="0"/>
              <a:t>Test Set</a:t>
            </a:r>
          </a:p>
          <a:p>
            <a:pPr marL="800100" lvl="1" indent="-342900">
              <a:buAutoNum type="arabicPeriod"/>
            </a:pPr>
            <a:endParaRPr lang="en-US" sz="1555" dirty="0"/>
          </a:p>
          <a:p>
            <a:pPr marL="800100" lvl="1" indent="-342900">
              <a:buAutoNum type="arabicPeriod"/>
            </a:pPr>
            <a:endParaRPr lang="en-US" sz="1555" dirty="0"/>
          </a:p>
          <a:p>
            <a:pPr marL="800100" lvl="1" indent="-342900">
              <a:buAutoNum type="arabicPeriod"/>
            </a:pPr>
            <a:endParaRPr lang="en-US" sz="1555" dirty="0"/>
          </a:p>
          <a:p>
            <a:pPr marL="800100" lvl="1" indent="-342900">
              <a:buAutoNum type="arabicPeriod"/>
            </a:pPr>
            <a:endParaRPr lang="en-US" sz="1555" dirty="0"/>
          </a:p>
          <a:p>
            <a:pPr marL="800100" lvl="1" indent="-342900">
              <a:buAutoNum type="arabicPeriod"/>
            </a:pPr>
            <a:endParaRPr lang="en-US" sz="1555" dirty="0"/>
          </a:p>
          <a:p>
            <a:pPr marL="800100" lvl="1" indent="-342900">
              <a:buAutoNum type="arabicPeriod"/>
            </a:pPr>
            <a:endParaRPr lang="en-US" sz="1555" dirty="0"/>
          </a:p>
          <a:p>
            <a:pPr marL="800100" lvl="1" indent="-342900">
              <a:buAutoNum type="arabicPeriod"/>
            </a:pPr>
            <a:endParaRPr lang="en-US" sz="1555" dirty="0"/>
          </a:p>
          <a:p>
            <a:pPr marL="800100" lvl="1" indent="-342900">
              <a:buAutoNum type="arabicPeriod"/>
            </a:pPr>
            <a:endParaRPr lang="en-US" sz="1555" dirty="0"/>
          </a:p>
          <a:p>
            <a:pPr marL="457200" lvl="1" indent="0">
              <a:buNone/>
            </a:pPr>
            <a:endParaRPr lang="en-US" sz="1555" dirty="0"/>
          </a:p>
          <a:p>
            <a:pPr marL="457200" lvl="1" indent="0">
              <a:buNone/>
            </a:pPr>
            <a:r>
              <a:rPr lang="en-US" sz="1555" dirty="0"/>
              <a:t>2. FER-Plus Dataset for Evaluation</a:t>
            </a:r>
          </a:p>
          <a:p>
            <a:pPr marL="457200" lvl="1" indent="0">
              <a:buNone/>
            </a:pPr>
            <a:r>
              <a:rPr lang="en-US" sz="1555" dirty="0"/>
              <a:t>								</a:t>
            </a:r>
          </a:p>
          <a:p>
            <a:pPr marL="800100" lvl="1" indent="-342900">
              <a:buAutoNum type="arabicPeriod"/>
            </a:pPr>
            <a:endParaRPr lang="en-US" sz="1555" dirty="0"/>
          </a:p>
        </p:txBody>
      </p:sp>
      <p:sp>
        <p:nvSpPr>
          <p:cNvPr id="4" name="Slide Number Placeholder 3"/>
          <p:cNvSpPr>
            <a:spLocks noGrp="1"/>
          </p:cNvSpPr>
          <p:nvPr>
            <p:ph type="sldNum" sz="quarter" idx="12"/>
          </p:nvPr>
        </p:nvSpPr>
        <p:spPr/>
        <p:txBody>
          <a:bodyPr/>
          <a:lstStyle/>
          <a:p>
            <a:fld id="{9B618960-8005-486C-9A75-10CB2AAC16F9}" type="slidenum">
              <a:rPr lang="en-US" smtClean="0"/>
              <a:t>15</a:t>
            </a:fld>
            <a:endParaRPr lang="en-US"/>
          </a:p>
        </p:txBody>
      </p:sp>
      <p:pic>
        <p:nvPicPr>
          <p:cNvPr id="6" name="Picture 5">
            <a:extLst>
              <a:ext uri="{FF2B5EF4-FFF2-40B4-BE49-F238E27FC236}">
                <a16:creationId xmlns:a16="http://schemas.microsoft.com/office/drawing/2014/main" id="{D5A3CFEF-1E7D-8B90-A0F1-96DBEEAA5638}"/>
              </a:ext>
            </a:extLst>
          </p:cNvPr>
          <p:cNvPicPr>
            <a:picLocks noChangeAspect="1"/>
          </p:cNvPicPr>
          <p:nvPr/>
        </p:nvPicPr>
        <p:blipFill>
          <a:blip r:embed="rId2"/>
          <a:stretch>
            <a:fillRect/>
          </a:stretch>
        </p:blipFill>
        <p:spPr>
          <a:xfrm>
            <a:off x="536332" y="1295074"/>
            <a:ext cx="3754316" cy="2517600"/>
          </a:xfrm>
          <a:prstGeom prst="rect">
            <a:avLst/>
          </a:prstGeom>
        </p:spPr>
      </p:pic>
      <p:pic>
        <p:nvPicPr>
          <p:cNvPr id="8" name="Picture 7">
            <a:extLst>
              <a:ext uri="{FF2B5EF4-FFF2-40B4-BE49-F238E27FC236}">
                <a16:creationId xmlns:a16="http://schemas.microsoft.com/office/drawing/2014/main" id="{8A8D0CF4-B490-9CBD-64B3-B44C710FBA48}"/>
              </a:ext>
            </a:extLst>
          </p:cNvPr>
          <p:cNvPicPr>
            <a:picLocks noChangeAspect="1"/>
          </p:cNvPicPr>
          <p:nvPr/>
        </p:nvPicPr>
        <p:blipFill>
          <a:blip r:embed="rId3"/>
          <a:stretch>
            <a:fillRect/>
          </a:stretch>
        </p:blipFill>
        <p:spPr>
          <a:xfrm>
            <a:off x="4415779" y="663575"/>
            <a:ext cx="4176530" cy="3160020"/>
          </a:xfrm>
          <a:prstGeom prst="rect">
            <a:avLst/>
          </a:prstGeom>
        </p:spPr>
      </p:pic>
      <p:pic>
        <p:nvPicPr>
          <p:cNvPr id="10" name="Picture 9">
            <a:extLst>
              <a:ext uri="{FF2B5EF4-FFF2-40B4-BE49-F238E27FC236}">
                <a16:creationId xmlns:a16="http://schemas.microsoft.com/office/drawing/2014/main" id="{6A7AF7FF-172E-A559-F16C-EEF6D746616F}"/>
              </a:ext>
            </a:extLst>
          </p:cNvPr>
          <p:cNvPicPr>
            <a:picLocks noChangeAspect="1"/>
          </p:cNvPicPr>
          <p:nvPr/>
        </p:nvPicPr>
        <p:blipFill>
          <a:blip r:embed="rId4"/>
          <a:stretch>
            <a:fillRect/>
          </a:stretch>
        </p:blipFill>
        <p:spPr>
          <a:xfrm>
            <a:off x="195615" y="4100797"/>
            <a:ext cx="4220164" cy="2667372"/>
          </a:xfrm>
          <a:prstGeom prst="rect">
            <a:avLst/>
          </a:prstGeom>
        </p:spPr>
      </p:pic>
      <p:pic>
        <p:nvPicPr>
          <p:cNvPr id="12" name="Picture 11">
            <a:extLst>
              <a:ext uri="{FF2B5EF4-FFF2-40B4-BE49-F238E27FC236}">
                <a16:creationId xmlns:a16="http://schemas.microsoft.com/office/drawing/2014/main" id="{B11E5F85-62EB-2D06-DEA3-7EC133271DDD}"/>
              </a:ext>
            </a:extLst>
          </p:cNvPr>
          <p:cNvPicPr>
            <a:picLocks noChangeAspect="1"/>
          </p:cNvPicPr>
          <p:nvPr/>
        </p:nvPicPr>
        <p:blipFill>
          <a:blip r:embed="rId5"/>
          <a:stretch>
            <a:fillRect/>
          </a:stretch>
        </p:blipFill>
        <p:spPr>
          <a:xfrm>
            <a:off x="4512112" y="3823595"/>
            <a:ext cx="4205328" cy="3034405"/>
          </a:xfrm>
          <a:prstGeom prst="rect">
            <a:avLst/>
          </a:prstGeom>
        </p:spPr>
      </p:pic>
    </p:spTree>
    <p:extLst>
      <p:ext uri="{BB962C8B-B14F-4D97-AF65-F5344CB8AC3E}">
        <p14:creationId xmlns:p14="http://schemas.microsoft.com/office/powerpoint/2010/main" val="2695132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155575"/>
            <a:ext cx="6856730" cy="365125"/>
          </a:xfrm>
        </p:spPr>
        <p:txBody>
          <a:bodyPr>
            <a:normAutofit fontScale="90000"/>
          </a:bodyPr>
          <a:lstStyle/>
          <a:p>
            <a:r>
              <a:rPr lang="en-US"/>
              <a:t>Performance and Evaluation</a:t>
            </a:r>
          </a:p>
        </p:txBody>
      </p:sp>
      <p:sp>
        <p:nvSpPr>
          <p:cNvPr id="3" name="Content Placeholder 2"/>
          <p:cNvSpPr>
            <a:spLocks noGrp="1"/>
          </p:cNvSpPr>
          <p:nvPr>
            <p:ph idx="1"/>
          </p:nvPr>
        </p:nvSpPr>
        <p:spPr>
          <a:xfrm>
            <a:off x="0" y="764540"/>
            <a:ext cx="12192000" cy="6093460"/>
          </a:xfrm>
        </p:spPr>
        <p:txBody>
          <a:bodyPr>
            <a:normAutofit fontScale="97500"/>
          </a:bodyPr>
          <a:lstStyle/>
          <a:p>
            <a:r>
              <a:rPr lang="en-US" sz="1600" dirty="0"/>
              <a:t>Performance Metrics:</a:t>
            </a:r>
          </a:p>
          <a:p>
            <a:pPr marL="457200" lvl="1" indent="0">
              <a:buNone/>
            </a:pPr>
            <a:r>
              <a:rPr lang="en-US" sz="1555" dirty="0"/>
              <a:t>Micro/Macro F1-score:</a:t>
            </a:r>
          </a:p>
          <a:p>
            <a:pPr marL="457200" lvl="1" indent="0">
              <a:buNone/>
            </a:pPr>
            <a:r>
              <a:rPr lang="en-US" sz="1555" dirty="0"/>
              <a:t>	F1-score is a harmonic mean of precision and recall, balancing both measures for a more robust evaluation.</a:t>
            </a:r>
          </a:p>
          <a:p>
            <a:pPr marL="457200" lvl="1" indent="0">
              <a:buNone/>
            </a:pPr>
            <a:r>
              <a:rPr lang="en-US" sz="1555" dirty="0"/>
              <a:t>	F1 = 2 * (precision * recall) / (precision + recall)</a:t>
            </a:r>
          </a:p>
          <a:p>
            <a:pPr marL="457200" lvl="1" indent="0">
              <a:buNone/>
            </a:pPr>
            <a:r>
              <a:rPr lang="en-US" sz="1555" dirty="0"/>
              <a:t>	</a:t>
            </a:r>
          </a:p>
          <a:p>
            <a:pPr marL="457200" lvl="1" indent="0">
              <a:buNone/>
            </a:pPr>
            <a:r>
              <a:rPr lang="en-US" sz="1555" dirty="0"/>
              <a:t>	Micro F1-score: Calculates the overall average F1-score across all classes, potentially favoring dominant classes.</a:t>
            </a:r>
          </a:p>
          <a:p>
            <a:pPr marL="457200" lvl="1" indent="0">
              <a:buNone/>
            </a:pPr>
            <a:r>
              <a:rPr lang="en-US" sz="1555" dirty="0"/>
              <a:t>	Equation:</a:t>
            </a:r>
          </a:p>
          <a:p>
            <a:pPr marL="457200" lvl="1" indent="0">
              <a:buNone/>
            </a:pPr>
            <a:r>
              <a:rPr lang="en-US" sz="1555" dirty="0"/>
              <a:t>		Micro F1 = (sum of true positives across all classes) / (sum of predicted positives across all classes)</a:t>
            </a:r>
          </a:p>
          <a:p>
            <a:pPr marL="457200" lvl="1" indent="0">
              <a:buNone/>
            </a:pPr>
            <a:endParaRPr lang="en-US" sz="1555" dirty="0"/>
          </a:p>
          <a:p>
            <a:pPr marL="457200" lvl="1" indent="0">
              <a:buNone/>
            </a:pPr>
            <a:r>
              <a:rPr lang="en-US" sz="1555" dirty="0"/>
              <a:t>	Macro F1-score: Averages the individual F1-scores for each class, giving equal weight to all emotions.</a:t>
            </a:r>
          </a:p>
          <a:p>
            <a:pPr marL="457200" lvl="1" indent="0">
              <a:buNone/>
            </a:pPr>
            <a:r>
              <a:rPr lang="en-US" sz="1555" dirty="0"/>
              <a:t>	Equation:</a:t>
            </a:r>
          </a:p>
          <a:p>
            <a:pPr marL="457200" lvl="1" indent="0">
              <a:buNone/>
            </a:pPr>
            <a:r>
              <a:rPr lang="en-US" sz="1555" dirty="0"/>
              <a:t>		Macro F1 = (sum of individual class F1-scores) / number of classes</a:t>
            </a:r>
          </a:p>
          <a:p>
            <a:pPr marL="457200" lvl="1" indent="0">
              <a:buNone/>
            </a:pPr>
            <a:endParaRPr lang="en-US" sz="1555" dirty="0"/>
          </a:p>
          <a:p>
            <a:pPr marL="457200" lvl="1" indent="0">
              <a:buNone/>
            </a:pPr>
            <a:r>
              <a:rPr lang="en-US" sz="1555" dirty="0"/>
              <a:t>Test Set</a:t>
            </a:r>
          </a:p>
          <a:p>
            <a:pPr marL="457200" lvl="1" indent="0">
              <a:buNone/>
            </a:pPr>
            <a:endParaRPr lang="en-US" sz="1555" dirty="0"/>
          </a:p>
          <a:p>
            <a:pPr marL="457200" lvl="1" indent="0">
              <a:buNone/>
            </a:pPr>
            <a:r>
              <a:rPr lang="it-IT" sz="1555" dirty="0"/>
              <a:t>Micro F1 Score: 0.6785</a:t>
            </a:r>
          </a:p>
          <a:p>
            <a:pPr marL="457200" lvl="1" indent="0">
              <a:buNone/>
            </a:pPr>
            <a:r>
              <a:rPr lang="it-IT" sz="1555" dirty="0"/>
              <a:t>Macro F1 Score: 0.6841415668402315</a:t>
            </a:r>
            <a:endParaRPr lang="en-US" sz="1555" dirty="0"/>
          </a:p>
          <a:p>
            <a:pPr marL="457200" lvl="1" indent="0">
              <a:buNone/>
            </a:pPr>
            <a:endParaRPr lang="en-US" sz="1555" dirty="0"/>
          </a:p>
          <a:p>
            <a:pPr marL="457200" lvl="1" indent="0">
              <a:buNone/>
            </a:pPr>
            <a:r>
              <a:rPr lang="en-US" sz="1555" dirty="0"/>
              <a:t>FER-Plus Dataset for Evaluation</a:t>
            </a:r>
          </a:p>
          <a:p>
            <a:pPr marL="457200" lvl="1" indent="0">
              <a:buNone/>
            </a:pPr>
            <a:endParaRPr lang="en-US" sz="1555" dirty="0"/>
          </a:p>
          <a:p>
            <a:pPr marL="457200" lvl="1" indent="0">
              <a:buNone/>
            </a:pPr>
            <a:r>
              <a:rPr lang="it-IT" sz="1400" i="0" dirty="0">
                <a:effectLst/>
                <a:latin typeface="Arial" panose="020B0604020202020204" pitchFamily="34" charset="0"/>
                <a:cs typeface="Arial" panose="020B0604020202020204" pitchFamily="34" charset="0"/>
              </a:rPr>
              <a:t>Micro F1 Score: 0.6623074768972277 </a:t>
            </a:r>
          </a:p>
          <a:p>
            <a:pPr marL="457200" lvl="1" indent="0">
              <a:buNone/>
            </a:pPr>
            <a:r>
              <a:rPr lang="it-IT" sz="1400" i="0" dirty="0">
                <a:effectLst/>
                <a:latin typeface="Arial" panose="020B0604020202020204" pitchFamily="34" charset="0"/>
                <a:cs typeface="Arial" panose="020B0604020202020204" pitchFamily="34" charset="0"/>
              </a:rPr>
              <a:t>Macro F1 Score: 0.42990340277361966</a:t>
            </a:r>
            <a:endParaRPr lang="en-US" sz="1400" dirty="0">
              <a:latin typeface="Arial" panose="020B0604020202020204" pitchFamily="34" charset="0"/>
              <a:cs typeface="Arial" panose="020B0604020202020204" pitchFamily="34" charset="0"/>
            </a:endParaRPr>
          </a:p>
          <a:p>
            <a:pPr marL="457200" lvl="1" indent="0">
              <a:buNone/>
            </a:pPr>
            <a:endParaRPr lang="en-US" sz="1555" dirty="0"/>
          </a:p>
          <a:p>
            <a:pPr marL="457200" lvl="1" indent="0">
              <a:buNone/>
            </a:pPr>
            <a:endParaRPr lang="en-US" sz="1555" dirty="0"/>
          </a:p>
          <a:p>
            <a:pPr marL="457200" lvl="1" indent="0">
              <a:buNone/>
            </a:pPr>
            <a:endParaRPr lang="en-US" sz="1555" dirty="0"/>
          </a:p>
        </p:txBody>
      </p:sp>
      <p:sp>
        <p:nvSpPr>
          <p:cNvPr id="4" name="Slide Number Placeholder 3"/>
          <p:cNvSpPr>
            <a:spLocks noGrp="1"/>
          </p:cNvSpPr>
          <p:nvPr>
            <p:ph type="sldNum" sz="quarter" idx="12"/>
          </p:nvPr>
        </p:nvSpPr>
        <p:spPr/>
        <p:txBody>
          <a:bodyPr/>
          <a:lstStyle/>
          <a:p>
            <a:fld id="{9B618960-8005-486C-9A75-10CB2AAC16F9}"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155575"/>
            <a:ext cx="6856730" cy="365125"/>
          </a:xfrm>
        </p:spPr>
        <p:txBody>
          <a:bodyPr>
            <a:normAutofit fontScale="90000"/>
          </a:bodyPr>
          <a:lstStyle/>
          <a:p>
            <a:r>
              <a:rPr lang="en-US"/>
              <a:t>Performance and Evaluation</a:t>
            </a:r>
          </a:p>
        </p:txBody>
      </p:sp>
      <p:sp>
        <p:nvSpPr>
          <p:cNvPr id="3" name="Content Placeholder 2"/>
          <p:cNvSpPr>
            <a:spLocks noGrp="1"/>
          </p:cNvSpPr>
          <p:nvPr>
            <p:ph idx="1"/>
          </p:nvPr>
        </p:nvSpPr>
        <p:spPr>
          <a:xfrm>
            <a:off x="0" y="764540"/>
            <a:ext cx="12192000" cy="6093460"/>
          </a:xfrm>
        </p:spPr>
        <p:txBody>
          <a:bodyPr>
            <a:normAutofit fontScale="97500"/>
          </a:bodyPr>
          <a:lstStyle/>
          <a:p>
            <a:r>
              <a:rPr lang="en-US" sz="1600" dirty="0"/>
              <a:t>Performance Metrics:</a:t>
            </a:r>
          </a:p>
          <a:p>
            <a:pPr marL="457200" lvl="1" indent="0">
              <a:buNone/>
            </a:pPr>
            <a:r>
              <a:rPr lang="en-US" sz="1555" dirty="0"/>
              <a:t>ROC Curve:</a:t>
            </a:r>
          </a:p>
          <a:p>
            <a:pPr marL="457200" lvl="1" indent="0">
              <a:buNone/>
            </a:pPr>
            <a:endParaRPr lang="en-US" sz="1370" dirty="0"/>
          </a:p>
          <a:p>
            <a:pPr marL="457200" lvl="1" indent="0">
              <a:buNone/>
            </a:pPr>
            <a:r>
              <a:rPr lang="en-US" sz="1555" dirty="0"/>
              <a:t>	ROC (Receiver Operating Characteristic) curve visualizes the trade-off between True Positive Rate (TPR) and False Positive Rate (FPR) 	at different classification thresholds</a:t>
            </a:r>
          </a:p>
          <a:p>
            <a:pPr marL="457200" lvl="1" indent="0">
              <a:buNone/>
            </a:pPr>
            <a:r>
              <a:rPr lang="en-US" sz="1370" dirty="0"/>
              <a:t>.</a:t>
            </a:r>
          </a:p>
          <a:p>
            <a:pPr marL="914400" lvl="2" indent="0">
              <a:buNone/>
            </a:pPr>
            <a:r>
              <a:rPr lang="en-US" sz="1555" dirty="0"/>
              <a:t>ROC curve for facial emotion recognition</a:t>
            </a:r>
          </a:p>
          <a:p>
            <a:pPr marL="914400" lvl="2" indent="0">
              <a:buNone/>
            </a:pPr>
            <a:r>
              <a:rPr lang="en-US" sz="1555" dirty="0"/>
              <a:t>TPR (also called sensitivity) measures the model's ability to correctly identify true positives (e.g., correctly predicting happy faces).</a:t>
            </a:r>
          </a:p>
          <a:p>
            <a:pPr marL="914400" lvl="2" indent="0">
              <a:buNone/>
            </a:pPr>
            <a:endParaRPr lang="en-US" sz="1555" dirty="0"/>
          </a:p>
          <a:p>
            <a:pPr marL="914400" lvl="2" indent="0">
              <a:buNone/>
            </a:pPr>
            <a:r>
              <a:rPr lang="en-US" sz="1400" b="0" i="0" dirty="0">
                <a:effectLst/>
                <a:latin typeface="Google Sans"/>
              </a:rPr>
              <a:t>TPR = TP/(TP+FN) </a:t>
            </a:r>
          </a:p>
          <a:p>
            <a:pPr marL="914400" lvl="2" indent="0">
              <a:buNone/>
            </a:pPr>
            <a:endParaRPr lang="en-US" sz="1555" dirty="0"/>
          </a:p>
          <a:p>
            <a:pPr marL="914400" lvl="2" indent="0">
              <a:buNone/>
            </a:pPr>
            <a:r>
              <a:rPr lang="en-US" sz="1555" dirty="0"/>
              <a:t>FPR measures the model's tendency to incorrectly classify negative examples as positives (e.g., classifying a sad face as happy).</a:t>
            </a:r>
          </a:p>
          <a:p>
            <a:pPr marL="914400" lvl="2" indent="0">
              <a:buNone/>
            </a:pPr>
            <a:endParaRPr lang="en-US" sz="1555" dirty="0"/>
          </a:p>
          <a:p>
            <a:pPr marL="914400" lvl="2" indent="0">
              <a:buNone/>
            </a:pPr>
            <a:r>
              <a:rPr lang="en-US" sz="1555" dirty="0"/>
              <a:t> FPR = FP/(FP+TN)</a:t>
            </a:r>
          </a:p>
          <a:p>
            <a:pPr marL="914400" lvl="2" indent="0">
              <a:buNone/>
            </a:pPr>
            <a:endParaRPr lang="en-US" sz="1555" dirty="0"/>
          </a:p>
          <a:p>
            <a:pPr marL="914400" lvl="2" indent="0">
              <a:buNone/>
            </a:pPr>
            <a:r>
              <a:rPr lang="en-US" sz="1555" dirty="0"/>
              <a:t>AUC (Area Under the Curve) quantifies the overall performance of the model, with higher AUC indicating better discrimination between classes.</a:t>
            </a:r>
          </a:p>
          <a:p>
            <a:pPr marL="914400" lvl="2" indent="0">
              <a:buNone/>
            </a:pPr>
            <a:endParaRPr lang="en-US" sz="1555" dirty="0"/>
          </a:p>
          <a:p>
            <a:pPr marL="914400" lvl="2" indent="0">
              <a:buNone/>
            </a:pPr>
            <a:r>
              <a:rPr lang="en-US" sz="1555" dirty="0"/>
              <a:t>AUC = </a:t>
            </a:r>
            <a:r>
              <a:rPr lang="da-DK" sz="1555" dirty="0"/>
              <a:t>1/2 - FPR/2 + TPR/2</a:t>
            </a:r>
            <a:endParaRPr lang="en-US" sz="1555" dirty="0"/>
          </a:p>
          <a:p>
            <a:pPr marL="457200" lvl="1" indent="0">
              <a:buNone/>
            </a:pPr>
            <a:endParaRPr lang="en-US" sz="1555" dirty="0"/>
          </a:p>
        </p:txBody>
      </p:sp>
      <p:sp>
        <p:nvSpPr>
          <p:cNvPr id="4" name="Slide Number Placeholder 3"/>
          <p:cNvSpPr>
            <a:spLocks noGrp="1"/>
          </p:cNvSpPr>
          <p:nvPr>
            <p:ph type="sldNum" sz="quarter" idx="12"/>
          </p:nvPr>
        </p:nvSpPr>
        <p:spPr/>
        <p:txBody>
          <a:bodyPr/>
          <a:lstStyle/>
          <a:p>
            <a:fld id="{9B618960-8005-486C-9A75-10CB2AAC16F9}" type="slidenum">
              <a:rPr lang="en-US" smtClean="0"/>
              <a:t>17</a:t>
            </a:fld>
            <a:endParaRPr lang="en-US"/>
          </a:p>
        </p:txBody>
      </p:sp>
    </p:spTree>
    <p:extLst>
      <p:ext uri="{BB962C8B-B14F-4D97-AF65-F5344CB8AC3E}">
        <p14:creationId xmlns:p14="http://schemas.microsoft.com/office/powerpoint/2010/main" val="3533870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E25E9D-086A-51CF-242F-FE8A6F9317F1}"/>
              </a:ext>
            </a:extLst>
          </p:cNvPr>
          <p:cNvSpPr>
            <a:spLocks noGrp="1"/>
          </p:cNvSpPr>
          <p:nvPr>
            <p:ph idx="1"/>
          </p:nvPr>
        </p:nvSpPr>
        <p:spPr>
          <a:xfrm>
            <a:off x="87923" y="580292"/>
            <a:ext cx="12104077" cy="6141183"/>
          </a:xfrm>
        </p:spPr>
        <p:txBody>
          <a:bodyPr/>
          <a:lstStyle/>
          <a:p>
            <a:r>
              <a:rPr lang="en-US" dirty="0"/>
              <a:t>Test Set</a:t>
            </a:r>
          </a:p>
        </p:txBody>
      </p:sp>
      <p:sp>
        <p:nvSpPr>
          <p:cNvPr id="4" name="Slide Number Placeholder 3">
            <a:extLst>
              <a:ext uri="{FF2B5EF4-FFF2-40B4-BE49-F238E27FC236}">
                <a16:creationId xmlns:a16="http://schemas.microsoft.com/office/drawing/2014/main" id="{D7676310-CDB2-5CEF-8108-E490E8AFB8D8}"/>
              </a:ext>
            </a:extLst>
          </p:cNvPr>
          <p:cNvSpPr>
            <a:spLocks noGrp="1"/>
          </p:cNvSpPr>
          <p:nvPr>
            <p:ph type="sldNum" sz="quarter" idx="12"/>
          </p:nvPr>
        </p:nvSpPr>
        <p:spPr/>
        <p:txBody>
          <a:bodyPr/>
          <a:lstStyle/>
          <a:p>
            <a:fld id="{9B618960-8005-486C-9A75-10CB2AAC16F9}" type="slidenum">
              <a:rPr lang="en-US" smtClean="0"/>
              <a:t>18</a:t>
            </a:fld>
            <a:endParaRPr lang="en-US"/>
          </a:p>
        </p:txBody>
      </p:sp>
      <p:sp>
        <p:nvSpPr>
          <p:cNvPr id="5" name="Title 1">
            <a:extLst>
              <a:ext uri="{FF2B5EF4-FFF2-40B4-BE49-F238E27FC236}">
                <a16:creationId xmlns:a16="http://schemas.microsoft.com/office/drawing/2014/main" id="{BFA9801A-B911-7D93-62C0-AAB010EB8EB5}"/>
              </a:ext>
            </a:extLst>
          </p:cNvPr>
          <p:cNvSpPr>
            <a:spLocks noGrp="1"/>
          </p:cNvSpPr>
          <p:nvPr>
            <p:ph type="title"/>
          </p:nvPr>
        </p:nvSpPr>
        <p:spPr>
          <a:xfrm>
            <a:off x="0" y="0"/>
            <a:ext cx="11772900" cy="659423"/>
          </a:xfrm>
        </p:spPr>
        <p:txBody>
          <a:bodyPr>
            <a:normAutofit/>
          </a:bodyPr>
          <a:lstStyle/>
          <a:p>
            <a:r>
              <a:rPr lang="en-US" sz="3600" dirty="0"/>
              <a:t>Evaluation with ROC Curve: Objective 3</a:t>
            </a:r>
          </a:p>
        </p:txBody>
      </p:sp>
      <p:pic>
        <p:nvPicPr>
          <p:cNvPr id="7" name="Picture 6">
            <a:extLst>
              <a:ext uri="{FF2B5EF4-FFF2-40B4-BE49-F238E27FC236}">
                <a16:creationId xmlns:a16="http://schemas.microsoft.com/office/drawing/2014/main" id="{EAF78431-8C23-46B9-ABFC-42F9093EFF60}"/>
              </a:ext>
            </a:extLst>
          </p:cNvPr>
          <p:cNvPicPr>
            <a:picLocks noChangeAspect="1"/>
          </p:cNvPicPr>
          <p:nvPr/>
        </p:nvPicPr>
        <p:blipFill>
          <a:blip r:embed="rId2"/>
          <a:stretch>
            <a:fillRect/>
          </a:stretch>
        </p:blipFill>
        <p:spPr>
          <a:xfrm>
            <a:off x="1837730" y="790206"/>
            <a:ext cx="9029562" cy="5595501"/>
          </a:xfrm>
          <a:prstGeom prst="rect">
            <a:avLst/>
          </a:prstGeom>
        </p:spPr>
      </p:pic>
    </p:spTree>
    <p:extLst>
      <p:ext uri="{BB962C8B-B14F-4D97-AF65-F5344CB8AC3E}">
        <p14:creationId xmlns:p14="http://schemas.microsoft.com/office/powerpoint/2010/main" val="2538993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E25E9D-086A-51CF-242F-FE8A6F9317F1}"/>
              </a:ext>
            </a:extLst>
          </p:cNvPr>
          <p:cNvSpPr>
            <a:spLocks noGrp="1"/>
          </p:cNvSpPr>
          <p:nvPr>
            <p:ph idx="1"/>
          </p:nvPr>
        </p:nvSpPr>
        <p:spPr>
          <a:xfrm>
            <a:off x="87923" y="580292"/>
            <a:ext cx="12104077" cy="6141183"/>
          </a:xfrm>
        </p:spPr>
        <p:txBody>
          <a:bodyPr/>
          <a:lstStyle/>
          <a:p>
            <a:r>
              <a:rPr lang="en-US" dirty="0"/>
              <a:t>FER Plus Dataset</a:t>
            </a:r>
          </a:p>
        </p:txBody>
      </p:sp>
      <p:sp>
        <p:nvSpPr>
          <p:cNvPr id="4" name="Slide Number Placeholder 3">
            <a:extLst>
              <a:ext uri="{FF2B5EF4-FFF2-40B4-BE49-F238E27FC236}">
                <a16:creationId xmlns:a16="http://schemas.microsoft.com/office/drawing/2014/main" id="{D7676310-CDB2-5CEF-8108-E490E8AFB8D8}"/>
              </a:ext>
            </a:extLst>
          </p:cNvPr>
          <p:cNvSpPr>
            <a:spLocks noGrp="1"/>
          </p:cNvSpPr>
          <p:nvPr>
            <p:ph type="sldNum" sz="quarter" idx="12"/>
          </p:nvPr>
        </p:nvSpPr>
        <p:spPr/>
        <p:txBody>
          <a:bodyPr/>
          <a:lstStyle/>
          <a:p>
            <a:fld id="{9B618960-8005-486C-9A75-10CB2AAC16F9}" type="slidenum">
              <a:rPr lang="en-US" smtClean="0"/>
              <a:t>19</a:t>
            </a:fld>
            <a:endParaRPr lang="en-US"/>
          </a:p>
        </p:txBody>
      </p:sp>
      <p:sp>
        <p:nvSpPr>
          <p:cNvPr id="5" name="Title 1">
            <a:extLst>
              <a:ext uri="{FF2B5EF4-FFF2-40B4-BE49-F238E27FC236}">
                <a16:creationId xmlns:a16="http://schemas.microsoft.com/office/drawing/2014/main" id="{BFA9801A-B911-7D93-62C0-AAB010EB8EB5}"/>
              </a:ext>
            </a:extLst>
          </p:cNvPr>
          <p:cNvSpPr>
            <a:spLocks noGrp="1"/>
          </p:cNvSpPr>
          <p:nvPr>
            <p:ph type="title"/>
          </p:nvPr>
        </p:nvSpPr>
        <p:spPr>
          <a:xfrm>
            <a:off x="0" y="0"/>
            <a:ext cx="11772900" cy="659423"/>
          </a:xfrm>
        </p:spPr>
        <p:txBody>
          <a:bodyPr>
            <a:normAutofit/>
          </a:bodyPr>
          <a:lstStyle/>
          <a:p>
            <a:r>
              <a:rPr lang="en-US" sz="3600" dirty="0"/>
              <a:t>Evaluation with ROC Curve: Objective 3</a:t>
            </a:r>
          </a:p>
        </p:txBody>
      </p:sp>
      <p:pic>
        <p:nvPicPr>
          <p:cNvPr id="6" name="Picture 5">
            <a:extLst>
              <a:ext uri="{FF2B5EF4-FFF2-40B4-BE49-F238E27FC236}">
                <a16:creationId xmlns:a16="http://schemas.microsoft.com/office/drawing/2014/main" id="{5C50651D-133B-D3CE-875D-153355FEE84F}"/>
              </a:ext>
            </a:extLst>
          </p:cNvPr>
          <p:cNvPicPr>
            <a:picLocks noChangeAspect="1"/>
          </p:cNvPicPr>
          <p:nvPr/>
        </p:nvPicPr>
        <p:blipFill>
          <a:blip r:embed="rId2"/>
          <a:stretch>
            <a:fillRect/>
          </a:stretch>
        </p:blipFill>
        <p:spPr>
          <a:xfrm>
            <a:off x="1917987" y="1520099"/>
            <a:ext cx="8145012" cy="5201376"/>
          </a:xfrm>
          <a:prstGeom prst="rect">
            <a:avLst/>
          </a:prstGeom>
        </p:spPr>
      </p:pic>
    </p:spTree>
    <p:extLst>
      <p:ext uri="{BB962C8B-B14F-4D97-AF65-F5344CB8AC3E}">
        <p14:creationId xmlns:p14="http://schemas.microsoft.com/office/powerpoint/2010/main" val="1283330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9DCB-9CF3-49A7-BD6E-F6530624B5BE}"/>
              </a:ext>
            </a:extLst>
          </p:cNvPr>
          <p:cNvSpPr>
            <a:spLocks noGrp="1"/>
          </p:cNvSpPr>
          <p:nvPr>
            <p:ph type="title"/>
          </p:nvPr>
        </p:nvSpPr>
        <p:spPr>
          <a:xfrm>
            <a:off x="87923" y="136525"/>
            <a:ext cx="11265877" cy="426183"/>
          </a:xfrm>
        </p:spPr>
        <p:txBody>
          <a:bodyPr>
            <a:normAutofit/>
          </a:bodyPr>
          <a:lstStyle/>
          <a:p>
            <a:r>
              <a:rPr lang="en-US" sz="2000" dirty="0"/>
              <a:t>PERFORMANCE COMPARISON TO PREVIOUS AUTHORS USING F1-SCORE FOR FER-PLUS</a:t>
            </a:r>
          </a:p>
        </p:txBody>
      </p:sp>
      <p:sp>
        <p:nvSpPr>
          <p:cNvPr id="4" name="Slide Number Placeholder 3">
            <a:extLst>
              <a:ext uri="{FF2B5EF4-FFF2-40B4-BE49-F238E27FC236}">
                <a16:creationId xmlns:a16="http://schemas.microsoft.com/office/drawing/2014/main" id="{6D3874BB-0214-F577-C066-D73A2EBA3A1F}"/>
              </a:ext>
            </a:extLst>
          </p:cNvPr>
          <p:cNvSpPr>
            <a:spLocks noGrp="1"/>
          </p:cNvSpPr>
          <p:nvPr>
            <p:ph type="sldNum" sz="quarter" idx="12"/>
          </p:nvPr>
        </p:nvSpPr>
        <p:spPr/>
        <p:txBody>
          <a:bodyPr/>
          <a:lstStyle/>
          <a:p>
            <a:fld id="{9B618960-8005-486C-9A75-10CB2AAC16F9}" type="slidenum">
              <a:rPr lang="en-US" smtClean="0"/>
              <a:t>20</a:t>
            </a:fld>
            <a:endParaRPr lang="en-US"/>
          </a:p>
        </p:txBody>
      </p:sp>
      <p:graphicFrame>
        <p:nvGraphicFramePr>
          <p:cNvPr id="5" name="Content Placeholder 3">
            <a:extLst>
              <a:ext uri="{FF2B5EF4-FFF2-40B4-BE49-F238E27FC236}">
                <a16:creationId xmlns:a16="http://schemas.microsoft.com/office/drawing/2014/main" id="{AF47CFA6-4FB3-8013-9FBD-AF705CE17298}"/>
              </a:ext>
            </a:extLst>
          </p:cNvPr>
          <p:cNvGraphicFramePr>
            <a:graphicFrameLocks noGrp="1"/>
          </p:cNvGraphicFramePr>
          <p:nvPr>
            <p:ph idx="1"/>
            <p:extLst>
              <p:ext uri="{D42A27DB-BD31-4B8C-83A1-F6EECF244321}">
                <p14:modId xmlns:p14="http://schemas.microsoft.com/office/powerpoint/2010/main" val="3918053386"/>
              </p:ext>
            </p:extLst>
          </p:nvPr>
        </p:nvGraphicFramePr>
        <p:xfrm>
          <a:off x="20637" y="635635"/>
          <a:ext cx="12171363" cy="3170598"/>
        </p:xfrm>
        <a:graphic>
          <a:graphicData uri="http://schemas.openxmlformats.org/drawingml/2006/table">
            <a:tbl>
              <a:tblPr firstRow="1" bandRow="1">
                <a:tableStyleId>{5C22544A-7EE6-4342-B048-85BDC9FD1C3A}</a:tableStyleId>
              </a:tblPr>
              <a:tblGrid>
                <a:gridCol w="383555">
                  <a:extLst>
                    <a:ext uri="{9D8B030D-6E8A-4147-A177-3AD203B41FA5}">
                      <a16:colId xmlns:a16="http://schemas.microsoft.com/office/drawing/2014/main" val="20000"/>
                    </a:ext>
                  </a:extLst>
                </a:gridCol>
                <a:gridCol w="1059707">
                  <a:extLst>
                    <a:ext uri="{9D8B030D-6E8A-4147-A177-3AD203B41FA5}">
                      <a16:colId xmlns:a16="http://schemas.microsoft.com/office/drawing/2014/main" val="20001"/>
                    </a:ext>
                  </a:extLst>
                </a:gridCol>
                <a:gridCol w="2582479">
                  <a:extLst>
                    <a:ext uri="{9D8B030D-6E8A-4147-A177-3AD203B41FA5}">
                      <a16:colId xmlns:a16="http://schemas.microsoft.com/office/drawing/2014/main" val="20002"/>
                    </a:ext>
                  </a:extLst>
                </a:gridCol>
                <a:gridCol w="3247817">
                  <a:extLst>
                    <a:ext uri="{9D8B030D-6E8A-4147-A177-3AD203B41FA5}">
                      <a16:colId xmlns:a16="http://schemas.microsoft.com/office/drawing/2014/main" val="20003"/>
                    </a:ext>
                  </a:extLst>
                </a:gridCol>
                <a:gridCol w="2618099">
                  <a:extLst>
                    <a:ext uri="{9D8B030D-6E8A-4147-A177-3AD203B41FA5}">
                      <a16:colId xmlns:a16="http://schemas.microsoft.com/office/drawing/2014/main" val="20004"/>
                    </a:ext>
                  </a:extLst>
                </a:gridCol>
                <a:gridCol w="2279706">
                  <a:extLst>
                    <a:ext uri="{9D8B030D-6E8A-4147-A177-3AD203B41FA5}">
                      <a16:colId xmlns:a16="http://schemas.microsoft.com/office/drawing/2014/main" val="20005"/>
                    </a:ext>
                  </a:extLst>
                </a:gridCol>
              </a:tblGrid>
              <a:tr h="563025">
                <a:tc>
                  <a:txBody>
                    <a:bodyPr/>
                    <a:lstStyle/>
                    <a:p>
                      <a:pPr>
                        <a:lnSpc>
                          <a:spcPct val="70000"/>
                        </a:lnSpc>
                        <a:buNone/>
                      </a:pPr>
                      <a:r>
                        <a:rPr lang="en-US" sz="1800" b="0" dirty="0">
                          <a:latin typeface="Times New Roman Regular" panose="02020603050405020304" charset="0"/>
                          <a:cs typeface="Times New Roman Regular" panose="02020603050405020304" charset="0"/>
                        </a:rPr>
                        <a:t>S/N</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AUTHORS&amp; YEARS</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PROBLEM STATEMENT</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METHODOLOGY</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DATASETS/RESULTS</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LIMITATION</a:t>
                      </a:r>
                    </a:p>
                  </a:txBody>
                  <a:tcPr/>
                </a:tc>
                <a:extLst>
                  <a:ext uri="{0D108BD9-81ED-4DB2-BD59-A6C34878D82A}">
                    <a16:rowId xmlns:a16="http://schemas.microsoft.com/office/drawing/2014/main" val="10000"/>
                  </a:ext>
                </a:extLst>
              </a:tr>
              <a:tr h="1359409">
                <a:tc>
                  <a:txBody>
                    <a:bodyPr/>
                    <a:lstStyle/>
                    <a:p>
                      <a:pPr>
                        <a:lnSpc>
                          <a:spcPct val="70000"/>
                        </a:lnSpc>
                        <a:buNone/>
                      </a:pPr>
                      <a:r>
                        <a:rPr lang="en-US" sz="1800" b="0">
                          <a:latin typeface="Times New Roman Regular" panose="02020603050405020304" charset="0"/>
                          <a:cs typeface="Times New Roman Regular" panose="02020603050405020304" charset="0"/>
                        </a:rPr>
                        <a:t>1</a:t>
                      </a: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sym typeface="+mn-ea"/>
                        </a:rPr>
                        <a:t>Liu et al. (2019)</a:t>
                      </a:r>
                    </a:p>
                    <a:p>
                      <a:pPr>
                        <a:lnSpc>
                          <a:spcPct val="70000"/>
                        </a:lnSpc>
                        <a:buNone/>
                      </a:pP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sym typeface="+mn-ea"/>
                        </a:rPr>
                        <a:t>Handling ambiguities in multi-label emotion data.</a:t>
                      </a:r>
                    </a:p>
                    <a:p>
                      <a:pPr>
                        <a:lnSpc>
                          <a:spcPct val="70000"/>
                        </a:lnSpc>
                        <a:buNone/>
                      </a:pP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sym typeface="+mn-ea"/>
                        </a:rPr>
                        <a:t>Proposed CNN-RNN model with joint-loss training.</a:t>
                      </a: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sym typeface="+mn-ea"/>
                        </a:rPr>
                        <a:t>Achieved 63.7% F1 score on </a:t>
                      </a:r>
                      <a:r>
                        <a:rPr lang="en-US" sz="1800" b="0" dirty="0" err="1">
                          <a:latin typeface="Times New Roman Regular" panose="02020603050405020304" charset="0"/>
                          <a:cs typeface="Times New Roman Regular" panose="02020603050405020304" charset="0"/>
                          <a:sym typeface="+mn-ea"/>
                        </a:rPr>
                        <a:t>FERPlus</a:t>
                      </a:r>
                      <a:r>
                        <a:rPr lang="en-US" sz="1800" b="0" dirty="0">
                          <a:latin typeface="Times New Roman Regular" panose="02020603050405020304" charset="0"/>
                          <a:cs typeface="Times New Roman Regular" panose="02020603050405020304" charset="0"/>
                          <a:sym typeface="+mn-ea"/>
                        </a:rPr>
                        <a:t> dataset. </a:t>
                      </a:r>
                    </a:p>
                    <a:p>
                      <a:pPr>
                        <a:lnSpc>
                          <a:spcPct val="70000"/>
                        </a:lnSpc>
                        <a:buNone/>
                      </a:pP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sym typeface="+mn-ea"/>
                        </a:rPr>
                        <a:t>Did not explore very deep architectures.</a:t>
                      </a:r>
                    </a:p>
                  </a:txBody>
                  <a:tcPr/>
                </a:tc>
                <a:extLst>
                  <a:ext uri="{0D108BD9-81ED-4DB2-BD59-A6C34878D82A}">
                    <a16:rowId xmlns:a16="http://schemas.microsoft.com/office/drawing/2014/main" val="10001"/>
                  </a:ext>
                </a:extLst>
              </a:tr>
              <a:tr h="1138089">
                <a:tc>
                  <a:txBody>
                    <a:bodyPr/>
                    <a:lstStyle/>
                    <a:p>
                      <a:pPr>
                        <a:lnSpc>
                          <a:spcPct val="70000"/>
                        </a:lnSpc>
                        <a:buNone/>
                      </a:pPr>
                      <a:r>
                        <a:rPr lang="en-US" sz="1800" b="0">
                          <a:latin typeface="Times New Roman Regular" panose="02020603050405020304" charset="0"/>
                          <a:cs typeface="Times New Roman Regular" panose="02020603050405020304" charset="0"/>
                        </a:rPr>
                        <a:t>2</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Lee et al. (2022)</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Limits in handling multiple emotion labels.</a:t>
                      </a:r>
                    </a:p>
                  </a:txBody>
                  <a:tcPr/>
                </a:tc>
                <a:tc>
                  <a:txBody>
                    <a:bodyPr/>
                    <a:lstStyle/>
                    <a:p>
                      <a:pPr>
                        <a:lnSpc>
                          <a:spcPct val="70000"/>
                        </a:lnSpc>
                        <a:buNone/>
                      </a:pPr>
                      <a:r>
                        <a:rPr lang="en-US" sz="1800" b="0">
                          <a:latin typeface="Times New Roman Regular" panose="02020603050405020304" charset="0"/>
                          <a:cs typeface="Times New Roman Regular" panose="02020603050405020304" charset="0"/>
                        </a:rPr>
                        <a:t>Used an ensemble of CNNs for multi-label prediction</a:t>
                      </a:r>
                    </a:p>
                  </a:txBody>
                  <a:tcPr/>
                </a:tc>
                <a:tc>
                  <a:txBody>
                    <a:bodyPr/>
                    <a:lstStyle/>
                    <a:p>
                      <a:pPr>
                        <a:lnSpc>
                          <a:spcPct val="70000"/>
                        </a:lnSpc>
                        <a:buNone/>
                      </a:pPr>
                      <a:r>
                        <a:rPr lang="en-US" sz="1800" b="0" i="0" kern="1200" dirty="0">
                          <a:solidFill>
                            <a:schemeClr val="dk1"/>
                          </a:solidFill>
                          <a:effectLst/>
                          <a:latin typeface="+mn-lt"/>
                          <a:ea typeface="+mn-ea"/>
                          <a:cs typeface="+mn-cs"/>
                        </a:rPr>
                        <a:t>Obtained 58.4% micro F1-score on </a:t>
                      </a:r>
                      <a:r>
                        <a:rPr lang="en-US" sz="1800" b="0" i="0" kern="1200" dirty="0" err="1">
                          <a:solidFill>
                            <a:schemeClr val="dk1"/>
                          </a:solidFill>
                          <a:effectLst/>
                          <a:latin typeface="+mn-lt"/>
                          <a:ea typeface="+mn-ea"/>
                          <a:cs typeface="+mn-cs"/>
                        </a:rPr>
                        <a:t>FERPlus</a:t>
                      </a:r>
                      <a:r>
                        <a:rPr lang="en-US" sz="1800" b="0" i="0" kern="1200" dirty="0">
                          <a:solidFill>
                            <a:schemeClr val="dk1"/>
                          </a:solidFill>
                          <a:effectLst/>
                          <a:latin typeface="+mn-lt"/>
                          <a:ea typeface="+mn-ea"/>
                          <a:cs typeface="+mn-cs"/>
                        </a:rPr>
                        <a:t>, outperforming single-model methods.</a:t>
                      </a:r>
                      <a:endParaRPr lang="en-US" sz="1800" b="0" dirty="0">
                        <a:latin typeface="Times New Roman Regular" panose="02020603050405020304" charset="0"/>
                        <a:cs typeface="Times New Roman Regular" panose="02020603050405020304" charset="0"/>
                      </a:endParaRPr>
                    </a:p>
                  </a:txBody>
                  <a:tcPr/>
                </a:tc>
                <a:tc>
                  <a:txBody>
                    <a:bodyPr/>
                    <a:lstStyle/>
                    <a:p>
                      <a:pPr>
                        <a:lnSpc>
                          <a:spcPct val="70000"/>
                        </a:lnSpc>
                        <a:buNone/>
                      </a:pPr>
                      <a:r>
                        <a:rPr lang="en-US" sz="1800" b="0" dirty="0">
                          <a:latin typeface="Times New Roman Regular" panose="02020603050405020304" charset="0"/>
                          <a:cs typeface="Times New Roman Regular" panose="02020603050405020304" charset="0"/>
                        </a:rPr>
                        <a:t>Prone to overfitting on small datasets with limited diversity. </a:t>
                      </a:r>
                    </a:p>
                  </a:txBody>
                  <a:tcP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B5E79BCD-6FF6-27FC-49C3-3E80835DD5D6}"/>
              </a:ext>
            </a:extLst>
          </p:cNvPr>
          <p:cNvSpPr txBox="1"/>
          <p:nvPr/>
        </p:nvSpPr>
        <p:spPr>
          <a:xfrm>
            <a:off x="-389425" y="4234015"/>
            <a:ext cx="6110286" cy="369332"/>
          </a:xfrm>
          <a:prstGeom prst="rect">
            <a:avLst/>
          </a:prstGeom>
          <a:noFill/>
        </p:spPr>
        <p:txBody>
          <a:bodyPr wrap="square">
            <a:spAutoFit/>
          </a:bodyPr>
          <a:lstStyle/>
          <a:p>
            <a:pPr marL="457200" lvl="1" indent="0">
              <a:buNone/>
            </a:pPr>
            <a:r>
              <a:rPr lang="en-US" sz="1800" dirty="0"/>
              <a:t>FER-Plus Dataset for Evaluation of Project</a:t>
            </a:r>
          </a:p>
        </p:txBody>
      </p:sp>
      <p:sp>
        <p:nvSpPr>
          <p:cNvPr id="9" name="TextBox 8">
            <a:extLst>
              <a:ext uri="{FF2B5EF4-FFF2-40B4-BE49-F238E27FC236}">
                <a16:creationId xmlns:a16="http://schemas.microsoft.com/office/drawing/2014/main" id="{F42A9CCE-748C-3972-87D2-DE1237E552F7}"/>
              </a:ext>
            </a:extLst>
          </p:cNvPr>
          <p:cNvSpPr txBox="1"/>
          <p:nvPr/>
        </p:nvSpPr>
        <p:spPr>
          <a:xfrm>
            <a:off x="87923" y="4661797"/>
            <a:ext cx="6253162" cy="369332"/>
          </a:xfrm>
          <a:prstGeom prst="rect">
            <a:avLst/>
          </a:prstGeom>
          <a:noFill/>
        </p:spPr>
        <p:txBody>
          <a:bodyPr wrap="square">
            <a:spAutoFit/>
          </a:bodyPr>
          <a:lstStyle/>
          <a:p>
            <a:r>
              <a:rPr lang="it-IT" sz="1800" i="0" dirty="0">
                <a:effectLst/>
                <a:latin typeface="Arial" panose="020B0604020202020204" pitchFamily="34" charset="0"/>
                <a:cs typeface="Arial" panose="020B0604020202020204" pitchFamily="34" charset="0"/>
              </a:rPr>
              <a:t>66.2%</a:t>
            </a:r>
            <a:endParaRPr lang="en-US" dirty="0"/>
          </a:p>
        </p:txBody>
      </p:sp>
    </p:spTree>
    <p:extLst>
      <p:ext uri="{BB962C8B-B14F-4D97-AF65-F5344CB8AC3E}">
        <p14:creationId xmlns:p14="http://schemas.microsoft.com/office/powerpoint/2010/main" val="228762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055" y="234950"/>
            <a:ext cx="9787890" cy="659765"/>
          </a:xfrm>
        </p:spPr>
        <p:txBody>
          <a:bodyPr/>
          <a:lstStyle/>
          <a:p>
            <a:r>
              <a:rPr lang="en-US" sz="3200"/>
              <a:t>EXPECTED CONTRIBUTION TO KNOWLEDGE</a:t>
            </a:r>
          </a:p>
        </p:txBody>
      </p:sp>
      <p:sp>
        <p:nvSpPr>
          <p:cNvPr id="3" name="Content Placeholder 2"/>
          <p:cNvSpPr>
            <a:spLocks noGrp="1"/>
          </p:cNvSpPr>
          <p:nvPr>
            <p:ph idx="1"/>
          </p:nvPr>
        </p:nvSpPr>
        <p:spPr/>
        <p:txBody>
          <a:bodyPr/>
          <a:lstStyle/>
          <a:p>
            <a:r>
              <a:rPr lang="en-US" sz="2400" dirty="0"/>
              <a:t>Advance state-of-the-art in multi-label FER.</a:t>
            </a:r>
          </a:p>
          <a:p>
            <a:r>
              <a:rPr lang="en-US" sz="2400" dirty="0"/>
              <a:t>Provide insights into blended facial emotion recognition.</a:t>
            </a:r>
          </a:p>
          <a:p>
            <a:r>
              <a:rPr lang="en-US" sz="2400" dirty="0"/>
              <a:t>Enable new applications benefitting from facial emotion detection using probability.</a:t>
            </a:r>
          </a:p>
          <a:p>
            <a:pPr marL="0" indent="0">
              <a:buNone/>
            </a:pPr>
            <a:endParaRPr lang="en-US" sz="2400" dirty="0"/>
          </a:p>
        </p:txBody>
      </p:sp>
      <p:sp>
        <p:nvSpPr>
          <p:cNvPr id="4" name="Slide Number Placeholder 3"/>
          <p:cNvSpPr>
            <a:spLocks noGrp="1"/>
          </p:cNvSpPr>
          <p:nvPr>
            <p:ph type="sldNum" sz="quarter" idx="12"/>
          </p:nvPr>
        </p:nvSpPr>
        <p:spPr/>
        <p:txBody>
          <a:bodyPr/>
          <a:lstStyle/>
          <a:p>
            <a:fld id="{9B618960-8005-486C-9A75-10CB2AAC16F9}"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515" y="864870"/>
            <a:ext cx="12135485" cy="5949950"/>
          </a:xfrm>
        </p:spPr>
        <p:txBody>
          <a:bodyPr/>
          <a:lstStyle/>
          <a:p>
            <a:r>
              <a:rPr lang="en-US" sz="1400"/>
              <a:t>Kim, B., Roh, M. C., &amp; Kim, D. (2023). Subtle Facial Expression Recognition using Multi-Output Convolutional Neural Network. IEEE Transactions on Affective Computing.</a:t>
            </a:r>
          </a:p>
          <a:p>
            <a:r>
              <a:rPr lang="en-US" sz="1400"/>
              <a:t>Lee, S., Park, J., &amp; Kim, J. (2022). An Ensemble Approach for Multi-Label Facial Expression Recognition. International Journal of Computer Vision, 128(6), 1562-1579.</a:t>
            </a:r>
          </a:p>
          <a:p>
            <a:r>
              <a:rPr lang="en-US" sz="1400"/>
              <a:t>Ahmed, F., Temko, A., &amp; Marnane, W. (2021). Multi-Task Learning for Facial Action Unit Detection using Convolutional Neural Networks. Pattern Recognition Letters, 147, 15-21.</a:t>
            </a:r>
          </a:p>
          <a:p>
            <a:r>
              <a:rPr lang="en-US" sz="1400"/>
              <a:t>Wang, Y., See, J., Phan, R.C.W. and Oh, Y.H. (2020). Efficient 3D Convolutional Networks for Action Unit Detection. Pattern Recognition, 108, 107580.</a:t>
            </a:r>
          </a:p>
          <a:p>
            <a:r>
              <a:rPr lang="en-US" sz="1400"/>
              <a:t>Liu, P., Han, S., Meng, Z. and Tong, Y. (2019). Facial Expression Recognition via a Boosted Deep Belief Network. IEEE Transactions on Neural Networks and Learning Systems, 30(10), pp.2992-3006.</a:t>
            </a:r>
          </a:p>
          <a:p>
            <a:r>
              <a:rPr lang="en-US" sz="1400"/>
              <a:t>Jung, H., Lee, S., Yim, J. and Kim, S. (2017). Joint Fine-Tuning in Deep Neural Networks for Facial Expression Recognition. IEEE International Conference on Computer Vision, 2983-2991.</a:t>
            </a:r>
          </a:p>
          <a:p>
            <a:r>
              <a:rPr lang="en-US" sz="1400"/>
              <a:t>Zeng, J., Zhang, X., Xu, C., &amp; Yang, H. (2023). Facial emotion recognition with contextual attention. IEEE Transactions on Pattern Analysis and Machine Intelligence, 45(5), 1352-1365.</a:t>
            </a:r>
          </a:p>
          <a:p>
            <a:r>
              <a:rPr lang="en-US" sz="1400">
                <a:sym typeface="+mn-ea"/>
              </a:rPr>
              <a:t>Liu, M., Li, S., &amp; Shan, S. (2014). Boosted deep belief networks for facial expression recognition. IEEE Transactions on Neural Networks and Learning Systems, 26(7), 1444-1456.</a:t>
            </a:r>
          </a:p>
          <a:p>
            <a:r>
              <a:rPr lang="en-US" sz="1400">
                <a:sym typeface="+mn-ea"/>
              </a:rPr>
              <a:t>Jaiswal, S., &amp; Valstar, M. F. (2016). Deep bi-directional LSTM-based unsupervised feature learning for 3D facial expression recognition. In Proceedings of the IEEE International Conference on Automatic Face &amp; Gesture Recognition (pp. 138-144).</a:t>
            </a:r>
          </a:p>
          <a:p>
            <a:r>
              <a:rPr lang="en-US" sz="1400">
                <a:sym typeface="+mn-ea"/>
              </a:rPr>
              <a:t>Jung, H., Yim, J., &amp; Kim, J. (2014). Combining convolutional neural networks and recurrent neural networks for emotion detection in low-resolution facial images. In Proceedings of the International Conference on Pattern Recognition (pp. 448-453).</a:t>
            </a:r>
          </a:p>
          <a:p>
            <a:r>
              <a:rPr lang="en-US" sz="1400">
                <a:sym typeface="+mn-ea"/>
              </a:rPr>
              <a:t>Liu, Z., Liu, Q., &amp; Shan, S. (2013). Deeply learning deformable facial action parts model for dynamic expression analysis. International Journal of Computer Vision, 107(2), 97-115.</a:t>
            </a:r>
            <a:endParaRPr lang="en-US" sz="1400"/>
          </a:p>
          <a:p>
            <a:endParaRPr lang="en-US" sz="1400"/>
          </a:p>
          <a:p>
            <a:endParaRPr lang="en-US" sz="1400"/>
          </a:p>
        </p:txBody>
      </p:sp>
      <p:sp>
        <p:nvSpPr>
          <p:cNvPr id="4" name="Slide Number Placeholder 3"/>
          <p:cNvSpPr>
            <a:spLocks noGrp="1"/>
          </p:cNvSpPr>
          <p:nvPr>
            <p:ph type="sldNum" sz="quarter" idx="12"/>
          </p:nvPr>
        </p:nvSpPr>
        <p:spPr/>
        <p:txBody>
          <a:bodyPr/>
          <a:lstStyle/>
          <a:p>
            <a:fld id="{9B618960-8005-486C-9A75-10CB2AAC16F9}" type="slidenum">
              <a:rPr lang="en-US" smtClean="0"/>
              <a:t>22</a:t>
            </a:fld>
            <a:endParaRPr lang="en-US"/>
          </a:p>
        </p:txBody>
      </p:sp>
      <p:sp>
        <p:nvSpPr>
          <p:cNvPr id="5" name="Title 4"/>
          <p:cNvSpPr>
            <a:spLocks noGrp="1"/>
          </p:cNvSpPr>
          <p:nvPr>
            <p:ph type="title"/>
          </p:nvPr>
        </p:nvSpPr>
        <p:spPr>
          <a:xfrm>
            <a:off x="280670" y="163195"/>
            <a:ext cx="10972800" cy="450850"/>
          </a:xfrm>
        </p:spPr>
        <p:txBody>
          <a:bodyPr/>
          <a:lstStyle/>
          <a:p>
            <a:r>
              <a:rPr lang="en-US" sz="2400"/>
              <a:t>REFERENCES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8277</TotalTime>
  <Words>2470</Words>
  <Application>Microsoft Office PowerPoint</Application>
  <PresentationFormat>Widescreen</PresentationFormat>
  <Paragraphs>284</Paragraphs>
  <Slides>22</Slides>
  <Notes>1</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Consolas</vt:lpstr>
      <vt:lpstr>Google Sans</vt:lpstr>
      <vt:lpstr>Times New Roman Regular</vt:lpstr>
      <vt:lpstr>Office Theme</vt:lpstr>
      <vt:lpstr>DEVELOPMENT OF A MULTI-CLASS FACIAL EMOTION RECOGNITION  ON IMAGES    OMAGE MICHEAL BRIGHT  233353</vt:lpstr>
      <vt:lpstr>INTRODUCTION</vt:lpstr>
      <vt:lpstr>LITERATURE REVIEW TABLE</vt:lpstr>
      <vt:lpstr>LITERATURE REVIEW TABLE</vt:lpstr>
      <vt:lpstr>PROBLEM STATEMENT</vt:lpstr>
      <vt:lpstr>AIM AND OBJECTIVES</vt:lpstr>
      <vt:lpstr>Methodology</vt:lpstr>
      <vt:lpstr>Dataset Preprocessing and Argumentation</vt:lpstr>
      <vt:lpstr>More information about Dataset</vt:lpstr>
      <vt:lpstr>Data Generator</vt:lpstr>
      <vt:lpstr>PowerPoint Presentation</vt:lpstr>
      <vt:lpstr>CNN Architecture: Objective 1</vt:lpstr>
      <vt:lpstr>PowerPoint Presentation</vt:lpstr>
      <vt:lpstr>Analyze model for blended emotion insights: Objective 2</vt:lpstr>
      <vt:lpstr>Performance and Evaluation: Objective 3</vt:lpstr>
      <vt:lpstr>Performance and Evaluation</vt:lpstr>
      <vt:lpstr>Performance and Evaluation</vt:lpstr>
      <vt:lpstr>Evaluation with ROC Curve: Objective 3</vt:lpstr>
      <vt:lpstr>Evaluation with ROC Curve: Objective 3</vt:lpstr>
      <vt:lpstr>PERFORMANCE COMPARISON TO PREVIOUS AUTHORS USING F1-SCORE FOR FER-PLUS</vt:lpstr>
      <vt:lpstr>EXPECTED CONTRIBUTION TO KNOWLEDGE</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omage micheal</cp:lastModifiedBy>
  <cp:revision>58</cp:revision>
  <dcterms:created xsi:type="dcterms:W3CDTF">2024-01-18T19:02:29Z</dcterms:created>
  <dcterms:modified xsi:type="dcterms:W3CDTF">2024-04-02T10:58:46Z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1033-5.6.0.8082</vt:lpwstr>
  </property>
</Properties>
</file>