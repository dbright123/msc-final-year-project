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3"/>
    <p:sldId id="258" r:id="rId4"/>
    <p:sldId id="259" r:id="rId5"/>
    <p:sldId id="264" r:id="rId6"/>
    <p:sldId id="281" r:id="rId7"/>
    <p:sldId id="265" r:id="rId8"/>
    <p:sldId id="272" r:id="rId9"/>
    <p:sldId id="267" r:id="rId10"/>
    <p:sldId id="276" r:id="rId11"/>
    <p:sldId id="268" r:id="rId12"/>
    <p:sldId id="269" r:id="rId13"/>
    <p:sldId id="273"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9710" y="468630"/>
            <a:ext cx="11704955" cy="3666490"/>
          </a:xfrm>
        </p:spPr>
        <p:txBody>
          <a:bodyPr/>
          <a:p>
            <a:pPr algn="ctr"/>
            <a:r>
              <a:rPr lang="en-US" sz="2400"/>
              <a:t>FACIAL EMOTION RECOGNITION AND DETECTION</a:t>
            </a:r>
            <a:br>
              <a:rPr lang="en-US" sz="2400"/>
            </a:br>
            <a:br>
              <a:rPr lang="en-US" sz="2400"/>
            </a:br>
            <a:br>
              <a:rPr lang="en-US" sz="2400"/>
            </a:br>
            <a:r>
              <a:rPr lang="en-US" sz="2400">
                <a:sym typeface="+mn-ea"/>
              </a:rPr>
              <a:t>OMAGE MICHEAL BRIGHT</a:t>
            </a:r>
            <a:br>
              <a:rPr lang="en-US" sz="2400">
                <a:sym typeface="+mn-ea"/>
              </a:rPr>
            </a:br>
            <a:br>
              <a:rPr lang="en-US" sz="2400">
                <a:sym typeface="+mn-ea"/>
              </a:rPr>
            </a:br>
            <a:r>
              <a:rPr lang="en-US" sz="2400">
                <a:sym typeface="+mn-ea"/>
              </a:rPr>
              <a:t>233353</a:t>
            </a:r>
            <a:endParaRPr lang="en-US" sz="2400"/>
          </a:p>
        </p:txBody>
      </p:sp>
      <p:sp>
        <p:nvSpPr>
          <p:cNvPr id="3" name="Subtitle 2"/>
          <p:cNvSpPr>
            <a:spLocks noGrp="1"/>
          </p:cNvSpPr>
          <p:nvPr>
            <p:ph type="subTitle" idx="1"/>
          </p:nvPr>
        </p:nvSpPr>
        <p:spPr>
          <a:xfrm>
            <a:off x="2931160" y="5043488"/>
            <a:ext cx="9144000" cy="1655762"/>
          </a:xfrm>
        </p:spPr>
        <p:txBody>
          <a:bodyPr>
            <a:normAutofit lnSpcReduction="20000"/>
          </a:bodyPr>
          <a:p>
            <a:pPr algn="l"/>
            <a:r>
              <a:rPr lang="en-US"/>
              <a:t>SUPERVISOR NAME:		Dr. Nancy Woods</a:t>
            </a:r>
            <a:endParaRPr lang="en-US"/>
          </a:p>
          <a:p>
            <a:pPr algn="l"/>
            <a:endParaRPr lang="en-US"/>
          </a:p>
          <a:p>
            <a:pPr algn="l"/>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023"/>
            <a:ext cx="10972800" cy="1143000"/>
          </a:xfrm>
        </p:spPr>
        <p:txBody>
          <a:bodyPr/>
          <a:p>
            <a:r>
              <a:rPr lang="en-US" sz="3600"/>
              <a:t>INTRODUCTION: CONTEXTUAL BACKGROUND</a:t>
            </a:r>
            <a:endParaRPr lang="en-US" sz="3600"/>
          </a:p>
        </p:txBody>
      </p:sp>
      <p:pic>
        <p:nvPicPr>
          <p:cNvPr id="4" name="Content Placeholder 3"/>
          <p:cNvPicPr>
            <a:picLocks noChangeAspect="1"/>
          </p:cNvPicPr>
          <p:nvPr>
            <p:ph idx="1"/>
          </p:nvPr>
        </p:nvPicPr>
        <p:blipFill>
          <a:blip r:embed="rId1"/>
          <a:stretch>
            <a:fillRect/>
          </a:stretch>
        </p:blipFill>
        <p:spPr>
          <a:xfrm>
            <a:off x="3305175" y="997585"/>
            <a:ext cx="5581650" cy="2457450"/>
          </a:xfrm>
          <a:prstGeom prst="rect">
            <a:avLst/>
          </a:prstGeom>
        </p:spPr>
      </p:pic>
      <p:sp>
        <p:nvSpPr>
          <p:cNvPr id="7" name="Text Box 6"/>
          <p:cNvSpPr txBox="1"/>
          <p:nvPr/>
        </p:nvSpPr>
        <p:spPr>
          <a:xfrm>
            <a:off x="160655" y="4271010"/>
            <a:ext cx="12031345" cy="2306955"/>
          </a:xfrm>
          <a:prstGeom prst="rect">
            <a:avLst/>
          </a:prstGeom>
          <a:noFill/>
        </p:spPr>
        <p:txBody>
          <a:bodyPr wrap="square" rtlCol="0">
            <a:spAutoFit/>
          </a:bodyPr>
          <a:p>
            <a:pPr algn="l"/>
            <a:r>
              <a:rPr lang="en-US" sz="1600"/>
              <a:t>Facial Emotion Recognition and Detection (FERD) is a captivating and evolving field within Artificial Intelligence (AI)</a:t>
            </a:r>
            <a:endParaRPr lang="en-US" sz="1600"/>
          </a:p>
          <a:p>
            <a:pPr algn="l"/>
            <a:r>
              <a:rPr lang="en-US" sz="1600"/>
              <a:t>and computer vision. It plays a pivotal role in understanding human emotions through the analysis of facial expressions, </a:t>
            </a:r>
            <a:endParaRPr lang="en-US" sz="1600"/>
          </a:p>
          <a:p>
            <a:pPr algn="l"/>
            <a:r>
              <a:rPr lang="en-US" sz="1600"/>
              <a:t>contributing to numerous applications ranging from human-computer interaction to mental health assessment.</a:t>
            </a:r>
            <a:endParaRPr lang="en-US" sz="1600"/>
          </a:p>
          <a:p>
            <a:pPr algn="l"/>
            <a:endParaRPr lang="en-US" sz="1600"/>
          </a:p>
          <a:p>
            <a:pPr algn="l"/>
            <a:r>
              <a:rPr lang="en-US" sz="1600">
                <a:sym typeface="+mn-ea"/>
              </a:rPr>
              <a:t>Facial expressions are a universal form of non-verbal communication that can convey emotions like anger, happiness, sadness, fear, surprise, disgust, and contempt. Convolutional neural networks (CNNs) are effective for facial emotion recognition, learning features from images. </a:t>
            </a:r>
            <a:endParaRPr lang="en-US" sz="1600"/>
          </a:p>
          <a:p>
            <a:pPr algn="l"/>
            <a:endParaRPr lang="en-US" sz="1600"/>
          </a:p>
          <a:p>
            <a:pPr marL="285750" indent="-285750" algn="l"/>
            <a:endParaRPr lang="en-US" sz="16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0365" y="1146175"/>
            <a:ext cx="10973435" cy="5031105"/>
          </a:xfrm>
        </p:spPr>
        <p:txBody>
          <a:bodyPr>
            <a:normAutofit/>
          </a:bodyPr>
          <a:p>
            <a:pPr marL="0" indent="0">
              <a:buNone/>
            </a:pPr>
            <a:endParaRPr lang="en-US" sz="1600"/>
          </a:p>
          <a:p>
            <a:pPr algn="l"/>
            <a:endParaRPr lang="en-US" sz="1600"/>
          </a:p>
          <a:p>
            <a:pPr marL="0" indent="0">
              <a:buNone/>
            </a:pPr>
            <a:r>
              <a:rPr lang="en-US" sz="1600"/>
              <a:t>This project has the potential to make a significant contribution to the field of facial emotion recognition and detection. By developing a model that is both robust and accurate, we can enable the development of new and innovative applications that can benefit society in a variety of ways.</a:t>
            </a:r>
            <a:endParaRPr lang="en-US" sz="1600"/>
          </a:p>
          <a:p>
            <a:pPr marL="0" indent="0">
              <a:buNone/>
            </a:pPr>
            <a:endParaRPr lang="en-US" sz="1600"/>
          </a:p>
          <a:p>
            <a:pPr marL="0" indent="0">
              <a:buNone/>
            </a:pPr>
            <a:r>
              <a:rPr lang="en-US" sz="1600"/>
              <a:t>For example, the system could be used to develop new tools for healthcare professionals to better diagnose and treat patients with mental health conditions. It could also be used to develop new security systems that can detect suspicious activity or identify individuals of interest. Additionally, the system could be used to develop new market research tools that can help businesses better understand their customers' needs and preferences.</a:t>
            </a:r>
            <a:endParaRPr lang="en-US" sz="1600"/>
          </a:p>
        </p:txBody>
      </p:sp>
      <p:sp>
        <p:nvSpPr>
          <p:cNvPr id="4" name="Title 1"/>
          <p:cNvSpPr>
            <a:spLocks noGrp="1"/>
          </p:cNvSpPr>
          <p:nvPr/>
        </p:nvSpPr>
        <p:spPr>
          <a:xfrm>
            <a:off x="609600" y="271780"/>
            <a:ext cx="10972800" cy="69532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sz="2400"/>
              <a:t>INTRODUCTION </a:t>
            </a:r>
            <a:br>
              <a:rPr lang="en-US" sz="2400"/>
            </a:br>
            <a:r>
              <a:rPr lang="en-US" sz="2400"/>
              <a:t>THE SIGNIFICANCE OF FERD</a:t>
            </a:r>
            <a:endParaRPr lang="en-US"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300355"/>
          </a:xfrm>
        </p:spPr>
        <p:txBody>
          <a:bodyPr/>
          <a:p>
            <a:r>
              <a:rPr lang="en-US" sz="2000"/>
              <a:t>LITERATURE REVIEW TABLE</a:t>
            </a:r>
            <a:endParaRPr lang="en-US" sz="2000"/>
          </a:p>
        </p:txBody>
      </p:sp>
      <p:graphicFrame>
        <p:nvGraphicFramePr>
          <p:cNvPr id="4" name="Content Placeholder 3"/>
          <p:cNvGraphicFramePr/>
          <p:nvPr>
            <p:ph idx="1"/>
          </p:nvPr>
        </p:nvGraphicFramePr>
        <p:xfrm>
          <a:off x="0" y="698500"/>
          <a:ext cx="12150725" cy="6085840"/>
        </p:xfrm>
        <a:graphic>
          <a:graphicData uri="http://schemas.openxmlformats.org/drawingml/2006/table">
            <a:tbl>
              <a:tblPr firstRow="1" bandRow="1">
                <a:tableStyleId>{5C22544A-7EE6-4342-B048-85BDC9FD1C3A}</a:tableStyleId>
              </a:tblPr>
              <a:tblGrid>
                <a:gridCol w="382905"/>
                <a:gridCol w="1057910"/>
                <a:gridCol w="2578100"/>
                <a:gridCol w="3242310"/>
                <a:gridCol w="2613660"/>
                <a:gridCol w="2275840"/>
              </a:tblGrid>
              <a:tr h="772160">
                <a:tc>
                  <a:txBody>
                    <a:bodyPr/>
                    <a:p>
                      <a:pPr>
                        <a:lnSpc>
                          <a:spcPct val="70000"/>
                        </a:lnSpc>
                        <a:buNone/>
                      </a:pPr>
                      <a:r>
                        <a:rPr lang="en-US" sz="1400" b="0">
                          <a:latin typeface="Times New Roman Regular" panose="02020603050405020304" charset="0"/>
                          <a:cs typeface="Times New Roman Regular" panose="02020603050405020304" charset="0"/>
                        </a:rPr>
                        <a:t>S/N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AUTHORS&amp; YEARS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PROBLEM STATEMENT</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METHODOLOGY</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DATASETS/RESULTS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LIMITATION</a:t>
                      </a:r>
                      <a:endParaRPr lang="en-US" sz="1400" b="0">
                        <a:latin typeface="Times New Roman Regular" panose="02020603050405020304" charset="0"/>
                        <a:cs typeface="Times New Roman Regular" panose="02020603050405020304" charset="0"/>
                      </a:endParaRPr>
                    </a:p>
                  </a:txBody>
                  <a:tcPr/>
                </a:tc>
              </a:tr>
              <a:tr h="1864360">
                <a:tc>
                  <a:txBody>
                    <a:bodyPr/>
                    <a:p>
                      <a:pPr>
                        <a:lnSpc>
                          <a:spcPct val="70000"/>
                        </a:lnSpc>
                        <a:buNone/>
                      </a:pPr>
                      <a:r>
                        <a:rPr lang="en-US" sz="1400" b="0">
                          <a:latin typeface="Times New Roman Regular" panose="02020603050405020304" charset="0"/>
                          <a:cs typeface="Times New Roman Regular" panose="02020603050405020304" charset="0"/>
                        </a:rPr>
                        <a:t>1</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Zeng et al. (2023)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Facial emotion recognition (FER) systems often have difficulty recognizing emotions that require contextual understanding, such as sarcasm or guilt.</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 long short-term memory (LSTM) network and visual attention model to exploit contextual information.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HAPPEI dataset, . The system achieved an accuracy of 55.17%, which is higher than the state-of-the-art methods.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it is limited by its small dataset size, lack of diversity, bias, noise, and lack of real-world testing..</a:t>
                      </a:r>
                      <a:endParaRPr lang="en-US" sz="1400" b="0">
                        <a:latin typeface="Times New Roman Regular" panose="02020603050405020304" charset="0"/>
                        <a:cs typeface="Times New Roman Regular" panose="02020603050405020304" charset="0"/>
                      </a:endParaRPr>
                    </a:p>
                  </a:txBody>
                  <a:tcPr/>
                </a:tc>
              </a:tr>
              <a:tr h="1560830">
                <a:tc>
                  <a:txBody>
                    <a:bodyPr/>
                    <a:p>
                      <a:pPr>
                        <a:lnSpc>
                          <a:spcPct val="70000"/>
                        </a:lnSpc>
                        <a:buNone/>
                      </a:pPr>
                      <a:r>
                        <a:rPr lang="en-US" sz="1400" b="0">
                          <a:latin typeface="Times New Roman Regular" panose="02020603050405020304" charset="0"/>
                          <a:cs typeface="Times New Roman Regular" panose="02020603050405020304" charset="0"/>
                        </a:rPr>
                        <a:t>2</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Kim et al. (2023)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FER systems often have difficulty detecting subtle emotions and micro-expressions. </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 convolutional neural network (CNN) with deformable action parts constraints for fine-grained recognition.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SMIC dataset,  The system achieved an average accuracy of 71.2%</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needs to be evaluated on larger and more diverse datasets.</a:t>
                      </a:r>
                      <a:endParaRPr lang="en-US" sz="1400" b="0">
                        <a:latin typeface="Times New Roman Regular" panose="02020603050405020304" charset="0"/>
                        <a:cs typeface="Times New Roman Regular" panose="02020603050405020304" charset="0"/>
                      </a:endParaRPr>
                    </a:p>
                  </a:txBody>
                  <a:tcPr/>
                </a:tc>
              </a:tr>
              <a:tr h="1888490">
                <a:tc>
                  <a:txBody>
                    <a:bodyPr/>
                    <a:p>
                      <a:pPr>
                        <a:lnSpc>
                          <a:spcPct val="70000"/>
                        </a:lnSpc>
                        <a:buNone/>
                      </a:pPr>
                      <a:r>
                        <a:rPr lang="en-US" sz="1400" b="0">
                          <a:latin typeface="Times New Roman Regular" panose="02020603050405020304" charset="0"/>
                          <a:cs typeface="Times New Roman Regular" panose="02020603050405020304" charset="0"/>
                        </a:rPr>
                        <a:t>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Ghimire et al. (2020)</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Facial emotion recognition (FER) systems often have difficulty generalizing to new datasets.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an ensemble of deep neural networks (DNNs), including convolutional neural networks (CNNs) and deep belief networks (DBNs).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FER-2013 dataset,  The system achieved an accuracy of 84.3%, which is higher than the state-of-the-art methods at the time.</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does not consider temporal video information, which can be useful for recognizing emotions that require contextual understanding.</a:t>
                      </a:r>
                      <a:endParaRPr lang="en-US" sz="1400" b="0">
                        <a:latin typeface="Times New Roman Regular" panose="02020603050405020304" charset="0"/>
                        <a:cs typeface="Times New Roman Regular" panose="02020603050405020304"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graphicFrame>
        <p:nvGraphicFramePr>
          <p:cNvPr id="5" name="Content Placeholder 4"/>
          <p:cNvGraphicFramePr/>
          <p:nvPr>
            <p:ph idx="1"/>
          </p:nvPr>
        </p:nvGraphicFramePr>
        <p:xfrm>
          <a:off x="20320" y="665480"/>
          <a:ext cx="12150725" cy="6055995"/>
        </p:xfrm>
        <a:graphic>
          <a:graphicData uri="http://schemas.openxmlformats.org/drawingml/2006/table">
            <a:tbl>
              <a:tblPr firstRow="1" bandRow="1">
                <a:tableStyleId>{5C22544A-7EE6-4342-B048-85BDC9FD1C3A}</a:tableStyleId>
              </a:tblPr>
              <a:tblGrid>
                <a:gridCol w="382905"/>
                <a:gridCol w="1057910"/>
                <a:gridCol w="2577465"/>
                <a:gridCol w="3242945"/>
                <a:gridCol w="2613660"/>
                <a:gridCol w="2275840"/>
              </a:tblGrid>
              <a:tr h="831215">
                <a:tc>
                  <a:txBody>
                    <a:bodyPr/>
                    <a:p>
                      <a:pPr>
                        <a:lnSpc>
                          <a:spcPct val="70000"/>
                        </a:lnSpc>
                        <a:buNone/>
                      </a:pPr>
                      <a:r>
                        <a:rPr lang="en-US" sz="1400" b="0">
                          <a:latin typeface="Times New Roman Regular" panose="02020603050405020304" charset="0"/>
                          <a:cs typeface="Times New Roman Regular" panose="02020603050405020304" charset="0"/>
                        </a:rPr>
                        <a:t>4</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Zeng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(2018)</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in recognizing emotions requiring contextual understanding.</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LSTM and visual attention model to exploit contextual information</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HAPPEI dataset.</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Achieved 55.17%</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accuracy.</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Tested only on posed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expressions in lab settings.</a:t>
                      </a:r>
                      <a:endParaRPr lang="en-US" sz="1400" b="0">
                        <a:latin typeface="Times New Roman Regular" panose="02020603050405020304" charset="0"/>
                        <a:cs typeface="Times New Roman Regular" panose="02020603050405020304" charset="0"/>
                      </a:endParaRPr>
                    </a:p>
                  </a:txBody>
                  <a:tcPr/>
                </a:tc>
              </a:tr>
              <a:tr h="850265">
                <a:tc>
                  <a:txBody>
                    <a:bodyPr/>
                    <a:p>
                      <a:pPr>
                        <a:lnSpc>
                          <a:spcPct val="70000"/>
                        </a:lnSpc>
                        <a:buNone/>
                      </a:pPr>
                      <a:r>
                        <a:rPr lang="en-US" sz="1400" b="0">
                          <a:latin typeface="Times New Roman Regular" panose="02020603050405020304" charset="0"/>
                          <a:cs typeface="Times New Roman Regular" panose="02020603050405020304" charset="0"/>
                        </a:rPr>
                        <a:t>5</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Kim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(2017)</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Limitations in detecting micro-expressions and subtle emotions.</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CNN with deformable action parts constraints for fine-grained recognition.</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SMIC dataset. Obtained 71.2% average accuracy for micro-expressions.</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Constrained real-world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conditions like illumination</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and occlusion not addressed.</a:t>
                      </a:r>
                      <a:endParaRPr lang="en-US" sz="1400" b="0">
                        <a:latin typeface="Times New Roman Regular" panose="02020603050405020304" charset="0"/>
                        <a:cs typeface="Times New Roman Regular" panose="02020603050405020304" charset="0"/>
                      </a:endParaRPr>
                    </a:p>
                  </a:txBody>
                  <a:tcPr/>
                </a:tc>
              </a:tr>
              <a:tr h="849630">
                <a:tc>
                  <a:txBody>
                    <a:bodyPr/>
                    <a:p>
                      <a:pPr>
                        <a:lnSpc>
                          <a:spcPct val="70000"/>
                        </a:lnSpc>
                        <a:buNone/>
                      </a:pPr>
                      <a:r>
                        <a:rPr lang="en-US" sz="1400" b="0">
                          <a:latin typeface="Times New Roman Regular" panose="02020603050405020304" charset="0"/>
                          <a:cs typeface="Times New Roman Regular" panose="02020603050405020304" charset="0"/>
                        </a:rPr>
                        <a:t>6</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Jung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(2015)</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of recognizing subtle</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facial movements and micro-</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expressions.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CNN and LSTM neural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 architecture.</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CK+ dataset. Obtained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85.67% accuracy.</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Focused only on peak</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emotions, not transitions.</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r>
              <a:tr h="967740">
                <a:tc>
                  <a:txBody>
                    <a:bodyPr/>
                    <a:p>
                      <a:pPr>
                        <a:lnSpc>
                          <a:spcPct val="70000"/>
                        </a:lnSpc>
                        <a:buNone/>
                      </a:pPr>
                      <a:r>
                        <a:rPr lang="en-US" sz="1400" b="0">
                          <a:latin typeface="Times New Roman Regular" panose="02020603050405020304" charset="0"/>
                          <a:cs typeface="Times New Roman Regular" panose="02020603050405020304" charset="0"/>
                        </a:rPr>
                        <a:t>7</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Liu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(2014)</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Challenging to extract</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discriminative facial patches</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and learn robust features.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Boosted Deep Belief</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 using facial landmarks.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CK+, MMI, and FERG datasets. Achieved over 90% accuracy.</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Computationally expensive feature extraction process.</a:t>
                      </a:r>
                      <a:endParaRPr lang="en-US" sz="1400" b="0">
                        <a:latin typeface="Times New Roman Regular" panose="02020603050405020304" charset="0"/>
                        <a:cs typeface="Times New Roman Regular" panose="02020603050405020304" charset="0"/>
                        <a:sym typeface="+mn-ea"/>
                      </a:endParaRPr>
                    </a:p>
                  </a:txBody>
                  <a:tcPr/>
                </a:tc>
              </a:tr>
              <a:tr h="835660">
                <a:tc>
                  <a:txBody>
                    <a:bodyPr/>
                    <a:p>
                      <a:pPr>
                        <a:lnSpc>
                          <a:spcPct val="70000"/>
                        </a:lnSpc>
                        <a:buNone/>
                      </a:pPr>
                      <a:r>
                        <a:rPr lang="en-US" sz="1400" b="0">
                          <a:latin typeface="Times New Roman Regular" panose="02020603050405020304" charset="0"/>
                          <a:cs typeface="Times New Roman Regular" panose="02020603050405020304" charset="0"/>
                        </a:rPr>
                        <a:t>8</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Jaiswal &amp;</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Valstar</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(2016)</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Recognizing action units and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emotions from limited training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data.</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Bi-directional LSTM neural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networks with 3D CNN features.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BP4D, DISFA, and SEMAINE datasets. Obtained 62%</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average F1 score.</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Did not focus on detecting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specific emotions.</a:t>
                      </a:r>
                      <a:endParaRPr lang="en-US" sz="1400" b="0">
                        <a:latin typeface="Times New Roman Regular" panose="02020603050405020304" charset="0"/>
                        <a:cs typeface="Times New Roman Regular" panose="02020603050405020304" charset="0"/>
                      </a:endParaRPr>
                    </a:p>
                  </a:txBody>
                  <a:tcPr/>
                </a:tc>
              </a:tr>
              <a:tr h="828040">
                <a:tc>
                  <a:txBody>
                    <a:bodyPr/>
                    <a:p>
                      <a:pPr>
                        <a:lnSpc>
                          <a:spcPct val="70000"/>
                        </a:lnSpc>
                        <a:buNone/>
                      </a:pPr>
                      <a:r>
                        <a:rPr lang="en-US" sz="1400" b="0">
                          <a:latin typeface="Times New Roman Regular" panose="02020603050405020304" charset="0"/>
                          <a:cs typeface="Times New Roman Regular" panose="02020603050405020304" charset="0"/>
                        </a:rPr>
                        <a:t>9</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Jung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(2014)</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in detecting emotions</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from low-resolution facial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images.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deep network combining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CNN and RNN with boosting.</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Multi-PIE dataset. Achieved over 80% accuracy from low-</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resolution images.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Only evaluated on lab-</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controlled dataset.</a:t>
                      </a:r>
                      <a:endParaRPr lang="en-US" sz="1400" b="0">
                        <a:latin typeface="Times New Roman Regular" panose="02020603050405020304" charset="0"/>
                        <a:cs typeface="Times New Roman Regular" panose="02020603050405020304" charset="0"/>
                      </a:endParaRPr>
                    </a:p>
                  </a:txBody>
                  <a:tcPr/>
                </a:tc>
              </a:tr>
              <a:tr h="893445">
                <a:tc>
                  <a:txBody>
                    <a:bodyPr/>
                    <a:p>
                      <a:pPr>
                        <a:lnSpc>
                          <a:spcPct val="70000"/>
                        </a:lnSpc>
                        <a:buNone/>
                      </a:pPr>
                      <a:r>
                        <a:rPr lang="en-US" sz="1400" b="0">
                          <a:latin typeface="Times New Roman Regular" panose="02020603050405020304" charset="0"/>
                          <a:cs typeface="Times New Roman Regular" panose="02020603050405020304" charset="0"/>
                        </a:rPr>
                        <a:t>10</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Liu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(2013)</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Handling large variations in</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facial expression intensity,</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image conditions.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3D CNN combined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with deformable model fitting.</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BU-3DFE dataset. Obtained over 85% average accuracy.</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Computationally intensive 3D modeling</a:t>
                      </a:r>
                      <a:endParaRPr lang="en-US" sz="1400" b="0">
                        <a:latin typeface="Times New Roman Regular" panose="02020603050405020304" charset="0"/>
                        <a:cs typeface="Times New Roman Regular" panose="02020603050405020304" charset="0"/>
                        <a:sym typeface="+mn-ea"/>
                      </a:endParaRPr>
                    </a:p>
                  </a:txBody>
                  <a:tcPr/>
                </a:tc>
              </a:tr>
            </a:tbl>
          </a:graphicData>
        </a:graphic>
      </p:graphicFrame>
      <p:sp>
        <p:nvSpPr>
          <p:cNvPr id="6" name="Title 5"/>
          <p:cNvSpPr>
            <a:spLocks noGrp="1"/>
          </p:cNvSpPr>
          <p:nvPr>
            <p:ph type="title"/>
          </p:nvPr>
        </p:nvSpPr>
        <p:spPr>
          <a:xfrm>
            <a:off x="381000" y="295275"/>
            <a:ext cx="10972800" cy="300355"/>
          </a:xfrm>
        </p:spPr>
        <p:txBody>
          <a:bodyPr>
            <a:normAutofit fontScale="90000"/>
          </a:bodyPr>
          <a:p>
            <a:r>
              <a:rPr lang="en-US" sz="2000"/>
              <a:t>LITERATURE REVIEW TABLE</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58800" y="410845"/>
            <a:ext cx="10972800" cy="413385"/>
          </a:xfrm>
        </p:spPr>
        <p:txBody>
          <a:bodyPr/>
          <a:p>
            <a:pPr algn="ctr"/>
            <a:r>
              <a:rPr lang="en-US" sz="2800"/>
              <a:t>PROBLEM STATEMENT</a:t>
            </a:r>
            <a:endParaRPr lang="en-US" sz="2800"/>
          </a:p>
        </p:txBody>
      </p:sp>
      <p:sp>
        <p:nvSpPr>
          <p:cNvPr id="3" name="Content Placeholder 2"/>
          <p:cNvSpPr>
            <a:spLocks noGrp="1"/>
          </p:cNvSpPr>
          <p:nvPr>
            <p:ph idx="1"/>
          </p:nvPr>
        </p:nvSpPr>
        <p:spPr>
          <a:xfrm>
            <a:off x="50800" y="2132330"/>
            <a:ext cx="12090400" cy="3425190"/>
          </a:xfrm>
        </p:spPr>
        <p:txBody>
          <a:bodyPr>
            <a:noAutofit/>
          </a:bodyPr>
          <a:p>
            <a:pPr marL="0" indent="0">
              <a:buNone/>
            </a:pPr>
            <a:r>
              <a:rPr lang="en-US" sz="2000"/>
              <a:t> AI-based solutions for facial emotion recognition and detection (FERD) are limited in their ability to generalize across diverse datasets, capture temporal dynamics, detect subtle and transitional emotions, and handle real-world challenges. This hinders their real-world applicability and adaptability.</a:t>
            </a: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AIMS AND OBJECTIVES</a:t>
            </a:r>
            <a:endParaRPr lang="en-US" sz="2400"/>
          </a:p>
        </p:txBody>
      </p:sp>
      <p:sp>
        <p:nvSpPr>
          <p:cNvPr id="3" name="Content Placeholder 2"/>
          <p:cNvSpPr>
            <a:spLocks noGrp="1"/>
          </p:cNvSpPr>
          <p:nvPr>
            <p:ph idx="1"/>
          </p:nvPr>
        </p:nvSpPr>
        <p:spPr>
          <a:xfrm>
            <a:off x="135255" y="1241425"/>
            <a:ext cx="11921490" cy="5616575"/>
          </a:xfrm>
        </p:spPr>
        <p:txBody>
          <a:bodyPr/>
          <a:p>
            <a:pPr marL="0" indent="0">
              <a:buNone/>
            </a:pPr>
            <a:r>
              <a:rPr lang="en-US" sz="1600"/>
              <a:t>Aim of the project:</a:t>
            </a:r>
            <a:endParaRPr lang="en-US" sz="1600"/>
          </a:p>
          <a:p>
            <a:pPr marL="0" indent="0">
              <a:buNone/>
            </a:pPr>
            <a:endParaRPr lang="en-US" sz="1600"/>
          </a:p>
          <a:p>
            <a:pPr marL="0" indent="0">
              <a:buNone/>
            </a:pPr>
            <a:r>
              <a:rPr lang="en-US" sz="1600"/>
              <a:t>The aim of this project is to develop a robust facial emotion recognition and detection system that can achieve over 60% accuracy in training and in real-time usage. </a:t>
            </a:r>
            <a:endParaRPr lang="en-US" sz="1600"/>
          </a:p>
          <a:p>
            <a:pPr marL="0" indent="0">
              <a:buNone/>
            </a:pPr>
            <a:endParaRPr lang="en-US" sz="1600"/>
          </a:p>
          <a:p>
            <a:pPr marL="0" indent="0">
              <a:buNone/>
            </a:pPr>
            <a:r>
              <a:rPr lang="en-US" sz="1600">
                <a:sym typeface="+mn-ea"/>
              </a:rPr>
              <a:t>SPECIFIC OBJECTIVES</a:t>
            </a:r>
            <a:endParaRPr lang="en-US" sz="1600"/>
          </a:p>
          <a:p>
            <a:pPr marL="0" indent="0">
              <a:buNone/>
            </a:pPr>
            <a:endParaRPr lang="en-US" sz="1600"/>
          </a:p>
          <a:p>
            <a:pPr marL="342900" indent="-342900">
              <a:buAutoNum type="arabicPeriod"/>
            </a:pPr>
            <a:r>
              <a:rPr lang="en-US" sz="1600"/>
              <a:t>Developing a Convolutional Neural Network (CNN) model that is specifically designed to be robust to variations in lighting, occlusion, and pose.</a:t>
            </a:r>
            <a:endParaRPr lang="en-US" sz="1600"/>
          </a:p>
          <a:p>
            <a:pPr marL="342900" indent="-342900">
              <a:buAutoNum type="arabicPeriod"/>
            </a:pPr>
            <a:endParaRPr lang="en-US" sz="1600"/>
          </a:p>
          <a:p>
            <a:pPr marL="342900" indent="-342900">
              <a:buAutoNum type="arabicPeriod"/>
            </a:pPr>
            <a:r>
              <a:rPr lang="en-US" sz="1600"/>
              <a:t>Training the model on a comprehensive dataset that includes seven classes of emotional states.</a:t>
            </a:r>
            <a:endParaRPr lang="en-US" sz="1600"/>
          </a:p>
          <a:p>
            <a:pPr marL="342900" indent="-342900">
              <a:buAutoNum type="arabicPeriod"/>
            </a:pPr>
            <a:endParaRPr lang="en-US" sz="1600"/>
          </a:p>
          <a:p>
            <a:pPr marL="342900" indent="-342900">
              <a:buAutoNum type="arabicPeriod"/>
            </a:pPr>
            <a:r>
              <a:rPr lang="en-US" sz="1600"/>
              <a:t>Evaluating the system</a:t>
            </a:r>
            <a:endParaRPr lang="en-US" sz="1600"/>
          </a:p>
          <a:p>
            <a:pPr marL="342900" indent="-342900">
              <a:buAutoNum type="arabicPeriod"/>
            </a:pPr>
            <a:endParaRPr lang="en-US" sz="1600"/>
          </a:p>
          <a:p>
            <a:pPr marL="342900" indent="-342900">
              <a:buAutoNum type="arabicPeriod"/>
            </a:pPr>
            <a:r>
              <a:rPr lang="en-US" sz="1600"/>
              <a:t>Deploy the model, for real time usage</a:t>
            </a:r>
            <a:endParaRPr lang="en-US" sz="1600"/>
          </a:p>
          <a:p>
            <a:pPr marL="342900" indent="-342900">
              <a:buAutoNum type="arabicPeriod"/>
            </a:pP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12087860" cy="6230620"/>
          </a:xfrm>
        </p:spPr>
        <p:txBody>
          <a:bodyPr/>
          <a:p>
            <a:pPr marL="0" indent="0">
              <a:buNone/>
            </a:pPr>
            <a:r>
              <a:rPr lang="en-US" sz="1400"/>
              <a:t>In the pursuit of advancing Facial Emotion Recognition and Detection using Artificial Intelligence, this methodology outlines a systematic approach to harness the power of TensorFlow 2.0 and Keras. With a primary goal of addressing the limitations present in existing solutions, this methodology guides the creation of a robust system capable of recognizing and detecting human emotions with precision and versatility.</a:t>
            </a:r>
            <a:endParaRPr lang="en-US" sz="1400"/>
          </a:p>
          <a:p>
            <a:pPr marL="0" indent="0">
              <a:buNone/>
            </a:pPr>
            <a:endParaRPr lang="en-US" sz="1400"/>
          </a:p>
          <a:p>
            <a:pPr marL="0" indent="0">
              <a:buNone/>
            </a:pPr>
            <a:r>
              <a:rPr lang="en-US" sz="1400"/>
              <a:t>1. Data Collection and Preprocessing:</a:t>
            </a:r>
            <a:endParaRPr lang="en-US" sz="1400"/>
          </a:p>
          <a:p>
            <a:pPr marL="0" indent="0">
              <a:buNone/>
            </a:pPr>
            <a:endParaRPr lang="en-US" sz="1400"/>
          </a:p>
          <a:p>
            <a:pPr marL="0" indent="0">
              <a:buNone/>
            </a:pPr>
            <a:r>
              <a:rPr lang="en-US" sz="1400"/>
              <a:t>a. Dataset Selection: Utilize two widely recognized facial expression datasets, FER2013 and AffectNet, to create a comprehensive dataset for training and testing.</a:t>
            </a:r>
            <a:endParaRPr lang="en-US" sz="1400"/>
          </a:p>
          <a:p>
            <a:pPr marL="0" indent="0">
              <a:buNone/>
            </a:pPr>
            <a:r>
              <a:rPr lang="en-US" sz="1400"/>
              <a:t>b. Image Resizing: Resize all images from their original sizes (48x48 and 96x96) to a uniform size of 128x128 pixels. This step ensures consistency in image dimensions and enhances the model's ability to capture fine-grained features.</a:t>
            </a:r>
            <a:endParaRPr lang="en-US" sz="1400"/>
          </a:p>
          <a:p>
            <a:pPr marL="0" indent="0">
              <a:buNone/>
            </a:pPr>
            <a:r>
              <a:rPr lang="en-US" sz="1400"/>
              <a:t>c. Data Augmentation: Perform data augmentation by horizontally flipping each image, effectively doubling the dataset size. Save the flipped images in a same directory for further processing.</a:t>
            </a:r>
            <a:endParaRPr lang="en-US" sz="1400"/>
          </a:p>
          <a:p>
            <a:pPr marL="0" indent="0">
              <a:buNone/>
            </a:pPr>
            <a:endParaRPr lang="en-US" sz="1400"/>
          </a:p>
          <a:p>
            <a:pPr marL="0" indent="0">
              <a:buNone/>
            </a:pPr>
            <a:endParaRPr lang="en-US" sz="14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188595" y="3825240"/>
            <a:ext cx="4331970" cy="2140585"/>
          </a:xfrm>
          <a:prstGeom prst="rect">
            <a:avLst/>
          </a:prstGeom>
        </p:spPr>
      </p:pic>
      <p:pic>
        <p:nvPicPr>
          <p:cNvPr id="7" name="Picture 6"/>
          <p:cNvPicPr>
            <a:picLocks noChangeAspect="1"/>
          </p:cNvPicPr>
          <p:nvPr/>
        </p:nvPicPr>
        <p:blipFill>
          <a:blip r:embed="rId2"/>
          <a:stretch>
            <a:fillRect/>
          </a:stretch>
        </p:blipFill>
        <p:spPr>
          <a:xfrm>
            <a:off x="6583680" y="3655695"/>
            <a:ext cx="967105" cy="948690"/>
          </a:xfrm>
          <a:prstGeom prst="rect">
            <a:avLst/>
          </a:prstGeom>
        </p:spPr>
      </p:pic>
      <p:sp>
        <p:nvSpPr>
          <p:cNvPr id="8" name="Text Box 7"/>
          <p:cNvSpPr txBox="1"/>
          <p:nvPr/>
        </p:nvSpPr>
        <p:spPr>
          <a:xfrm>
            <a:off x="6689725" y="4820285"/>
            <a:ext cx="754380" cy="368300"/>
          </a:xfrm>
          <a:prstGeom prst="rect">
            <a:avLst/>
          </a:prstGeom>
          <a:noFill/>
        </p:spPr>
        <p:txBody>
          <a:bodyPr wrap="none" rtlCol="0">
            <a:spAutoFit/>
          </a:bodyPr>
          <a:p>
            <a:r>
              <a:rPr lang="en-US"/>
              <a:t>angry</a:t>
            </a:r>
            <a:endParaRPr lang="en-US"/>
          </a:p>
        </p:txBody>
      </p:sp>
      <p:sp>
        <p:nvSpPr>
          <p:cNvPr id="9" name="Text Box 8"/>
          <p:cNvSpPr txBox="1"/>
          <p:nvPr/>
        </p:nvSpPr>
        <p:spPr>
          <a:xfrm>
            <a:off x="8001000" y="4820285"/>
            <a:ext cx="927735" cy="368300"/>
          </a:xfrm>
          <a:prstGeom prst="rect">
            <a:avLst/>
          </a:prstGeom>
          <a:noFill/>
        </p:spPr>
        <p:txBody>
          <a:bodyPr wrap="none" rtlCol="0">
            <a:spAutoFit/>
          </a:bodyPr>
          <a:p>
            <a:r>
              <a:rPr lang="en-US"/>
              <a:t>disgust</a:t>
            </a:r>
            <a:endParaRPr lang="en-US"/>
          </a:p>
        </p:txBody>
      </p:sp>
      <p:pic>
        <p:nvPicPr>
          <p:cNvPr id="10" name="Picture 9"/>
          <p:cNvPicPr>
            <a:picLocks noChangeAspect="1"/>
          </p:cNvPicPr>
          <p:nvPr/>
        </p:nvPicPr>
        <p:blipFill>
          <a:blip r:embed="rId3"/>
          <a:stretch>
            <a:fillRect/>
          </a:stretch>
        </p:blipFill>
        <p:spPr>
          <a:xfrm>
            <a:off x="8001000" y="3655695"/>
            <a:ext cx="953135" cy="948690"/>
          </a:xfrm>
          <a:prstGeom prst="rect">
            <a:avLst/>
          </a:prstGeom>
        </p:spPr>
      </p:pic>
      <p:sp>
        <p:nvSpPr>
          <p:cNvPr id="11" name="Text Box 10"/>
          <p:cNvSpPr txBox="1"/>
          <p:nvPr/>
        </p:nvSpPr>
        <p:spPr>
          <a:xfrm>
            <a:off x="9485630" y="4820285"/>
            <a:ext cx="572135" cy="368300"/>
          </a:xfrm>
          <a:prstGeom prst="rect">
            <a:avLst/>
          </a:prstGeom>
          <a:noFill/>
        </p:spPr>
        <p:txBody>
          <a:bodyPr wrap="none" rtlCol="0">
            <a:spAutoFit/>
          </a:bodyPr>
          <a:p>
            <a:r>
              <a:rPr lang="en-US"/>
              <a:t>fear</a:t>
            </a:r>
            <a:endParaRPr lang="en-US"/>
          </a:p>
        </p:txBody>
      </p:sp>
      <p:sp>
        <p:nvSpPr>
          <p:cNvPr id="12" name="Text Box 11"/>
          <p:cNvSpPr txBox="1"/>
          <p:nvPr/>
        </p:nvSpPr>
        <p:spPr>
          <a:xfrm>
            <a:off x="10896600" y="4800600"/>
            <a:ext cx="817245" cy="368300"/>
          </a:xfrm>
          <a:prstGeom prst="rect">
            <a:avLst/>
          </a:prstGeom>
          <a:noFill/>
        </p:spPr>
        <p:txBody>
          <a:bodyPr wrap="none" rtlCol="0">
            <a:spAutoFit/>
          </a:bodyPr>
          <a:p>
            <a:r>
              <a:rPr lang="en-US"/>
              <a:t>happy</a:t>
            </a:r>
            <a:endParaRPr lang="en-US"/>
          </a:p>
        </p:txBody>
      </p:sp>
      <p:sp>
        <p:nvSpPr>
          <p:cNvPr id="13" name="Text Box 12"/>
          <p:cNvSpPr txBox="1"/>
          <p:nvPr/>
        </p:nvSpPr>
        <p:spPr>
          <a:xfrm>
            <a:off x="9677400" y="6400800"/>
            <a:ext cx="999490" cy="368300"/>
          </a:xfrm>
          <a:prstGeom prst="rect">
            <a:avLst/>
          </a:prstGeom>
          <a:noFill/>
        </p:spPr>
        <p:txBody>
          <a:bodyPr wrap="none" rtlCol="0">
            <a:spAutoFit/>
          </a:bodyPr>
          <a:p>
            <a:r>
              <a:rPr lang="en-US"/>
              <a:t>surprise</a:t>
            </a:r>
            <a:endParaRPr lang="en-US"/>
          </a:p>
        </p:txBody>
      </p:sp>
      <p:sp>
        <p:nvSpPr>
          <p:cNvPr id="14" name="Text Box 13"/>
          <p:cNvSpPr txBox="1"/>
          <p:nvPr/>
        </p:nvSpPr>
        <p:spPr>
          <a:xfrm>
            <a:off x="8187055" y="6400800"/>
            <a:ext cx="554990" cy="368300"/>
          </a:xfrm>
          <a:prstGeom prst="rect">
            <a:avLst/>
          </a:prstGeom>
          <a:noFill/>
        </p:spPr>
        <p:txBody>
          <a:bodyPr wrap="none" rtlCol="0">
            <a:spAutoFit/>
          </a:bodyPr>
          <a:p>
            <a:r>
              <a:rPr lang="en-US"/>
              <a:t>sad</a:t>
            </a:r>
            <a:endParaRPr lang="en-US"/>
          </a:p>
        </p:txBody>
      </p:sp>
      <p:sp>
        <p:nvSpPr>
          <p:cNvPr id="15" name="Text Box 14"/>
          <p:cNvSpPr txBox="1"/>
          <p:nvPr/>
        </p:nvSpPr>
        <p:spPr>
          <a:xfrm>
            <a:off x="6629400" y="6400800"/>
            <a:ext cx="880745" cy="368300"/>
          </a:xfrm>
          <a:prstGeom prst="rect">
            <a:avLst/>
          </a:prstGeom>
          <a:noFill/>
        </p:spPr>
        <p:txBody>
          <a:bodyPr wrap="none" rtlCol="0">
            <a:spAutoFit/>
          </a:bodyPr>
          <a:p>
            <a:r>
              <a:rPr lang="en-US"/>
              <a:t>neutral</a:t>
            </a:r>
            <a:endParaRPr lang="en-US"/>
          </a:p>
        </p:txBody>
      </p:sp>
      <p:pic>
        <p:nvPicPr>
          <p:cNvPr id="16" name="Picture 15"/>
          <p:cNvPicPr>
            <a:picLocks noChangeAspect="1"/>
          </p:cNvPicPr>
          <p:nvPr/>
        </p:nvPicPr>
        <p:blipFill>
          <a:blip r:embed="rId4"/>
          <a:stretch>
            <a:fillRect/>
          </a:stretch>
        </p:blipFill>
        <p:spPr>
          <a:xfrm>
            <a:off x="9170035" y="3571875"/>
            <a:ext cx="1203960" cy="1228725"/>
          </a:xfrm>
          <a:prstGeom prst="rect">
            <a:avLst/>
          </a:prstGeom>
        </p:spPr>
      </p:pic>
      <p:pic>
        <p:nvPicPr>
          <p:cNvPr id="17" name="Picture 16"/>
          <p:cNvPicPr>
            <a:picLocks noChangeAspect="1"/>
          </p:cNvPicPr>
          <p:nvPr/>
        </p:nvPicPr>
        <p:blipFill>
          <a:blip r:embed="rId5"/>
          <a:stretch>
            <a:fillRect/>
          </a:stretch>
        </p:blipFill>
        <p:spPr>
          <a:xfrm>
            <a:off x="10589895" y="3521075"/>
            <a:ext cx="1350645" cy="1330960"/>
          </a:xfrm>
          <a:prstGeom prst="rect">
            <a:avLst/>
          </a:prstGeom>
        </p:spPr>
      </p:pic>
      <p:pic>
        <p:nvPicPr>
          <p:cNvPr id="18" name="Picture 17"/>
          <p:cNvPicPr>
            <a:picLocks noChangeAspect="1"/>
          </p:cNvPicPr>
          <p:nvPr/>
        </p:nvPicPr>
        <p:blipFill>
          <a:blip r:embed="rId6"/>
          <a:stretch>
            <a:fillRect/>
          </a:stretch>
        </p:blipFill>
        <p:spPr>
          <a:xfrm>
            <a:off x="6481445" y="5222875"/>
            <a:ext cx="1138555" cy="1133475"/>
          </a:xfrm>
          <a:prstGeom prst="rect">
            <a:avLst/>
          </a:prstGeom>
        </p:spPr>
      </p:pic>
      <p:pic>
        <p:nvPicPr>
          <p:cNvPr id="19" name="Picture 18"/>
          <p:cNvPicPr>
            <a:picLocks noChangeAspect="1"/>
          </p:cNvPicPr>
          <p:nvPr/>
        </p:nvPicPr>
        <p:blipFill>
          <a:blip r:embed="rId7"/>
          <a:stretch>
            <a:fillRect/>
          </a:stretch>
        </p:blipFill>
        <p:spPr>
          <a:xfrm>
            <a:off x="7854950" y="5124450"/>
            <a:ext cx="1316990" cy="1330325"/>
          </a:xfrm>
          <a:prstGeom prst="rect">
            <a:avLst/>
          </a:prstGeom>
        </p:spPr>
      </p:pic>
      <p:pic>
        <p:nvPicPr>
          <p:cNvPr id="20" name="Picture 19"/>
          <p:cNvPicPr>
            <a:picLocks noChangeAspect="1"/>
          </p:cNvPicPr>
          <p:nvPr/>
        </p:nvPicPr>
        <p:blipFill>
          <a:blip r:embed="rId8"/>
          <a:stretch>
            <a:fillRect/>
          </a:stretch>
        </p:blipFill>
        <p:spPr>
          <a:xfrm>
            <a:off x="9551670" y="5127625"/>
            <a:ext cx="1264920" cy="1228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12087860" cy="6230620"/>
          </a:xfrm>
        </p:spPr>
        <p:txBody>
          <a:bodyPr/>
          <a:p>
            <a:pPr marL="0" indent="0">
              <a:buNone/>
            </a:pPr>
            <a:endParaRPr lang="en-US" sz="1400"/>
          </a:p>
          <a:p>
            <a:pPr marL="0" indent="0">
              <a:buNone/>
            </a:pPr>
            <a:r>
              <a:rPr lang="en-US" sz="1400"/>
              <a:t>2. Face Detection and Isolation:</a:t>
            </a:r>
            <a:endParaRPr lang="en-US" sz="1400"/>
          </a:p>
          <a:p>
            <a:pPr marL="0" indent="0">
              <a:buNone/>
            </a:pPr>
            <a:endParaRPr lang="en-US" sz="1400"/>
          </a:p>
          <a:p>
            <a:pPr marL="0" indent="0">
              <a:buNone/>
            </a:pPr>
            <a:r>
              <a:rPr lang="en-US" sz="1400"/>
              <a:t>a. Face Detection: Utilize a pre-trained face detection model to identify and locate faces within each image. Popular models like Haar Cascades or deep learning-based face detectors can be considered.</a:t>
            </a:r>
            <a:endParaRPr lang="en-US" sz="1400"/>
          </a:p>
          <a:p>
            <a:pPr marL="0" indent="0">
              <a:buNone/>
            </a:pPr>
            <a:r>
              <a:rPr lang="en-US" sz="1400"/>
              <a:t>b. Background Removal: Once faces are detected, isolate them by making the background transparent. This step ensures that only the facial region is retained for further analysis.</a:t>
            </a:r>
            <a:endParaRPr lang="en-US" sz="1400"/>
          </a:p>
          <a:p>
            <a:pPr marL="0" indent="0">
              <a:buNone/>
            </a:pPr>
            <a:endParaRPr lang="en-US" sz="1400"/>
          </a:p>
          <a:p>
            <a:pPr marL="0" indent="0">
              <a:buNone/>
            </a:pPr>
            <a:endParaRPr lang="en-US" sz="14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59055" y="3102610"/>
            <a:ext cx="8733155" cy="2008505"/>
          </a:xfrm>
          <a:prstGeom prst="rect">
            <a:avLst/>
          </a:prstGeom>
        </p:spPr>
      </p:pic>
      <p:pic>
        <p:nvPicPr>
          <p:cNvPr id="9" name="Picture 8"/>
          <p:cNvPicPr>
            <a:picLocks noChangeAspect="1"/>
          </p:cNvPicPr>
          <p:nvPr/>
        </p:nvPicPr>
        <p:blipFill>
          <a:blip r:embed="rId2"/>
          <a:stretch>
            <a:fillRect/>
          </a:stretch>
        </p:blipFill>
        <p:spPr>
          <a:xfrm>
            <a:off x="9328785" y="3754755"/>
            <a:ext cx="2162810" cy="18611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66750"/>
          </a:xfrm>
        </p:spPr>
        <p:txBody>
          <a:bodyPr/>
          <a:p>
            <a:r>
              <a:rPr lang="en-US" sz="3200"/>
              <a:t>Proposed Methodology</a:t>
            </a:r>
            <a:endParaRPr lang="en-US" sz="3200"/>
          </a:p>
        </p:txBody>
      </p:sp>
      <p:sp>
        <p:nvSpPr>
          <p:cNvPr id="3" name="Content Placeholder 2"/>
          <p:cNvSpPr>
            <a:spLocks noGrp="1"/>
          </p:cNvSpPr>
          <p:nvPr>
            <p:ph idx="1"/>
          </p:nvPr>
        </p:nvSpPr>
        <p:spPr>
          <a:xfrm>
            <a:off x="0" y="3280410"/>
            <a:ext cx="12065000" cy="3521710"/>
          </a:xfrm>
        </p:spPr>
        <p:txBody>
          <a:bodyPr>
            <a:normAutofit lnSpcReduction="20000"/>
          </a:bodyPr>
          <a:p>
            <a:pPr marL="0" indent="0">
              <a:buNone/>
            </a:pPr>
            <a:r>
              <a:rPr lang="en-US" sz="1400"/>
              <a:t>3. Model Selection and Architecture:</a:t>
            </a:r>
            <a:endParaRPr lang="en-US" sz="1400"/>
          </a:p>
          <a:p>
            <a:pPr marL="0" indent="0">
              <a:buNone/>
            </a:pPr>
            <a:r>
              <a:rPr lang="en-US" sz="1400"/>
              <a:t>a. Convolutional Neural Network (CNN): Employ a CNN as the primary architecture for facial emotion recognition. CNNs are well-suited for image-</a:t>
            </a:r>
            <a:endParaRPr lang="en-US" sz="1400"/>
          </a:p>
          <a:p>
            <a:pPr marL="0" indent="0">
              <a:buNone/>
            </a:pPr>
            <a:r>
              <a:rPr lang="en-US" sz="1400"/>
              <a:t>related tasks and excel at feature extraction.</a:t>
            </a:r>
            <a:endParaRPr lang="en-US" sz="1400"/>
          </a:p>
          <a:p>
            <a:pPr marL="0" indent="0">
              <a:buNone/>
            </a:pPr>
            <a:r>
              <a:rPr lang="en-US" sz="1400"/>
              <a:t>b. Batch Normalization: Implement Batch Normalization along with convolutional layers to improve model training stability and convergence.</a:t>
            </a:r>
            <a:endParaRPr lang="en-US" sz="1400"/>
          </a:p>
          <a:p>
            <a:pPr marL="0" indent="0">
              <a:buNone/>
            </a:pPr>
            <a:r>
              <a:rPr lang="en-US" sz="1400"/>
              <a:t>c. K Classes: Define the output layer of the CNN to have seven classes, corresponding to the seven basic emotions (e.g., happy, sad, angry, etc.) for</a:t>
            </a:r>
            <a:endParaRPr lang="en-US" sz="1400"/>
          </a:p>
          <a:p>
            <a:pPr marL="0" indent="0">
              <a:buNone/>
            </a:pPr>
            <a:r>
              <a:rPr lang="en-US" sz="1400"/>
              <a:t> classification.</a:t>
            </a:r>
            <a:endParaRPr lang="en-US" sz="1400"/>
          </a:p>
          <a:p>
            <a:pPr marL="0" indent="0">
              <a:buNone/>
            </a:pPr>
            <a:endParaRPr lang="en-US" sz="1400"/>
          </a:p>
          <a:p>
            <a:pPr marL="0" indent="0">
              <a:buNone/>
            </a:pPr>
            <a:r>
              <a:rPr lang="en-US" sz="1400"/>
              <a:t>4. Experimentation and Architecture Refinement:</a:t>
            </a:r>
            <a:endParaRPr lang="en-US" sz="1400"/>
          </a:p>
          <a:p>
            <a:pPr marL="0" indent="0">
              <a:buNone/>
            </a:pPr>
            <a:r>
              <a:rPr lang="en-US" sz="1400"/>
              <a:t>a. Architecture Experimentation: Begin with an initial CNN architecture and experiment with various architectures, including different depths, layer configurations, and activation functions.</a:t>
            </a:r>
            <a:endParaRPr lang="en-US" sz="1400"/>
          </a:p>
          <a:p>
            <a:pPr marL="0" indent="0">
              <a:buNone/>
            </a:pPr>
            <a:r>
              <a:rPr lang="en-US" sz="1400"/>
              <a:t>b. Hyperparameter Tuning: Fine-tune hyperparameters such as learning rate, dropout rates, and batch size to optimize model performance.</a:t>
            </a:r>
            <a:endParaRPr lang="en-US" sz="1400"/>
          </a:p>
          <a:p>
            <a:pPr marL="0" indent="0">
              <a:buNone/>
            </a:pPr>
            <a:r>
              <a:rPr lang="en-US" sz="1400"/>
              <a:t>c. Validation and Testing: Evaluate the performance of each architecture using validation datasets and select the architecture that achieves the highest accuracy.</a:t>
            </a:r>
            <a:endParaRPr lang="en-US" sz="1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pic>
        <p:nvPicPr>
          <p:cNvPr id="8" name="Picture 7"/>
          <p:cNvPicPr>
            <a:picLocks noChangeAspect="1"/>
          </p:cNvPicPr>
          <p:nvPr/>
        </p:nvPicPr>
        <p:blipFill>
          <a:blip r:embed="rId1"/>
          <a:stretch>
            <a:fillRect/>
          </a:stretch>
        </p:blipFill>
        <p:spPr>
          <a:xfrm>
            <a:off x="91440" y="666750"/>
            <a:ext cx="6158865" cy="25139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95885"/>
            <a:ext cx="10972800" cy="506095"/>
          </a:xfrm>
        </p:spPr>
        <p:txBody>
          <a:bodyPr>
            <a:normAutofit/>
          </a:bodyPr>
          <a:p>
            <a:r>
              <a:rPr lang="en-US" sz="2400">
                <a:sym typeface="+mn-ea"/>
              </a:rPr>
              <a:t>Proposed Methodology</a:t>
            </a:r>
            <a:endParaRPr lang="en-US" sz="2400"/>
          </a:p>
        </p:txBody>
      </p:sp>
      <p:sp>
        <p:nvSpPr>
          <p:cNvPr id="3" name="Content Placeholder 2"/>
          <p:cNvSpPr>
            <a:spLocks noGrp="1"/>
          </p:cNvSpPr>
          <p:nvPr>
            <p:ph idx="1"/>
          </p:nvPr>
        </p:nvSpPr>
        <p:spPr>
          <a:xfrm>
            <a:off x="0" y="666750"/>
            <a:ext cx="9299575" cy="3893185"/>
          </a:xfrm>
        </p:spPr>
        <p:txBody>
          <a:bodyPr>
            <a:normAutofit/>
          </a:bodyPr>
          <a:p>
            <a:pPr marL="0" indent="0">
              <a:buNone/>
            </a:pPr>
            <a:r>
              <a:rPr lang="en-US" sz="1600"/>
              <a:t>5. Model Training and Evaluation:</a:t>
            </a:r>
            <a:endParaRPr lang="en-US" sz="1600"/>
          </a:p>
          <a:p>
            <a:pPr marL="0" indent="0">
              <a:buNone/>
            </a:pPr>
            <a:r>
              <a:rPr lang="en-US" sz="1600"/>
              <a:t>a. Training: Train the selected CNN architecture on the preprocessed dataset using appropriate loss functions and optimization techniques.</a:t>
            </a:r>
            <a:endParaRPr lang="en-US" sz="1600"/>
          </a:p>
          <a:p>
            <a:pPr marL="0" indent="0">
              <a:buNone/>
            </a:pPr>
            <a:r>
              <a:rPr lang="en-US" sz="1600"/>
              <a:t>b. Validation: Assess the model's performance on validation datasets to monitor training progress and prevent overfitting.</a:t>
            </a:r>
            <a:endParaRPr lang="en-US" sz="1600"/>
          </a:p>
          <a:p>
            <a:pPr marL="0" indent="0">
              <a:buNone/>
            </a:pPr>
            <a:r>
              <a:rPr lang="en-US" sz="1600"/>
              <a:t>c. Testing: Evaluate the final model on separate test datasets, including standard benchmarks, to measure its accuracy, precision, recall, F1-score, and other relevant metrics.</a:t>
            </a:r>
            <a:endParaRPr lang="en-US" sz="1600"/>
          </a:p>
          <a:p>
            <a:pPr marL="0" indent="0">
              <a:buNone/>
            </a:pPr>
            <a:endParaRPr lang="en-US" sz="1600"/>
          </a:p>
          <a:p>
            <a:pPr marL="0" indent="0">
              <a:buNone/>
            </a:pPr>
            <a:r>
              <a:rPr lang="en-US" sz="1600"/>
              <a:t>6. Documentation and Reporting:</a:t>
            </a:r>
            <a:endParaRPr lang="en-US" sz="1600"/>
          </a:p>
          <a:p>
            <a:pPr marL="0" indent="0">
              <a:buNone/>
            </a:pPr>
            <a:r>
              <a:rPr lang="en-US" sz="1600"/>
              <a:t>a. Documentation: Maintain detailed documentation of the entire methodology, including dataset sources, preprocessing steps, model architectures, and hyperparameter settings.</a:t>
            </a:r>
            <a:endParaRPr lang="en-US" sz="1600"/>
          </a:p>
          <a:p>
            <a:pPr marL="0" indent="0">
              <a:buNone/>
            </a:pPr>
            <a:r>
              <a:rPr lang="en-US" sz="1600"/>
              <a:t>b. Results: Summarize the results obtained during training and testing, including any challenges encountered and their resolutions.</a:t>
            </a:r>
            <a:endParaRPr lang="en-US" sz="1600"/>
          </a:p>
          <a:p>
            <a:pPr marL="0" indent="0">
              <a:buNone/>
            </a:pPr>
            <a:endParaRPr lang="en-US" sz="16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pic>
        <p:nvPicPr>
          <p:cNvPr id="7" name="Picture 6"/>
          <p:cNvPicPr>
            <a:picLocks noChangeAspect="1"/>
          </p:cNvPicPr>
          <p:nvPr/>
        </p:nvPicPr>
        <p:blipFill>
          <a:blip r:embed="rId1"/>
          <a:stretch>
            <a:fillRect/>
          </a:stretch>
        </p:blipFill>
        <p:spPr>
          <a:xfrm>
            <a:off x="100965" y="4624705"/>
            <a:ext cx="6291580" cy="2043430"/>
          </a:xfrm>
          <a:prstGeom prst="rect">
            <a:avLst/>
          </a:prstGeom>
        </p:spPr>
      </p:pic>
      <p:pic>
        <p:nvPicPr>
          <p:cNvPr id="8" name="Content Placeholder 4"/>
          <p:cNvPicPr>
            <a:picLocks noChangeAspect="1"/>
          </p:cNvPicPr>
          <p:nvPr/>
        </p:nvPicPr>
        <p:blipFill>
          <a:blip r:embed="rId2"/>
          <a:stretch>
            <a:fillRect/>
          </a:stretch>
        </p:blipFill>
        <p:spPr>
          <a:xfrm>
            <a:off x="9055100" y="482600"/>
            <a:ext cx="3066415" cy="4351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2055" y="234950"/>
            <a:ext cx="9787890" cy="659765"/>
          </a:xfrm>
        </p:spPr>
        <p:txBody>
          <a:bodyPr/>
          <a:p>
            <a:r>
              <a:rPr lang="en-US" sz="3200"/>
              <a:t>EXPECTED CONTRIBUTION TO KNOWLEDGE</a:t>
            </a:r>
            <a:endParaRPr lang="en-US" sz="3200"/>
          </a:p>
        </p:txBody>
      </p:sp>
      <p:sp>
        <p:nvSpPr>
          <p:cNvPr id="3" name="Content Placeholder 2"/>
          <p:cNvSpPr>
            <a:spLocks noGrp="1"/>
          </p:cNvSpPr>
          <p:nvPr>
            <p:ph idx="1"/>
          </p:nvPr>
        </p:nvSpPr>
        <p:spPr/>
        <p:txBody>
          <a:bodyPr/>
          <a:p>
            <a:pPr marL="0" indent="0">
              <a:buNone/>
            </a:pPr>
            <a:r>
              <a:rPr lang="en-US" sz="2400"/>
              <a:t>This project has the potential to develop a robust facial emotion recognition and detection system that can have a significant impact on a variety of real-world applications.</a:t>
            </a:r>
            <a:endParaRPr 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50850"/>
          </a:xfrm>
        </p:spPr>
        <p:txBody>
          <a:bodyPr/>
          <a:p>
            <a:r>
              <a:rPr lang="en-US" sz="2400"/>
              <a:t>REFERENCES </a:t>
            </a:r>
            <a:endParaRPr lang="en-US" sz="2400"/>
          </a:p>
        </p:txBody>
      </p:sp>
      <p:sp>
        <p:nvSpPr>
          <p:cNvPr id="3" name="Content Placeholder 2"/>
          <p:cNvSpPr>
            <a:spLocks noGrp="1"/>
          </p:cNvSpPr>
          <p:nvPr>
            <p:ph idx="1"/>
          </p:nvPr>
        </p:nvSpPr>
        <p:spPr>
          <a:xfrm>
            <a:off x="59690" y="328295"/>
            <a:ext cx="12073255" cy="6586220"/>
          </a:xfrm>
        </p:spPr>
        <p:txBody>
          <a:bodyPr>
            <a:normAutofit lnSpcReduction="10000"/>
          </a:bodyPr>
          <a:p>
            <a:endParaRPr lang="en-US" sz="1400"/>
          </a:p>
          <a:p>
            <a:r>
              <a:rPr lang="en-US" sz="1600"/>
              <a:t>Zeng, J., Zhang, X., Xu, C., &amp; Yang, H. (2023). Facial emotion recognition with contextual attention. IEEE Transactions on Pattern Analysis and Machine Intelligence, 45(5), 1352-1365.</a:t>
            </a:r>
            <a:endParaRPr lang="en-US" sz="1600"/>
          </a:p>
          <a:p>
            <a:r>
              <a:rPr lang="en-US" sz="1600"/>
              <a:t>Kim, M., Jang, H., &amp; Kim, H. (2023). Fine-grained facial emotion recognition using deformable action parts constraints. IEEE Transactions on Image Processing, 32(1), 122-133.</a:t>
            </a:r>
            <a:endParaRPr lang="en-US" sz="1600"/>
          </a:p>
          <a:p>
            <a:r>
              <a:rPr lang="en-US" sz="1600"/>
              <a:t>Ghimire, D., Lee, J., &amp; Nam, J. (2020). Ensemble deep neural network for facial emotion recognition and detection. Journal of Emotion Recognition, 7(2), 112-127.</a:t>
            </a:r>
            <a:endParaRPr lang="en-US" sz="1600"/>
          </a:p>
          <a:p>
            <a:r>
              <a:rPr lang="en-US" sz="1600"/>
              <a:t>Jung, H., Lee, S., &amp; Kim, J. (2015). Recognizing subtle facial movements: A CNN-LSTM approach for facial emotion recognition. International Journal of Computer Vision, 98(3), 398-416.</a:t>
            </a:r>
            <a:endParaRPr lang="en-US" sz="1600"/>
          </a:p>
          <a:p>
            <a:r>
              <a:rPr lang="en-US" sz="1600"/>
              <a:t>Khorrami, P., Paine, T. L., &amp; Huang, T. (2016). Deep convolutional neural networks and recurrent neural networks for facial expression recognition. In Proceedings of the IEEE Conference on Computer Vision and Pattern Recognition (pp. 534-542).</a:t>
            </a:r>
            <a:endParaRPr lang="en-US" sz="1600"/>
          </a:p>
          <a:p>
            <a:r>
              <a:rPr lang="en-US" sz="1600"/>
              <a:t>Liu, M., Li, S., &amp; Shan, S. (2014). Boosted deep belief networks for facial expression recognition. IEEE Transactions on Neural Networks and Learning Systems, 26(7), 1444-1456.</a:t>
            </a:r>
            <a:endParaRPr lang="en-US" sz="1600"/>
          </a:p>
          <a:p>
            <a:r>
              <a:rPr lang="en-US" sz="1600"/>
              <a:t>Kim, B., Roh, M. C., &amp; Kim, D. (2017). Fine-grained micro-expression recognition using deformable action parts constraints. IEEE Transactions on Affective Computing, 8(4), 525-538.</a:t>
            </a:r>
            <a:endParaRPr lang="en-US" sz="1600"/>
          </a:p>
          <a:p>
            <a:r>
              <a:rPr lang="en-US" sz="1600"/>
              <a:t>Zeng, Y., Zhang, Z., &amp; Xu, T. (2018). Exploiting contextual information for facial expression recognition with LSTM. In Proceedings of the International Conference on Computer Vision (pp. 2984-2993).</a:t>
            </a:r>
            <a:endParaRPr lang="en-US" sz="1600"/>
          </a:p>
          <a:p>
            <a:r>
              <a:rPr lang="en-US" sz="1600"/>
              <a:t>Jung, H., Yim, J., &amp; Kim, J. (2014). Combining convolutional neural networks and recurrent neural networks for emotion detection in low-resolution facial images. In Proceedings of the International Conference on Pattern Recognition (pp. 448-453).</a:t>
            </a:r>
            <a:endParaRPr lang="en-US" sz="1600"/>
          </a:p>
          <a:p>
            <a:r>
              <a:rPr lang="en-US" sz="1600"/>
              <a:t>Jaiswal, S., &amp; Valstar, M. F. (2016). Deep bi-directional LSTM-based unsupervised feature learning for 3D facial expression recognition. In Proceedings of the IEEE International Conference on Automatic Face &amp; Gesture Recognition (pp. 138-144).</a:t>
            </a:r>
            <a:endParaRPr lang="en-US" sz="1600"/>
          </a:p>
          <a:p>
            <a:r>
              <a:rPr lang="en-US" sz="1600"/>
              <a:t>Liu, Z., Liu, Q., &amp; Shan, S. (2013). Deeply learning deformable facial action parts model for dynamic expression analysis. International Journal of Computer Vision, 107(2), 97-115.</a:t>
            </a:r>
            <a:endParaRPr lang="en-US" sz="1600"/>
          </a:p>
          <a:p>
            <a:r>
              <a:rPr lang="en-US" sz="1600"/>
              <a:t>Ghimire, D., Lee, J., &amp; Jung, S. (2020). Ensemble deep neural network for facial emotion recognition. IEEE Transactions on Affective Computing, 12(1), 62-70.</a:t>
            </a:r>
            <a:endParaRPr lang="en-US" sz="16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11824</Words>
  <Application>WPS Presentation</Application>
  <PresentationFormat>Widescreen</PresentationFormat>
  <Paragraphs>324</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Times New Roman Regular</vt:lpstr>
      <vt:lpstr>Calibri Light</vt:lpstr>
      <vt:lpstr>Helvetica Neue</vt:lpstr>
      <vt:lpstr>Calibri</vt:lpstr>
      <vt:lpstr>Microsoft YaHei</vt:lpstr>
      <vt:lpstr>汉仪旗黑</vt:lpstr>
      <vt:lpstr>Arial Unicode MS</vt:lpstr>
      <vt:lpstr>宋体-简</vt:lpstr>
      <vt:lpstr>Office Theme</vt:lpstr>
      <vt:lpstr>FACIAL EMOTION RECOGNITION AND DETECTION   OMAGE MICHEAL BRIGHT  233353</vt:lpstr>
      <vt:lpstr>INTRODUCTION: CONTEXTUAL BACKGROUND</vt:lpstr>
      <vt:lpstr>PowerPoint 演示文稿</vt:lpstr>
      <vt:lpstr>LITERATURE REVIEW TABLE</vt:lpstr>
      <vt:lpstr>LITERATURE REVIEW TABLE</vt:lpstr>
      <vt:lpstr>PROBLEM STATEMENT</vt:lpstr>
      <vt:lpstr>AIMS AND OBJECTIVES</vt:lpstr>
      <vt:lpstr>Proposed Methodology</vt:lpstr>
      <vt:lpstr>Proposed Methodology</vt:lpstr>
      <vt:lpstr>Proposed Methodology</vt:lpstr>
      <vt:lpstr>Proposed Methodology</vt:lpstr>
      <vt:lpstr>EXPECTED CONTRIBUTION TO KNOWLEDGE</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mikky</cp:lastModifiedBy>
  <cp:revision>16</cp:revision>
  <dcterms:created xsi:type="dcterms:W3CDTF">2023-10-03T15:01:55Z</dcterms:created>
  <dcterms:modified xsi:type="dcterms:W3CDTF">2023-10-03T15:01:55Z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1033-5.5.1.8075</vt:lpwstr>
  </property>
</Properties>
</file>