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89" r:id="rId6"/>
    <p:sldId id="281" r:id="rId7"/>
    <p:sldId id="265" r:id="rId8"/>
    <p:sldId id="272" r:id="rId9"/>
    <p:sldId id="276" r:id="rId10"/>
    <p:sldId id="268" r:id="rId11"/>
    <p:sldId id="273" r:id="rId12"/>
    <p:sldId id="29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219710" y="468630"/>
            <a:ext cx="11704955" cy="3666490"/>
          </a:xfrm>
        </p:spPr>
        <p:txBody>
          <a:bodyPr/>
          <a:p>
            <a:pPr algn="ctr"/>
            <a:r>
              <a:rPr lang="en-US" sz="2400"/>
              <a:t>DEVELOPMENT OF FACIAL EMOTION RECOGNITION </a:t>
            </a:r>
            <a:br>
              <a:rPr lang="en-US" sz="2400"/>
            </a:br>
            <a:r>
              <a:rPr lang="en-US" sz="2400"/>
              <a:t>FOR </a:t>
            </a:r>
            <a:br>
              <a:rPr lang="en-US" sz="2400"/>
            </a:br>
            <a:r>
              <a:rPr lang="en-US" sz="2400"/>
              <a:t>MULTI-CLASSIFICATION ON IMAGE </a:t>
            </a:r>
            <a:br>
              <a:rPr lang="en-US" sz="2400"/>
            </a:br>
            <a:br>
              <a:rPr lang="en-US" sz="2400"/>
            </a:br>
            <a:br>
              <a:rPr lang="en-US" sz="2400"/>
            </a:br>
            <a:r>
              <a:rPr lang="en-US" sz="2400">
                <a:sym typeface="+mn-ea"/>
              </a:rPr>
              <a:t>OMAGE MICHEAL BRIGHT</a:t>
            </a:r>
            <a:br>
              <a:rPr lang="en-US" sz="2400">
                <a:sym typeface="+mn-ea"/>
              </a:rPr>
            </a:br>
            <a:br>
              <a:rPr lang="en-US" sz="2400">
                <a:sym typeface="+mn-ea"/>
              </a:rPr>
            </a:br>
            <a:r>
              <a:rPr lang="en-US" sz="2400">
                <a:sym typeface="+mn-ea"/>
              </a:rPr>
              <a:t>233353</a:t>
            </a:r>
            <a:endParaRPr lang="en-US" sz="2400"/>
          </a:p>
        </p:txBody>
      </p:sp>
      <p:sp>
        <p:nvSpPr>
          <p:cNvPr id="3" name="Subtitle 2"/>
          <p:cNvSpPr>
            <a:spLocks noGrp="1"/>
          </p:cNvSpPr>
          <p:nvPr>
            <p:ph type="subTitle" idx="1"/>
          </p:nvPr>
        </p:nvSpPr>
        <p:spPr>
          <a:xfrm>
            <a:off x="2661285" y="5293360"/>
            <a:ext cx="8769350" cy="1062990"/>
          </a:xfrm>
        </p:spPr>
        <p:txBody>
          <a:bodyPr>
            <a:normAutofit fontScale="70000"/>
          </a:bodyPr>
          <a:p>
            <a:pPr algn="l"/>
            <a:r>
              <a:rPr lang="en-US"/>
              <a:t>SUPERVISOR NAME:		Dr. Nancy Woods</a:t>
            </a:r>
            <a:endParaRPr lang="en-US"/>
          </a:p>
          <a:p>
            <a:pPr algn="l"/>
            <a:endParaRPr lang="en-US"/>
          </a:p>
          <a:p>
            <a:pPr algn="l"/>
            <a:r>
              <a:rPr lang="en-US"/>
              <a:t>PRESENTATION:			PROPOSAL</a:t>
            </a:r>
            <a:endParaRPr lang="en-US"/>
          </a:p>
          <a:p>
            <a:pPr algn="l"/>
            <a:endParaRPr lang="en-US"/>
          </a:p>
          <a:p>
            <a:pPr algn="l"/>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53340"/>
            <a:ext cx="4293870" cy="683895"/>
          </a:xfrm>
        </p:spPr>
        <p:txBody>
          <a:bodyPr/>
          <a:p>
            <a:r>
              <a:rPr lang="en-US" sz="3600"/>
              <a:t>INTRODUCTION</a:t>
            </a:r>
            <a:endParaRPr lang="en-US" sz="3600"/>
          </a:p>
        </p:txBody>
      </p:sp>
      <p:sp>
        <p:nvSpPr>
          <p:cNvPr id="7" name="Text Box 6"/>
          <p:cNvSpPr txBox="1"/>
          <p:nvPr/>
        </p:nvSpPr>
        <p:spPr>
          <a:xfrm>
            <a:off x="293370" y="1640205"/>
            <a:ext cx="6833870" cy="4092575"/>
          </a:xfrm>
          <a:prstGeom prst="rect">
            <a:avLst/>
          </a:prstGeom>
          <a:noFill/>
        </p:spPr>
        <p:txBody>
          <a:bodyPr wrap="square" rtlCol="0">
            <a:spAutoFit/>
          </a:bodyPr>
          <a:p>
            <a:pPr marL="342900" indent="-342900" algn="l">
              <a:buFont typeface="Arial" panose="020B0604020202020204" pitchFamily="34" charset="0"/>
              <a:buChar char="•"/>
            </a:pPr>
            <a:r>
              <a:rPr lang="en-US" sz="2000"/>
              <a:t>Facial expressions serve as one of the most natural and powerful means of human communication, capable of conveying a wide spectrum of emotions. </a:t>
            </a:r>
            <a:endParaRPr lang="en-US" sz="2000"/>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In the realm of artificial intelligence and computer vision, recognizing these emotions from facial cues has gained significant importance.</a:t>
            </a:r>
            <a:endParaRPr lang="en-US" sz="2000"/>
          </a:p>
          <a:p>
            <a:pPr marL="342900" indent="-342900" algn="l">
              <a:buFont typeface="Arial" panose="020B0604020202020204" pitchFamily="34" charset="0"/>
              <a:buChar char="•"/>
            </a:pPr>
            <a:endParaRPr lang="en-US" sz="2000"/>
          </a:p>
          <a:p>
            <a:pPr marL="342900" indent="-342900" algn="l">
              <a:buFont typeface="Arial" panose="020B0604020202020204" pitchFamily="34" charset="0"/>
              <a:buChar char="•"/>
            </a:pPr>
            <a:r>
              <a:rPr lang="en-US" sz="2000"/>
              <a:t>This presentation delves into the fascinating field of development of facial emotion recognition for multi classification of image, leveraging the capabilities of Convolutional Neural Network (CNN).</a:t>
            </a:r>
            <a:endParaRPr lang="en-US" sz="2000"/>
          </a:p>
          <a:p>
            <a:pPr marL="342900" indent="-342900" algn="l"/>
            <a:endParaRPr lang="en-US" sz="2000"/>
          </a:p>
        </p:txBody>
      </p:sp>
      <p:sp>
        <p:nvSpPr>
          <p:cNvPr id="3" name="Slide Number Placeholder 2"/>
          <p:cNvSpPr>
            <a:spLocks noGrp="1"/>
          </p:cNvSpPr>
          <p:nvPr>
            <p:ph type="sldNum" sz="quarter" idx="12"/>
          </p:nvPr>
        </p:nvSpPr>
        <p:spPr/>
        <p:txBody>
          <a:bodyPr/>
          <a:p>
            <a:fld id="{9B618960-8005-486C-9A75-10CB2AAC16F9}" type="slidenum">
              <a:rPr lang="en-US" smtClean="0"/>
            </a:fld>
            <a:endParaRPr lang="en-US"/>
          </a:p>
        </p:txBody>
      </p:sp>
      <p:pic>
        <p:nvPicPr>
          <p:cNvPr id="6" name="Picture 5"/>
          <p:cNvPicPr>
            <a:picLocks noChangeAspect="1"/>
          </p:cNvPicPr>
          <p:nvPr/>
        </p:nvPicPr>
        <p:blipFill>
          <a:blip r:embed="rId1"/>
          <a:stretch>
            <a:fillRect/>
          </a:stretch>
        </p:blipFill>
        <p:spPr>
          <a:xfrm>
            <a:off x="8087995" y="245745"/>
            <a:ext cx="1231900" cy="1597025"/>
          </a:xfrm>
          <a:prstGeom prst="rect">
            <a:avLst/>
          </a:prstGeom>
        </p:spPr>
      </p:pic>
      <p:pic>
        <p:nvPicPr>
          <p:cNvPr id="8" name="Picture 7"/>
          <p:cNvPicPr>
            <a:picLocks noChangeAspect="1"/>
          </p:cNvPicPr>
          <p:nvPr/>
        </p:nvPicPr>
        <p:blipFill>
          <a:blip r:embed="rId2"/>
          <a:stretch>
            <a:fillRect/>
          </a:stretch>
        </p:blipFill>
        <p:spPr>
          <a:xfrm>
            <a:off x="10735945" y="245745"/>
            <a:ext cx="1292225" cy="1637030"/>
          </a:xfrm>
          <a:prstGeom prst="rect">
            <a:avLst/>
          </a:prstGeom>
        </p:spPr>
      </p:pic>
      <p:pic>
        <p:nvPicPr>
          <p:cNvPr id="9" name="Picture 8"/>
          <p:cNvPicPr>
            <a:picLocks noChangeAspect="1"/>
          </p:cNvPicPr>
          <p:nvPr/>
        </p:nvPicPr>
        <p:blipFill>
          <a:blip r:embed="rId3"/>
          <a:stretch>
            <a:fillRect/>
          </a:stretch>
        </p:blipFill>
        <p:spPr>
          <a:xfrm>
            <a:off x="8122285" y="1882775"/>
            <a:ext cx="1162685" cy="1490980"/>
          </a:xfrm>
          <a:prstGeom prst="rect">
            <a:avLst/>
          </a:prstGeom>
        </p:spPr>
      </p:pic>
      <p:pic>
        <p:nvPicPr>
          <p:cNvPr id="10" name="Picture 9"/>
          <p:cNvPicPr>
            <a:picLocks noChangeAspect="1"/>
          </p:cNvPicPr>
          <p:nvPr/>
        </p:nvPicPr>
        <p:blipFill>
          <a:blip r:embed="rId4"/>
          <a:stretch>
            <a:fillRect/>
          </a:stretch>
        </p:blipFill>
        <p:spPr>
          <a:xfrm>
            <a:off x="10875645" y="1882775"/>
            <a:ext cx="1081405" cy="1490345"/>
          </a:xfrm>
          <a:prstGeom prst="rect">
            <a:avLst/>
          </a:prstGeom>
        </p:spPr>
      </p:pic>
      <p:pic>
        <p:nvPicPr>
          <p:cNvPr id="12" name="Picture 11"/>
          <p:cNvPicPr>
            <a:picLocks noChangeAspect="1"/>
          </p:cNvPicPr>
          <p:nvPr/>
        </p:nvPicPr>
        <p:blipFill>
          <a:blip r:embed="rId5"/>
          <a:stretch>
            <a:fillRect/>
          </a:stretch>
        </p:blipFill>
        <p:spPr>
          <a:xfrm>
            <a:off x="8203565" y="3555365"/>
            <a:ext cx="1081405" cy="1406525"/>
          </a:xfrm>
          <a:prstGeom prst="rect">
            <a:avLst/>
          </a:prstGeom>
        </p:spPr>
      </p:pic>
      <p:pic>
        <p:nvPicPr>
          <p:cNvPr id="13" name="Picture 12"/>
          <p:cNvPicPr>
            <a:picLocks noChangeAspect="1"/>
          </p:cNvPicPr>
          <p:nvPr/>
        </p:nvPicPr>
        <p:blipFill>
          <a:blip r:embed="rId6"/>
          <a:stretch>
            <a:fillRect/>
          </a:stretch>
        </p:blipFill>
        <p:spPr>
          <a:xfrm>
            <a:off x="10875010" y="3528695"/>
            <a:ext cx="1082040" cy="1433195"/>
          </a:xfrm>
          <a:prstGeom prst="rect">
            <a:avLst/>
          </a:prstGeom>
        </p:spPr>
      </p:pic>
      <p:pic>
        <p:nvPicPr>
          <p:cNvPr id="14" name="Picture 13"/>
          <p:cNvPicPr>
            <a:picLocks noChangeAspect="1"/>
          </p:cNvPicPr>
          <p:nvPr/>
        </p:nvPicPr>
        <p:blipFill>
          <a:blip r:embed="rId7"/>
          <a:stretch>
            <a:fillRect/>
          </a:stretch>
        </p:blipFill>
        <p:spPr>
          <a:xfrm>
            <a:off x="8122285" y="4961890"/>
            <a:ext cx="1285875" cy="1805940"/>
          </a:xfrm>
          <a:prstGeom prst="rect">
            <a:avLst/>
          </a:prstGeom>
        </p:spPr>
      </p:pic>
      <p:pic>
        <p:nvPicPr>
          <p:cNvPr id="15" name="Picture 14"/>
          <p:cNvPicPr>
            <a:picLocks noChangeAspect="1"/>
          </p:cNvPicPr>
          <p:nvPr/>
        </p:nvPicPr>
        <p:blipFill>
          <a:blip r:embed="rId8"/>
          <a:stretch>
            <a:fillRect/>
          </a:stretch>
        </p:blipFill>
        <p:spPr>
          <a:xfrm>
            <a:off x="10800715" y="4961890"/>
            <a:ext cx="1231900" cy="169799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300355"/>
          </a:xfrm>
        </p:spPr>
        <p:txBody>
          <a:bodyPr/>
          <a:p>
            <a:r>
              <a:rPr lang="en-US" sz="2000"/>
              <a:t>LITERATURE REVIEW TABLE</a:t>
            </a:r>
            <a:endParaRPr lang="en-US" sz="2000"/>
          </a:p>
        </p:txBody>
      </p:sp>
      <p:graphicFrame>
        <p:nvGraphicFramePr>
          <p:cNvPr id="4" name="Content Placeholder 3"/>
          <p:cNvGraphicFramePr/>
          <p:nvPr>
            <p:ph idx="1"/>
          </p:nvPr>
        </p:nvGraphicFramePr>
        <p:xfrm>
          <a:off x="0" y="698500"/>
          <a:ext cx="12150725" cy="6085840"/>
        </p:xfrm>
        <a:graphic>
          <a:graphicData uri="http://schemas.openxmlformats.org/drawingml/2006/table">
            <a:tbl>
              <a:tblPr firstRow="1" bandRow="1">
                <a:tableStyleId>{5C22544A-7EE6-4342-B048-85BDC9FD1C3A}</a:tableStyleId>
              </a:tblPr>
              <a:tblGrid>
                <a:gridCol w="382905"/>
                <a:gridCol w="1057910"/>
                <a:gridCol w="2578100"/>
                <a:gridCol w="3242310"/>
                <a:gridCol w="2613660"/>
                <a:gridCol w="2275840"/>
              </a:tblGrid>
              <a:tr h="772160">
                <a:tc>
                  <a:txBody>
                    <a:bodyPr/>
                    <a:p>
                      <a:pPr>
                        <a:lnSpc>
                          <a:spcPct val="70000"/>
                        </a:lnSpc>
                        <a:buNone/>
                      </a:pPr>
                      <a:r>
                        <a:rPr lang="en-US" sz="1800" b="0">
                          <a:latin typeface="Times New Roman Regular" panose="02020603050405020304" charset="0"/>
                          <a:cs typeface="Times New Roman Regular" panose="02020603050405020304" charset="0"/>
                        </a:rPr>
                        <a:t>S/N</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AUTHORS&amp; YEARS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PROBLEM STATEMENT</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METHODOLOGY</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DATASETS/RESULTS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LIMITATION</a:t>
                      </a:r>
                      <a:endParaRPr lang="en-US" sz="1800" b="0">
                        <a:latin typeface="Times New Roman Regular" panose="02020603050405020304" charset="0"/>
                        <a:cs typeface="Times New Roman Regular" panose="02020603050405020304" charset="0"/>
                      </a:endParaRPr>
                    </a:p>
                  </a:txBody>
                  <a:tcPr/>
                </a:tc>
              </a:tr>
              <a:tr h="1864360">
                <a:tc>
                  <a:txBody>
                    <a:bodyPr/>
                    <a:p>
                      <a:pPr>
                        <a:lnSpc>
                          <a:spcPct val="70000"/>
                        </a:lnSpc>
                        <a:buNone/>
                      </a:pPr>
                      <a:r>
                        <a:rPr lang="en-US" sz="1800" b="0">
                          <a:latin typeface="Times New Roman Regular" panose="02020603050405020304" charset="0"/>
                          <a:cs typeface="Times New Roman Regular" panose="02020603050405020304" charset="0"/>
                        </a:rPr>
                        <a:t>1</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Kim et al. (2023)</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Difficulty recognizing subtle and blended emotions. </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Proposed multi-output CNN architecture</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Achieved 67.2% avg F1-score on RAF-DB.</a:t>
                      </a:r>
                      <a:endParaRPr lang="en-US" sz="1800" b="0">
                        <a:latin typeface="Times New Roman Regular" panose="02020603050405020304" charset="0"/>
                        <a:cs typeface="Times New Roman Regular" panose="02020603050405020304" charset="0"/>
                      </a:endParaRPr>
                    </a:p>
                    <a:p>
                      <a:pPr>
                        <a:lnSpc>
                          <a:spcPct val="70000"/>
                        </a:lnSpc>
                        <a:buNone/>
                      </a:pP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a:latin typeface="Times New Roman Regular" panose="02020603050405020304" charset="0"/>
                          <a:cs typeface="Times New Roman Regular" panose="02020603050405020304" charset="0"/>
                          <a:sym typeface="+mn-ea"/>
                        </a:rPr>
                        <a:t>It was limited by its small dataset size, lack of diversity, bias and noise.</a:t>
                      </a:r>
                      <a:endParaRPr lang="en-US" sz="1800">
                        <a:latin typeface="Times New Roman Regular" panose="02020603050405020304" charset="0"/>
                        <a:cs typeface="Times New Roman Regular" panose="02020603050405020304" charset="0"/>
                        <a:sym typeface="+mn-ea"/>
                      </a:endParaRPr>
                    </a:p>
                  </a:txBody>
                  <a:tcPr/>
                </a:tc>
              </a:tr>
              <a:tr h="1560830">
                <a:tc>
                  <a:txBody>
                    <a:bodyPr/>
                    <a:p>
                      <a:pPr>
                        <a:lnSpc>
                          <a:spcPct val="70000"/>
                        </a:lnSpc>
                        <a:buNone/>
                      </a:pPr>
                      <a:r>
                        <a:rPr lang="en-US" sz="1800" b="0">
                          <a:latin typeface="Times New Roman Regular" panose="02020603050405020304" charset="0"/>
                          <a:cs typeface="Times New Roman Regular" panose="02020603050405020304" charset="0"/>
                        </a:rPr>
                        <a:t>2</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Lee et al. (2022)</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Limits in handling multiple emotion labels.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Used an ensemble of CNNs for multi-label prediction</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Obtained 58.4% micro F1-score on FERPlus.</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Prone to overfitting on small datasets. </a:t>
                      </a:r>
                      <a:endParaRPr lang="en-US" sz="1800" b="0">
                        <a:latin typeface="Times New Roman Regular" panose="02020603050405020304" charset="0"/>
                        <a:cs typeface="Times New Roman Regular" panose="02020603050405020304" charset="0"/>
                      </a:endParaRPr>
                    </a:p>
                  </a:txBody>
                  <a:tcPr/>
                </a:tc>
              </a:tr>
              <a:tr h="1888490">
                <a:tc>
                  <a:txBody>
                    <a:bodyPr/>
                    <a:p>
                      <a:pPr>
                        <a:lnSpc>
                          <a:spcPct val="70000"/>
                        </a:lnSpc>
                        <a:buNone/>
                      </a:pPr>
                      <a:r>
                        <a:rPr lang="en-US" sz="1800" b="0">
                          <a:latin typeface="Times New Roman Regular" panose="02020603050405020304" charset="0"/>
                          <a:cs typeface="Times New Roman Regular" panose="02020603050405020304" charset="0"/>
                        </a:rPr>
                        <a:t>3</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Ahmed et al. (2021)</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Existing methods do not effectively model multiple emotions. </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Proposed multi-task CNN architecture</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Achieved 52.6% macro F1 on EmotiW 2020</a:t>
                      </a:r>
                      <a:endParaRPr lang="en-US" sz="1800" b="0">
                        <a:latin typeface="Times New Roman Regular" panose="02020603050405020304" charset="0"/>
                        <a:cs typeface="Times New Roman Regular" panose="02020603050405020304" charset="0"/>
                      </a:endParaRPr>
                    </a:p>
                  </a:txBody>
                  <a:tcPr/>
                </a:tc>
                <a:tc>
                  <a:txBody>
                    <a:bodyPr/>
                    <a:p>
                      <a:pPr>
                        <a:lnSpc>
                          <a:spcPct val="70000"/>
                        </a:lnSpc>
                        <a:buNone/>
                      </a:pPr>
                      <a:r>
                        <a:rPr lang="en-US" sz="1800" b="0">
                          <a:latin typeface="Times New Roman Regular" panose="02020603050405020304" charset="0"/>
                          <a:cs typeface="Times New Roman Regular" panose="02020603050405020304" charset="0"/>
                        </a:rPr>
                        <a:t>Does not handle label ambiguity well.</a:t>
                      </a:r>
                      <a:endParaRPr lang="en-US" sz="1800" b="0">
                        <a:latin typeface="Times New Roman Regular" panose="02020603050405020304" charset="0"/>
                        <a:cs typeface="Times New Roman Regular" panose="02020603050405020304" charset="0"/>
                      </a:endParaRP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graphicFrame>
        <p:nvGraphicFramePr>
          <p:cNvPr id="5" name="Content Placeholder 4"/>
          <p:cNvGraphicFramePr/>
          <p:nvPr>
            <p:ph idx="1"/>
          </p:nvPr>
        </p:nvGraphicFramePr>
        <p:xfrm>
          <a:off x="20320" y="528320"/>
          <a:ext cx="12150725" cy="6193155"/>
        </p:xfrm>
        <a:graphic>
          <a:graphicData uri="http://schemas.openxmlformats.org/drawingml/2006/table">
            <a:tbl>
              <a:tblPr firstRow="1" bandRow="1">
                <a:tableStyleId>{5C22544A-7EE6-4342-B048-85BDC9FD1C3A}</a:tableStyleId>
              </a:tblPr>
              <a:tblGrid>
                <a:gridCol w="492760"/>
                <a:gridCol w="948055"/>
                <a:gridCol w="2577465"/>
                <a:gridCol w="3242945"/>
                <a:gridCol w="2613660"/>
                <a:gridCol w="2275840"/>
              </a:tblGrid>
              <a:tr h="850265">
                <a:tc>
                  <a:txBody>
                    <a:bodyPr/>
                    <a:p>
                      <a:pPr>
                        <a:lnSpc>
                          <a:spcPct val="70000"/>
                        </a:lnSpc>
                        <a:buNone/>
                      </a:pPr>
                      <a:r>
                        <a:rPr lang="en-US" sz="1600" b="0">
                          <a:latin typeface="Times New Roman Regular" panose="02020603050405020304" charset="0"/>
                          <a:cs typeface="Times New Roman Regular" panose="02020603050405020304" charset="0"/>
                        </a:rPr>
                        <a:t>4</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Wang et al. (2020)</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Limitations in recognizing subtle facial expressions.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3D CNNs and attention mechanism.   </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Obtained 73.2% accuracy on CASME II dataset.</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Tested only on micro-expressions. </a:t>
                      </a:r>
                      <a:endParaRPr lang="en-US" sz="1600" b="0">
                        <a:latin typeface="Times New Roman Regular" panose="02020603050405020304" charset="0"/>
                        <a:cs typeface="Times New Roman Regular" panose="02020603050405020304" charset="0"/>
                        <a:sym typeface="+mn-ea"/>
                      </a:endParaRPr>
                    </a:p>
                  </a:txBody>
                  <a:tcPr/>
                </a:tc>
              </a:tr>
              <a:tr h="869315">
                <a:tc>
                  <a:txBody>
                    <a:bodyPr/>
                    <a:p>
                      <a:pPr>
                        <a:lnSpc>
                          <a:spcPct val="70000"/>
                        </a:lnSpc>
                        <a:buNone/>
                      </a:pPr>
                      <a:r>
                        <a:rPr lang="en-US" sz="1600" b="0">
                          <a:latin typeface="Times New Roman Regular" panose="02020603050405020304" charset="0"/>
                          <a:cs typeface="Times New Roman Regular" panose="02020603050405020304" charset="0"/>
                        </a:rPr>
                        <a:t>5</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 (2019)</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Handling ambiguities in multi-label emotion data.</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CNN-RNN model with joint-loss training.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Achieved 63.7% F1 score on FERPlus dataset. </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Did not explore very deep architectures.</a:t>
                      </a:r>
                      <a:endParaRPr lang="en-US" sz="1600" b="0">
                        <a:latin typeface="Times New Roman Regular" panose="02020603050405020304" charset="0"/>
                        <a:cs typeface="Times New Roman Regular" panose="02020603050405020304" charset="0"/>
                        <a:sym typeface="+mn-ea"/>
                      </a:endParaRPr>
                    </a:p>
                  </a:txBody>
                  <a:tcPr/>
                </a:tc>
              </a:tr>
              <a:tr h="868680">
                <a:tc>
                  <a:txBody>
                    <a:bodyPr/>
                    <a:p>
                      <a:pPr>
                        <a:lnSpc>
                          <a:spcPct val="70000"/>
                        </a:lnSpc>
                        <a:buNone/>
                      </a:pPr>
                      <a:r>
                        <a:rPr lang="en-US" sz="1600" b="0">
                          <a:latin typeface="Times New Roman Regular" panose="02020603050405020304" charset="0"/>
                          <a:cs typeface="Times New Roman Regular" panose="02020603050405020304" charset="0"/>
                        </a:rPr>
                        <a:t>6</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Jung et al. (2017)</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Difficulty recognizing mixtures of facial expressions.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ensemble of CNNs trained on expression zones.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Obtained 71.3% accuracy on CK+ dataset.</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 Limited diversity in dataset. </a:t>
                      </a:r>
                      <a:endParaRPr lang="en-US" sz="1600" b="0">
                        <a:latin typeface="Times New Roman Regular" panose="02020603050405020304" charset="0"/>
                        <a:cs typeface="Times New Roman Regular" panose="02020603050405020304" charset="0"/>
                        <a:sym typeface="+mn-ea"/>
                      </a:endParaRPr>
                    </a:p>
                  </a:txBody>
                  <a:tcPr/>
                </a:tc>
              </a:tr>
              <a:tr h="989965">
                <a:tc>
                  <a:txBody>
                    <a:bodyPr/>
                    <a:p>
                      <a:pPr>
                        <a:lnSpc>
                          <a:spcPct val="70000"/>
                        </a:lnSpc>
                        <a:buNone/>
                      </a:pPr>
                      <a:r>
                        <a:rPr lang="en-US" sz="1600" b="0">
                          <a:latin typeface="Times New Roman Regular" panose="02020603050405020304" charset="0"/>
                          <a:cs typeface="Times New Roman Regular" panose="02020603050405020304" charset="0"/>
                        </a:rPr>
                        <a:t>7</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Challenging to extract</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discriminative facial patches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and learn robust features.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Boosted Deep Belief</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 using facial landmarks.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CK+, MMI, and FERG datasets. Achieved over 90% accuracy.</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Computationally expensive feature extraction process.</a:t>
                      </a:r>
                      <a:endParaRPr lang="en-US" sz="1600" b="0">
                        <a:latin typeface="Times New Roman Regular" panose="02020603050405020304" charset="0"/>
                        <a:cs typeface="Times New Roman Regular" panose="02020603050405020304" charset="0"/>
                        <a:sym typeface="+mn-ea"/>
                      </a:endParaRPr>
                    </a:p>
                  </a:txBody>
                  <a:tcPr/>
                </a:tc>
              </a:tr>
              <a:tr h="854710">
                <a:tc>
                  <a:txBody>
                    <a:bodyPr/>
                    <a:p>
                      <a:pPr>
                        <a:lnSpc>
                          <a:spcPct val="70000"/>
                        </a:lnSpc>
                        <a:buNone/>
                      </a:pPr>
                      <a:r>
                        <a:rPr lang="en-US" sz="1600" b="0">
                          <a:latin typeface="Times New Roman Regular" panose="02020603050405020304" charset="0"/>
                          <a:cs typeface="Times New Roman Regular" panose="02020603050405020304" charset="0"/>
                        </a:rPr>
                        <a:t>8</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Jaiswal &amp;</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Valstar</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(2016)</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Recognizing action units and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emotions from limited training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data.</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Bi-directional LSTM neural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networks with 3D CNN features.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BP4D, DISFA, and SEMAINE datasets. Obtained 62%</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average F1 score.</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Did not focus on detecting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specific emotions.</a:t>
                      </a:r>
                      <a:endParaRPr lang="en-US" sz="1600" b="0">
                        <a:latin typeface="Times New Roman Regular" panose="02020603050405020304" charset="0"/>
                        <a:cs typeface="Times New Roman Regular" panose="02020603050405020304" charset="0"/>
                        <a:sym typeface="+mn-ea"/>
                      </a:endParaRPr>
                    </a:p>
                  </a:txBody>
                  <a:tcPr/>
                </a:tc>
              </a:tr>
              <a:tr h="846455">
                <a:tc>
                  <a:txBody>
                    <a:bodyPr/>
                    <a:p>
                      <a:pPr>
                        <a:lnSpc>
                          <a:spcPct val="70000"/>
                        </a:lnSpc>
                        <a:buNone/>
                      </a:pPr>
                      <a:r>
                        <a:rPr lang="en-US" sz="1600" b="0">
                          <a:latin typeface="Times New Roman Regular" panose="02020603050405020304" charset="0"/>
                          <a:cs typeface="Times New Roman Regular" panose="02020603050405020304" charset="0"/>
                        </a:rPr>
                        <a:t>9</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Jung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(2014)</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Difficulty in detecting emotions</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from low-resolution facial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Used deep network combining</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CNN and RNN with boosting.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Multi-PIE dataset. Achieved over 80% accuracy from low-</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resolution images.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Only evaluated on lab-</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controlled dataset.</a:t>
                      </a:r>
                      <a:endParaRPr lang="en-US" sz="1600" b="0">
                        <a:latin typeface="Times New Roman Regular" panose="02020603050405020304" charset="0"/>
                        <a:cs typeface="Times New Roman Regular" panose="02020603050405020304" charset="0"/>
                        <a:sym typeface="+mn-ea"/>
                      </a:endParaRPr>
                    </a:p>
                  </a:txBody>
                  <a:tcPr/>
                </a:tc>
              </a:tr>
              <a:tr h="913765">
                <a:tc>
                  <a:txBody>
                    <a:bodyPr/>
                    <a:p>
                      <a:pPr>
                        <a:lnSpc>
                          <a:spcPct val="70000"/>
                        </a:lnSpc>
                        <a:buNone/>
                      </a:pPr>
                      <a:r>
                        <a:rPr lang="en-US" sz="1600" b="0">
                          <a:latin typeface="Times New Roman Regular" panose="02020603050405020304" charset="0"/>
                          <a:cs typeface="Times New Roman Regular" panose="02020603050405020304" charset="0"/>
                        </a:rPr>
                        <a:t>10</a:t>
                      </a: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Liu et al.</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(2013)</a:t>
                      </a:r>
                      <a:endParaRPr lang="en-US" sz="1600" b="0">
                        <a:latin typeface="Times New Roman Regular" panose="02020603050405020304" charset="0"/>
                        <a:cs typeface="Times New Roman Regular" panose="02020603050405020304" charset="0"/>
                      </a:endParaRPr>
                    </a:p>
                    <a:p>
                      <a:pPr>
                        <a:lnSpc>
                          <a:spcPct val="70000"/>
                        </a:lnSpc>
                        <a:buNone/>
                      </a:pPr>
                      <a:endParaRPr lang="en-US" sz="1600" b="0">
                        <a:latin typeface="Times New Roman Regular" panose="02020603050405020304" charset="0"/>
                        <a:cs typeface="Times New Roman Regular" panose="02020603050405020304" charset="0"/>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Handling large variations in</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facial expression intensity,</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image conditions.</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Proposed 3D CNN combined</a:t>
                      </a:r>
                      <a:endParaRPr lang="en-US" sz="1600" b="0">
                        <a:latin typeface="Times New Roman Regular" panose="02020603050405020304" charset="0"/>
                        <a:cs typeface="Times New Roman Regular" panose="02020603050405020304" charset="0"/>
                      </a:endParaRPr>
                    </a:p>
                    <a:p>
                      <a:pPr>
                        <a:lnSpc>
                          <a:spcPct val="70000"/>
                        </a:lnSpc>
                        <a:buNone/>
                      </a:pPr>
                      <a:r>
                        <a:rPr lang="en-US" sz="1600" b="0">
                          <a:latin typeface="Times New Roman Regular" panose="02020603050405020304" charset="0"/>
                          <a:cs typeface="Times New Roman Regular" panose="02020603050405020304" charset="0"/>
                          <a:sym typeface="+mn-ea"/>
                        </a:rPr>
                        <a:t>with deformable model fitting.</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BU-3DFE dataset. Obtained over 85% average accuracy.</a:t>
                      </a:r>
                      <a:endParaRPr lang="en-US" sz="1600" b="0">
                        <a:latin typeface="Times New Roman Regular" panose="02020603050405020304" charset="0"/>
                        <a:cs typeface="Times New Roman Regular" panose="02020603050405020304" charset="0"/>
                        <a:sym typeface="+mn-ea"/>
                      </a:endParaRPr>
                    </a:p>
                  </a:txBody>
                  <a:tcPr/>
                </a:tc>
                <a:tc>
                  <a:txBody>
                    <a:bodyPr/>
                    <a:p>
                      <a:pPr>
                        <a:lnSpc>
                          <a:spcPct val="70000"/>
                        </a:lnSpc>
                        <a:buNone/>
                      </a:pPr>
                      <a:r>
                        <a:rPr lang="en-US" sz="1600" b="0">
                          <a:latin typeface="Times New Roman Regular" panose="02020603050405020304" charset="0"/>
                          <a:cs typeface="Times New Roman Regular" panose="02020603050405020304" charset="0"/>
                          <a:sym typeface="+mn-ea"/>
                        </a:rPr>
                        <a:t>Computationally intensive 3D modeling</a:t>
                      </a:r>
                      <a:endParaRPr lang="en-US" sz="1600" b="0">
                        <a:latin typeface="Times New Roman Regular" panose="02020603050405020304" charset="0"/>
                        <a:cs typeface="Times New Roman Regular" panose="02020603050405020304" charset="0"/>
                        <a:sym typeface="+mn-ea"/>
                      </a:endParaRPr>
                    </a:p>
                  </a:txBody>
                  <a:tcPr/>
                </a:tc>
              </a:tr>
            </a:tbl>
          </a:graphicData>
        </a:graphic>
      </p:graphicFrame>
      <p:sp>
        <p:nvSpPr>
          <p:cNvPr id="6" name="Title 5"/>
          <p:cNvSpPr>
            <a:spLocks noGrp="1"/>
          </p:cNvSpPr>
          <p:nvPr>
            <p:ph type="title"/>
          </p:nvPr>
        </p:nvSpPr>
        <p:spPr>
          <a:xfrm>
            <a:off x="381000" y="92710"/>
            <a:ext cx="10972800" cy="300355"/>
          </a:xfrm>
        </p:spPr>
        <p:txBody>
          <a:bodyPr>
            <a:normAutofit fontScale="90000"/>
          </a:bodyPr>
          <a:p>
            <a:r>
              <a:rPr lang="en-US" sz="2000"/>
              <a:t>LITERATURE REVIEW TABLE</a:t>
            </a:r>
            <a:endParaRPr 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58800" y="410845"/>
            <a:ext cx="10972800" cy="413385"/>
          </a:xfrm>
        </p:spPr>
        <p:txBody>
          <a:bodyPr/>
          <a:p>
            <a:pPr algn="ctr"/>
            <a:r>
              <a:rPr lang="en-US" sz="2800"/>
              <a:t>PROBLEM STATEMENT</a:t>
            </a:r>
            <a:endParaRPr lang="en-US" sz="2800"/>
          </a:p>
        </p:txBody>
      </p:sp>
      <p:sp>
        <p:nvSpPr>
          <p:cNvPr id="3" name="Content Placeholder 2"/>
          <p:cNvSpPr>
            <a:spLocks noGrp="1"/>
          </p:cNvSpPr>
          <p:nvPr>
            <p:ph idx="1"/>
          </p:nvPr>
        </p:nvSpPr>
        <p:spPr>
          <a:xfrm>
            <a:off x="50800" y="1721485"/>
            <a:ext cx="12090400" cy="3415030"/>
          </a:xfrm>
        </p:spPr>
        <p:txBody>
          <a:bodyPr>
            <a:noAutofit/>
          </a:bodyPr>
          <a:p>
            <a:pPr marL="0" indent="0">
              <a:buNone/>
            </a:pPr>
            <a:r>
              <a:rPr lang="en-US" sz="2000"/>
              <a:t>Current Facial Expression Recognition (FER) systems primarily focus on detecting single dominant emotions and struggle with multi-classifying an image based on probability and chances an image might have more than one emotions. This limitation highlights the pressing need for more sophisticated approaches capable of accurately modeling emotion mixtures.</a:t>
            </a:r>
            <a:endParaRPr lang="en-US" sz="2000"/>
          </a:p>
          <a:p>
            <a:pPr marL="0" indent="0">
              <a:buNone/>
            </a:pPr>
            <a:endParaRPr lang="en-US" sz="2000"/>
          </a:p>
          <a:p>
            <a:pPr marL="0" indent="0">
              <a:buNone/>
            </a:pPr>
            <a:r>
              <a:rPr lang="en-US" sz="2000"/>
              <a:t>The task of recognizing facial expressions is inherently challenging. It becomes particularly intricate when faced with blended expressions, where multiple emotions coexist in a single facial display. Additionally, detecting subtle emotions, like faint smiles, demands a precise approach. Addressing these complexities necessitates the application of advanced techniques, and Convolutional Neural Network emerge as a promising solution.</a:t>
            </a: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46355"/>
            <a:ext cx="10972800" cy="462915"/>
          </a:xfrm>
        </p:spPr>
        <p:txBody>
          <a:bodyPr/>
          <a:p>
            <a:r>
              <a:rPr lang="en-US" sz="2400"/>
              <a:t>AIM AND OBJECTIVES</a:t>
            </a:r>
            <a:endParaRPr lang="en-US" sz="2400"/>
          </a:p>
        </p:txBody>
      </p:sp>
      <p:sp>
        <p:nvSpPr>
          <p:cNvPr id="3" name="Content Placeholder 2"/>
          <p:cNvSpPr>
            <a:spLocks noGrp="1"/>
          </p:cNvSpPr>
          <p:nvPr>
            <p:ph idx="1"/>
          </p:nvPr>
        </p:nvSpPr>
        <p:spPr>
          <a:xfrm>
            <a:off x="93345" y="779145"/>
            <a:ext cx="12005310" cy="4867910"/>
          </a:xfrm>
        </p:spPr>
        <p:txBody>
          <a:bodyPr>
            <a:noAutofit/>
          </a:bodyPr>
          <a:p>
            <a:pPr marL="0" indent="0">
              <a:buNone/>
            </a:pPr>
            <a:r>
              <a:rPr lang="en-US" sz="2000"/>
              <a:t>Aim of the project:</a:t>
            </a:r>
            <a:endParaRPr lang="en-US" sz="2000"/>
          </a:p>
          <a:p>
            <a:pPr marL="0" indent="0">
              <a:buNone/>
            </a:pPr>
            <a:r>
              <a:rPr lang="en-US" sz="2000"/>
              <a:t>Develop a FER system that shows the list of emotion and probability using CNN that can predict based on eight classes of facial emotions.</a:t>
            </a:r>
            <a:endParaRPr lang="en-US" sz="2000"/>
          </a:p>
          <a:p>
            <a:pPr marL="0" indent="0">
              <a:buNone/>
            </a:pPr>
            <a:endParaRPr lang="en-US" sz="2000"/>
          </a:p>
          <a:p>
            <a:pPr marL="0" indent="0">
              <a:buNone/>
            </a:pPr>
            <a:r>
              <a:rPr lang="en-US" sz="2000">
                <a:sym typeface="+mn-ea"/>
              </a:rPr>
              <a:t>SPECIFIC OBJECTIVES</a:t>
            </a:r>
            <a:endParaRPr lang="en-US" sz="2000">
              <a:sym typeface="+mn-ea"/>
            </a:endParaRPr>
          </a:p>
          <a:p>
            <a:pPr marL="0" indent="0">
              <a:buNone/>
            </a:pPr>
            <a:endParaRPr lang="en-US" sz="2000"/>
          </a:p>
          <a:p>
            <a:pPr marL="342900" indent="-342900">
              <a:buAutoNum type="arabicPeriod"/>
            </a:pPr>
            <a:r>
              <a:rPr lang="en-US" sz="2000"/>
              <a:t>Design CNN architecture optimized for probability prediction on 8 classes of facial emotions.</a:t>
            </a:r>
            <a:endParaRPr lang="en-US" sz="2000"/>
          </a:p>
          <a:p>
            <a:pPr marL="342900" indent="-342900">
              <a:buAutoNum type="arabicPeriod"/>
            </a:pPr>
            <a:endParaRPr lang="en-US" sz="2000"/>
          </a:p>
          <a:p>
            <a:pPr marL="342900" indent="-342900">
              <a:buAutoNum type="arabicPeriod"/>
            </a:pPr>
            <a:r>
              <a:rPr lang="en-US" sz="2000"/>
              <a:t>Train model on dataset .</a:t>
            </a:r>
            <a:endParaRPr lang="en-US" sz="2000"/>
          </a:p>
          <a:p>
            <a:pPr marL="342900" indent="-342900">
              <a:buAutoNum type="arabicPeriod"/>
            </a:pPr>
            <a:endParaRPr lang="en-US" sz="2000"/>
          </a:p>
          <a:p>
            <a:pPr marL="342900" indent="-342900">
              <a:buAutoNum type="arabicPeriod"/>
            </a:pPr>
            <a:r>
              <a:rPr lang="en-US" sz="2000"/>
              <a:t>Evaluate with metrics like micro/macro F1 score, ROC curve and </a:t>
            </a:r>
            <a:r>
              <a:rPr lang="en-US" sz="2000">
                <a:sym typeface="+mn-ea"/>
              </a:rPr>
              <a:t>Analyze model for blended emotion insights.</a:t>
            </a:r>
            <a:endParaRPr lang="en-US" sz="2000"/>
          </a:p>
          <a:p>
            <a:pPr marL="0" indent="0">
              <a:buNone/>
            </a:pPr>
            <a:endParaRPr lang="en-US" sz="2000"/>
          </a:p>
          <a:p>
            <a:pPr marL="342900" indent="-342900">
              <a:buAutoNum type="arabicPeriod"/>
            </a:pPr>
            <a:endParaRPr lang="en-US" sz="20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nvPr>
        </p:nvSpPr>
        <p:spPr>
          <a:xfrm>
            <a:off x="609600" y="0"/>
            <a:ext cx="10972800" cy="666750"/>
          </a:xfrm>
        </p:spPr>
        <p:txBody>
          <a:bodyPr/>
          <a:p>
            <a:r>
              <a:rPr lang="en-US" sz="3200"/>
              <a:t>Proposed Methodology</a:t>
            </a:r>
            <a:endParaRPr lang="en-US" sz="3200"/>
          </a:p>
        </p:txBody>
      </p:sp>
      <p:sp>
        <p:nvSpPr>
          <p:cNvPr id="2" name="Slide Number Placeholder 1"/>
          <p:cNvSpPr>
            <a:spLocks noGrp="1"/>
          </p:cNvSpPr>
          <p:nvPr>
            <p:ph type="sldNum" sz="quarter" idx="12"/>
          </p:nvPr>
        </p:nvSpPr>
        <p:spPr/>
        <p:txBody>
          <a:bodyPr/>
          <a:p>
            <a:fld id="{9B618960-8005-486C-9A75-10CB2AAC16F9}" type="slidenum">
              <a:rPr lang="en-US" smtClean="0"/>
            </a:fld>
            <a:endParaRPr lang="en-US"/>
          </a:p>
        </p:txBody>
      </p:sp>
      <p:pic>
        <p:nvPicPr>
          <p:cNvPr id="8" name="Picture 7"/>
          <p:cNvPicPr>
            <a:picLocks noChangeAspect="1"/>
          </p:cNvPicPr>
          <p:nvPr/>
        </p:nvPicPr>
        <p:blipFill>
          <a:blip r:embed="rId1"/>
          <a:stretch>
            <a:fillRect/>
          </a:stretch>
        </p:blipFill>
        <p:spPr>
          <a:xfrm>
            <a:off x="366395" y="615315"/>
            <a:ext cx="10100945" cy="60153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0"/>
            <a:ext cx="10972800" cy="666750"/>
          </a:xfrm>
        </p:spPr>
        <p:txBody>
          <a:bodyPr/>
          <a:p>
            <a:r>
              <a:rPr lang="en-US" sz="3200"/>
              <a:t>Proposed Methodology</a:t>
            </a:r>
            <a:endParaRPr lang="en-US" sz="3200"/>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pic>
        <p:nvPicPr>
          <p:cNvPr id="4" name="Picture 3" descr="electronics-10-01036-g003"/>
          <p:cNvPicPr>
            <a:picLocks noChangeAspect="1"/>
          </p:cNvPicPr>
          <p:nvPr/>
        </p:nvPicPr>
        <p:blipFill>
          <a:blip r:embed="rId1"/>
          <a:stretch>
            <a:fillRect/>
          </a:stretch>
        </p:blipFill>
        <p:spPr>
          <a:xfrm>
            <a:off x="0" y="556895"/>
            <a:ext cx="12192000" cy="5743575"/>
          </a:xfrm>
          <a:prstGeom prst="rect">
            <a:avLst/>
          </a:prstGeom>
        </p:spPr>
      </p:pic>
      <p:pic>
        <p:nvPicPr>
          <p:cNvPr id="6" name="Picture 5"/>
          <p:cNvPicPr>
            <a:picLocks noChangeAspect="1"/>
          </p:cNvPicPr>
          <p:nvPr/>
        </p:nvPicPr>
        <p:blipFill>
          <a:blip r:embed="rId2"/>
          <a:stretch>
            <a:fillRect/>
          </a:stretch>
        </p:blipFill>
        <p:spPr>
          <a:xfrm>
            <a:off x="315595" y="1170940"/>
            <a:ext cx="5396230" cy="24688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202055" y="234950"/>
            <a:ext cx="9787890" cy="659765"/>
          </a:xfrm>
        </p:spPr>
        <p:txBody>
          <a:bodyPr/>
          <a:p>
            <a:r>
              <a:rPr lang="en-US" sz="3200"/>
              <a:t>EXPECTED CONTRIBUTION TO KNOWLEDGE</a:t>
            </a:r>
            <a:endParaRPr lang="en-US" sz="3200"/>
          </a:p>
        </p:txBody>
      </p:sp>
      <p:sp>
        <p:nvSpPr>
          <p:cNvPr id="3" name="Content Placeholder 2"/>
          <p:cNvSpPr>
            <a:spLocks noGrp="1"/>
          </p:cNvSpPr>
          <p:nvPr>
            <p:ph idx="1"/>
          </p:nvPr>
        </p:nvSpPr>
        <p:spPr/>
        <p:txBody>
          <a:bodyPr/>
          <a:p>
            <a:r>
              <a:rPr lang="en-US" sz="2400"/>
              <a:t>Advance state-of-the-art in multi-label FER.</a:t>
            </a:r>
            <a:endParaRPr lang="en-US" sz="2400"/>
          </a:p>
          <a:p>
            <a:r>
              <a:rPr lang="en-US" sz="2400"/>
              <a:t>Provide insights into blended facial emotion recognition.</a:t>
            </a:r>
            <a:endParaRPr lang="en-US" sz="2400"/>
          </a:p>
          <a:p>
            <a:r>
              <a:rPr lang="en-US" sz="2400"/>
              <a:t>Enable new applications benefitting from facial emotion detection.</a:t>
            </a:r>
            <a:endParaRPr lang="en-US" sz="2400"/>
          </a:p>
          <a:p>
            <a:pPr marL="0" indent="0">
              <a:buNone/>
            </a:pPr>
            <a:endParaRPr lang="en-US" sz="2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56515" y="864870"/>
            <a:ext cx="12135485" cy="5949950"/>
          </a:xfrm>
        </p:spPr>
        <p:txBody>
          <a:bodyPr/>
          <a:p>
            <a:r>
              <a:rPr lang="en-US" sz="1400"/>
              <a:t>Kim, B., Roh, M. C., &amp; Kim, D. (2023). Subtle Facial Expression Recognition using Multi-Output Convolutional Neural Network. IEEE Transactions on Affective Computing.</a:t>
            </a:r>
            <a:endParaRPr lang="en-US" sz="1400"/>
          </a:p>
          <a:p>
            <a:r>
              <a:rPr lang="en-US" sz="1400"/>
              <a:t>Lee, S., Park, J., &amp; Kim, J. (2022). An Ensemble Approach for Multi-Label Facial Expression Recognition. International Journal of Computer Vision, 128(6), 1562-1579.</a:t>
            </a:r>
            <a:endParaRPr lang="en-US" sz="1400"/>
          </a:p>
          <a:p>
            <a:r>
              <a:rPr lang="en-US" sz="1400"/>
              <a:t>Ahmed, F., Temko, A., &amp; Marnane, W. (2021). Multi-Task Learning for Facial Action Unit Detection using Convolutional Neural Networks. Pattern Recognition Letters, 147, 15-21.</a:t>
            </a:r>
            <a:endParaRPr lang="en-US" sz="1400"/>
          </a:p>
          <a:p>
            <a:r>
              <a:rPr lang="en-US" sz="1400"/>
              <a:t>Wang, Y., See, J., Phan, R.C.W. and Oh, Y.H. (2020). Efficient 3D Convolutional Networks for Action Unit Detection. Pattern Recognition, 108, 107580.</a:t>
            </a:r>
            <a:endParaRPr lang="en-US" sz="1400"/>
          </a:p>
          <a:p>
            <a:r>
              <a:rPr lang="en-US" sz="1400"/>
              <a:t>Liu, P., Han, S., Meng, Z. and Tong, Y. (2019). Facial Expression Recognition via a Boosted Deep Belief Network. IEEE Transactions on Neural Networks and Learning Systems, 30(10), pp.2992-3006.</a:t>
            </a:r>
            <a:endParaRPr lang="en-US" sz="1400"/>
          </a:p>
          <a:p>
            <a:r>
              <a:rPr lang="en-US" sz="1400"/>
              <a:t>Jung, H., Lee, S., Yim, J. and Kim, S. (2017). Joint Fine-Tuning in Deep Neural Networks for Facial Expression Recognition. IEEE International Conference on Computer Vision, 2983-2991.</a:t>
            </a:r>
            <a:endParaRPr lang="en-US" sz="1400"/>
          </a:p>
          <a:p>
            <a:r>
              <a:rPr lang="en-US" sz="1400"/>
              <a:t>Zeng, J., Zhang, X., Xu, C., &amp; Yang, H. (2023). Facial emotion recognition with contextual attention. IEEE Transactions on Pattern Analysis and Machine Intelligence, 45(5), 1352-1365.</a:t>
            </a:r>
            <a:endParaRPr lang="en-US" sz="1400"/>
          </a:p>
          <a:p>
            <a:r>
              <a:rPr lang="en-US" sz="1400">
                <a:sym typeface="+mn-ea"/>
              </a:rPr>
              <a:t>Liu, M., Li, S., &amp; Shan, S. (2014). Boosted deep belief networks for facial expression recognition. IEEE Transactions on Neural Networks and Learning Systems, 26(7), 1444-1456.</a:t>
            </a:r>
            <a:endParaRPr lang="en-US" sz="1400">
              <a:sym typeface="+mn-ea"/>
            </a:endParaRPr>
          </a:p>
          <a:p>
            <a:r>
              <a:rPr lang="en-US" sz="1400">
                <a:sym typeface="+mn-ea"/>
              </a:rPr>
              <a:t>Jaiswal, S., &amp; Valstar, M. F. (2016). Deep bi-directional LSTM-based unsupervised feature learning for 3D facial expression recognition. In Proceedings of the IEEE International Conference on Automatic Face &amp; Gesture Recognition (pp. 138-144).</a:t>
            </a:r>
            <a:endParaRPr lang="en-US" sz="1400">
              <a:sym typeface="+mn-ea"/>
            </a:endParaRPr>
          </a:p>
          <a:p>
            <a:r>
              <a:rPr lang="en-US" sz="1400">
                <a:sym typeface="+mn-ea"/>
              </a:rPr>
              <a:t>Jung, H., Yim, J., &amp; Kim, J. (2014). Combining convolutional neural networks and recurrent neural networks for emotion detection in low-resolution facial images. In Proceedings of the International Conference on Pattern Recognition (pp. 448-453).</a:t>
            </a:r>
            <a:endParaRPr lang="en-US" sz="1400">
              <a:sym typeface="+mn-ea"/>
            </a:endParaRPr>
          </a:p>
          <a:p>
            <a:r>
              <a:rPr lang="en-US" sz="1400">
                <a:sym typeface="+mn-ea"/>
              </a:rPr>
              <a:t>Liu, Z., Liu, Q., &amp; Shan, S. (2013). Deeply learning deformable facial action parts model for dynamic expression analysis. International Journal of Computer Vision, 107(2), 97-115.</a:t>
            </a:r>
            <a:endParaRPr lang="en-US" sz="1400"/>
          </a:p>
          <a:p>
            <a:endParaRPr lang="en-US" sz="1400"/>
          </a:p>
          <a:p>
            <a:endParaRPr lang="en-US" sz="1400"/>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
        <p:nvSpPr>
          <p:cNvPr id="5" name="Title 4"/>
          <p:cNvSpPr>
            <a:spLocks noGrp="1"/>
          </p:cNvSpPr>
          <p:nvPr>
            <p:ph type="title"/>
          </p:nvPr>
        </p:nvSpPr>
        <p:spPr>
          <a:xfrm>
            <a:off x="280670" y="163195"/>
            <a:ext cx="10972800" cy="450850"/>
          </a:xfrm>
        </p:spPr>
        <p:txBody>
          <a:bodyPr/>
          <a:p>
            <a:r>
              <a:rPr lang="en-US" sz="2400"/>
              <a:t>REFERENCES </a:t>
            </a:r>
            <a:endParaRPr 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6511</Words>
  <Application>WPS Presentation</Application>
  <PresentationFormat>Widescreen</PresentationFormat>
  <Paragraphs>246</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SimSun</vt:lpstr>
      <vt:lpstr>Wingdings</vt:lpstr>
      <vt:lpstr>Times New Roman Regular</vt:lpstr>
      <vt:lpstr>Calibri Light</vt:lpstr>
      <vt:lpstr>Helvetica Neue</vt:lpstr>
      <vt:lpstr>Calibri</vt:lpstr>
      <vt:lpstr>Microsoft YaHei</vt:lpstr>
      <vt:lpstr>汉仪旗黑</vt:lpstr>
      <vt:lpstr>Arial Unicode MS</vt:lpstr>
      <vt:lpstr>宋体-简</vt:lpstr>
      <vt:lpstr>Office Theme</vt:lpstr>
      <vt:lpstr>Multi-Label Facial Expression Recognition  using  Deep Convolutional Neural Networks   OMAGE MICHEAL BRIGHT  233353</vt:lpstr>
      <vt:lpstr>INTRODUCTION</vt:lpstr>
      <vt:lpstr>LITERATURE REVIEW TABLE</vt:lpstr>
      <vt:lpstr>LITERATURE REVIEW TABLE</vt:lpstr>
      <vt:lpstr>PROBLEM STATEMENT</vt:lpstr>
      <vt:lpstr>AIM AND OBJECTIVES</vt:lpstr>
      <vt:lpstr>Proposed Methodology</vt:lpstr>
      <vt:lpstr>Proposed Methodology</vt:lpstr>
      <vt:lpstr>EXPECTED CONTRIBUTION TO KNOWLEDGE</vt:lpstr>
      <vt:lpstr>REFERENCES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ARTIFICIAL INTELLIGENCE   ON   FACIAL EMOTION RECOGNITION   AND   DETECTION</dc:title>
  <dc:creator>mikky</dc:creator>
  <cp:lastModifiedBy>mikky</cp:lastModifiedBy>
  <cp:revision>39</cp:revision>
  <dcterms:created xsi:type="dcterms:W3CDTF">2023-10-10T20:29:14Z</dcterms:created>
  <dcterms:modified xsi:type="dcterms:W3CDTF">2023-10-10T20:29:14Z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1033-5.5.1.8075</vt:lpwstr>
  </property>
</Properties>
</file>