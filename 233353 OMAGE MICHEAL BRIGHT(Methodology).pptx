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89" r:id="rId6"/>
    <p:sldId id="281" r:id="rId7"/>
    <p:sldId id="265" r:id="rId8"/>
    <p:sldId id="272" r:id="rId9"/>
    <p:sldId id="268" r:id="rId10"/>
    <p:sldId id="297" r:id="rId11"/>
    <p:sldId id="298" r:id="rId12"/>
    <p:sldId id="299" r:id="rId13"/>
    <p:sldId id="301" r:id="rId14"/>
    <p:sldId id="300" r:id="rId15"/>
    <p:sldId id="302" r:id="rId16"/>
    <p:sldId id="273" r:id="rId17"/>
    <p:sldId id="29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9710" y="468630"/>
            <a:ext cx="11704955" cy="3666490"/>
          </a:xfrm>
        </p:spPr>
        <p:txBody>
          <a:bodyPr/>
          <a:p>
            <a:pPr algn="ctr"/>
            <a:r>
              <a:rPr lang="en-US" sz="2400"/>
              <a:t>DEVELOPMENT OF FACIAL EMOTION RECOGNITION </a:t>
            </a:r>
            <a:br>
              <a:rPr lang="en-US" sz="2400"/>
            </a:br>
            <a:r>
              <a:rPr lang="en-US" sz="2400"/>
              <a:t>FOR </a:t>
            </a:r>
            <a:br>
              <a:rPr lang="en-US" sz="2400"/>
            </a:br>
            <a:r>
              <a:rPr lang="en-US" sz="2400"/>
              <a:t>MULTI-CLASSIFICATION ON IMAGE </a:t>
            </a:r>
            <a:br>
              <a:rPr lang="en-US" sz="2400"/>
            </a:br>
            <a:br>
              <a:rPr lang="en-US" sz="2400"/>
            </a:br>
            <a:br>
              <a:rPr lang="en-US" sz="2400"/>
            </a:br>
            <a:r>
              <a:rPr lang="en-US" sz="2400">
                <a:sym typeface="+mn-ea"/>
              </a:rPr>
              <a:t>OMAGE MICHEAL BRIGHT</a:t>
            </a:r>
            <a:br>
              <a:rPr lang="en-US" sz="2400">
                <a:sym typeface="+mn-ea"/>
              </a:rPr>
            </a:br>
            <a:br>
              <a:rPr lang="en-US" sz="2400">
                <a:sym typeface="+mn-ea"/>
              </a:rPr>
            </a:br>
            <a:r>
              <a:rPr lang="en-US" sz="2400">
                <a:sym typeface="+mn-ea"/>
              </a:rPr>
              <a:t>233353</a:t>
            </a:r>
            <a:endParaRPr lang="en-US" sz="2400"/>
          </a:p>
        </p:txBody>
      </p:sp>
      <p:sp>
        <p:nvSpPr>
          <p:cNvPr id="3" name="Subtitle 2"/>
          <p:cNvSpPr>
            <a:spLocks noGrp="1"/>
          </p:cNvSpPr>
          <p:nvPr>
            <p:ph type="subTitle" idx="1"/>
          </p:nvPr>
        </p:nvSpPr>
        <p:spPr>
          <a:xfrm>
            <a:off x="2661285" y="5293360"/>
            <a:ext cx="8769350" cy="1062990"/>
          </a:xfrm>
        </p:spPr>
        <p:txBody>
          <a:bodyPr>
            <a:normAutofit fontScale="70000"/>
          </a:bodyPr>
          <a:p>
            <a:pPr algn="l"/>
            <a:r>
              <a:rPr lang="en-US"/>
              <a:t>SUPERVISOR NAME:		Dr. Nancy Woods</a:t>
            </a:r>
            <a:endParaRPr lang="en-US"/>
          </a:p>
          <a:p>
            <a:pPr algn="l"/>
            <a:endParaRPr lang="en-US"/>
          </a:p>
          <a:p>
            <a:pPr algn="l"/>
            <a:r>
              <a:rPr lang="en-US"/>
              <a:t>PRESENTATION:			METHODOLOGY</a:t>
            </a:r>
            <a:endParaRPr lang="en-US"/>
          </a:p>
          <a:p>
            <a:pPr algn="l"/>
            <a:endParaRPr lang="en-US"/>
          </a:p>
          <a:p>
            <a:pPr algn="l"/>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340"/>
            <a:ext cx="4293870" cy="683895"/>
          </a:xfrm>
        </p:spPr>
        <p:txBody>
          <a:bodyPr/>
          <a:p>
            <a:r>
              <a:rPr lang="en-US" sz="3600"/>
              <a:t>INTRODUCTION</a:t>
            </a:r>
            <a:endParaRPr lang="en-US" sz="3600"/>
          </a:p>
        </p:txBody>
      </p:sp>
      <p:sp>
        <p:nvSpPr>
          <p:cNvPr id="7" name="Text Box 6"/>
          <p:cNvSpPr txBox="1"/>
          <p:nvPr/>
        </p:nvSpPr>
        <p:spPr>
          <a:xfrm>
            <a:off x="293370" y="1640205"/>
            <a:ext cx="6833870" cy="4092575"/>
          </a:xfrm>
          <a:prstGeom prst="rect">
            <a:avLst/>
          </a:prstGeom>
          <a:noFill/>
        </p:spPr>
        <p:txBody>
          <a:bodyPr wrap="square" rtlCol="0">
            <a:spAutoFit/>
          </a:bodyPr>
          <a:p>
            <a:pPr marL="342900" indent="-342900" algn="l">
              <a:buFont typeface="Arial" panose="020B0604020202020204" pitchFamily="34" charset="0"/>
              <a:buChar char="•"/>
            </a:pPr>
            <a:r>
              <a:rPr lang="en-US" sz="2000"/>
              <a:t>Facial expressions serve as one of the most natural and powerful means of human communication, capable of conveying a wide spectrum of emotions. </a:t>
            </a:r>
            <a:endParaRPr lang="en-US" sz="2000"/>
          </a:p>
          <a:p>
            <a:pPr marL="342900" indent="-342900" algn="l">
              <a:buFont typeface="Arial" panose="020B0604020202020204" pitchFamily="34" charset="0"/>
              <a:buChar char="•"/>
            </a:pPr>
            <a:endParaRPr lang="en-US" sz="2000"/>
          </a:p>
          <a:p>
            <a:pPr marL="342900" indent="-342900" algn="l">
              <a:buFont typeface="Arial" panose="020B0604020202020204" pitchFamily="34" charset="0"/>
              <a:buChar char="•"/>
            </a:pPr>
            <a:r>
              <a:rPr lang="en-US" sz="2000"/>
              <a:t>In the realm of artificial intelligence and computer vision, recognizing these emotions from facial cues has gained significant importance.</a:t>
            </a:r>
            <a:endParaRPr lang="en-US" sz="2000"/>
          </a:p>
          <a:p>
            <a:pPr marL="342900" indent="-342900" algn="l">
              <a:buFont typeface="Arial" panose="020B0604020202020204" pitchFamily="34" charset="0"/>
              <a:buChar char="•"/>
            </a:pPr>
            <a:endParaRPr lang="en-US" sz="2000"/>
          </a:p>
          <a:p>
            <a:pPr marL="342900" indent="-342900" algn="l">
              <a:buFont typeface="Arial" panose="020B0604020202020204" pitchFamily="34" charset="0"/>
              <a:buChar char="•"/>
            </a:pPr>
            <a:r>
              <a:rPr lang="en-US" sz="2000"/>
              <a:t>This presentation delves into the fascinating field of development of facial emotion recognition for multi classification of image, leveraging the capabilities of Convolutional Neural Network (CNN).</a:t>
            </a:r>
            <a:endParaRPr lang="en-US" sz="2000"/>
          </a:p>
          <a:p>
            <a:pPr marL="342900" indent="-342900" algn="l"/>
            <a:endParaRPr lang="en-US" sz="20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8087995" y="245745"/>
            <a:ext cx="1231900" cy="1597025"/>
          </a:xfrm>
          <a:prstGeom prst="rect">
            <a:avLst/>
          </a:prstGeom>
        </p:spPr>
      </p:pic>
      <p:pic>
        <p:nvPicPr>
          <p:cNvPr id="8" name="Picture 7"/>
          <p:cNvPicPr>
            <a:picLocks noChangeAspect="1"/>
          </p:cNvPicPr>
          <p:nvPr/>
        </p:nvPicPr>
        <p:blipFill>
          <a:blip r:embed="rId2"/>
          <a:stretch>
            <a:fillRect/>
          </a:stretch>
        </p:blipFill>
        <p:spPr>
          <a:xfrm>
            <a:off x="10735945" y="245745"/>
            <a:ext cx="1292225" cy="1637030"/>
          </a:xfrm>
          <a:prstGeom prst="rect">
            <a:avLst/>
          </a:prstGeom>
        </p:spPr>
      </p:pic>
      <p:pic>
        <p:nvPicPr>
          <p:cNvPr id="9" name="Picture 8"/>
          <p:cNvPicPr>
            <a:picLocks noChangeAspect="1"/>
          </p:cNvPicPr>
          <p:nvPr/>
        </p:nvPicPr>
        <p:blipFill>
          <a:blip r:embed="rId3"/>
          <a:stretch>
            <a:fillRect/>
          </a:stretch>
        </p:blipFill>
        <p:spPr>
          <a:xfrm>
            <a:off x="8122285" y="1882775"/>
            <a:ext cx="1162685" cy="1490980"/>
          </a:xfrm>
          <a:prstGeom prst="rect">
            <a:avLst/>
          </a:prstGeom>
        </p:spPr>
      </p:pic>
      <p:pic>
        <p:nvPicPr>
          <p:cNvPr id="10" name="Picture 9"/>
          <p:cNvPicPr>
            <a:picLocks noChangeAspect="1"/>
          </p:cNvPicPr>
          <p:nvPr/>
        </p:nvPicPr>
        <p:blipFill>
          <a:blip r:embed="rId4"/>
          <a:stretch>
            <a:fillRect/>
          </a:stretch>
        </p:blipFill>
        <p:spPr>
          <a:xfrm>
            <a:off x="10875645" y="1882775"/>
            <a:ext cx="1081405" cy="1490345"/>
          </a:xfrm>
          <a:prstGeom prst="rect">
            <a:avLst/>
          </a:prstGeom>
        </p:spPr>
      </p:pic>
      <p:pic>
        <p:nvPicPr>
          <p:cNvPr id="12" name="Picture 11"/>
          <p:cNvPicPr>
            <a:picLocks noChangeAspect="1"/>
          </p:cNvPicPr>
          <p:nvPr/>
        </p:nvPicPr>
        <p:blipFill>
          <a:blip r:embed="rId5"/>
          <a:stretch>
            <a:fillRect/>
          </a:stretch>
        </p:blipFill>
        <p:spPr>
          <a:xfrm>
            <a:off x="8203565" y="3555365"/>
            <a:ext cx="1081405" cy="1406525"/>
          </a:xfrm>
          <a:prstGeom prst="rect">
            <a:avLst/>
          </a:prstGeom>
        </p:spPr>
      </p:pic>
      <p:pic>
        <p:nvPicPr>
          <p:cNvPr id="13" name="Picture 12"/>
          <p:cNvPicPr>
            <a:picLocks noChangeAspect="1"/>
          </p:cNvPicPr>
          <p:nvPr/>
        </p:nvPicPr>
        <p:blipFill>
          <a:blip r:embed="rId6"/>
          <a:stretch>
            <a:fillRect/>
          </a:stretch>
        </p:blipFill>
        <p:spPr>
          <a:xfrm>
            <a:off x="10875010" y="3528695"/>
            <a:ext cx="1082040" cy="1433195"/>
          </a:xfrm>
          <a:prstGeom prst="rect">
            <a:avLst/>
          </a:prstGeom>
        </p:spPr>
      </p:pic>
      <p:pic>
        <p:nvPicPr>
          <p:cNvPr id="14" name="Picture 13"/>
          <p:cNvPicPr>
            <a:picLocks noChangeAspect="1"/>
          </p:cNvPicPr>
          <p:nvPr/>
        </p:nvPicPr>
        <p:blipFill>
          <a:blip r:embed="rId7"/>
          <a:stretch>
            <a:fillRect/>
          </a:stretch>
        </p:blipFill>
        <p:spPr>
          <a:xfrm>
            <a:off x="8122285" y="4961890"/>
            <a:ext cx="1285875" cy="1805940"/>
          </a:xfrm>
          <a:prstGeom prst="rect">
            <a:avLst/>
          </a:prstGeom>
        </p:spPr>
      </p:pic>
      <p:pic>
        <p:nvPicPr>
          <p:cNvPr id="15" name="Picture 14"/>
          <p:cNvPicPr>
            <a:picLocks noChangeAspect="1"/>
          </p:cNvPicPr>
          <p:nvPr/>
        </p:nvPicPr>
        <p:blipFill>
          <a:blip r:embed="rId8"/>
          <a:stretch>
            <a:fillRect/>
          </a:stretch>
        </p:blipFill>
        <p:spPr>
          <a:xfrm>
            <a:off x="10800715" y="4961890"/>
            <a:ext cx="1231900" cy="1697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300355"/>
          </a:xfrm>
        </p:spPr>
        <p:txBody>
          <a:bodyPr/>
          <a:p>
            <a:r>
              <a:rPr lang="en-US" sz="2000"/>
              <a:t>LITERATURE REVIEW TABLE</a:t>
            </a:r>
            <a:endParaRPr lang="en-US" sz="2000"/>
          </a:p>
        </p:txBody>
      </p:sp>
      <p:graphicFrame>
        <p:nvGraphicFramePr>
          <p:cNvPr id="4" name="Content Placeholder 3"/>
          <p:cNvGraphicFramePr/>
          <p:nvPr>
            <p:ph idx="1"/>
          </p:nvPr>
        </p:nvGraphicFramePr>
        <p:xfrm>
          <a:off x="0" y="698500"/>
          <a:ext cx="12150725" cy="6085840"/>
        </p:xfrm>
        <a:graphic>
          <a:graphicData uri="http://schemas.openxmlformats.org/drawingml/2006/table">
            <a:tbl>
              <a:tblPr firstRow="1" bandRow="1">
                <a:tableStyleId>{5C22544A-7EE6-4342-B048-85BDC9FD1C3A}</a:tableStyleId>
              </a:tblPr>
              <a:tblGrid>
                <a:gridCol w="382905"/>
                <a:gridCol w="1057910"/>
                <a:gridCol w="2578100"/>
                <a:gridCol w="3242310"/>
                <a:gridCol w="2613660"/>
                <a:gridCol w="2275840"/>
              </a:tblGrid>
              <a:tr h="772160">
                <a:tc>
                  <a:txBody>
                    <a:bodyPr/>
                    <a:p>
                      <a:pPr>
                        <a:lnSpc>
                          <a:spcPct val="70000"/>
                        </a:lnSpc>
                        <a:buNone/>
                      </a:pPr>
                      <a:r>
                        <a:rPr lang="en-US" sz="1800" b="0">
                          <a:latin typeface="Times New Roman Regular" panose="02020603050405020304" charset="0"/>
                          <a:cs typeface="Times New Roman Regular" panose="02020603050405020304" charset="0"/>
                        </a:rPr>
                        <a:t>S/N</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AUTHORS&amp; YEARS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PROBLEM STATEMENT</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METHODOLOGY</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DATASETS/RESULTS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LIMITATION</a:t>
                      </a:r>
                      <a:endParaRPr lang="en-US" sz="1800" b="0">
                        <a:latin typeface="Times New Roman Regular" panose="02020603050405020304" charset="0"/>
                        <a:cs typeface="Times New Roman Regular" panose="02020603050405020304" charset="0"/>
                      </a:endParaRPr>
                    </a:p>
                  </a:txBody>
                  <a:tcPr/>
                </a:tc>
              </a:tr>
              <a:tr h="1864360">
                <a:tc>
                  <a:txBody>
                    <a:bodyPr/>
                    <a:p>
                      <a:pPr>
                        <a:lnSpc>
                          <a:spcPct val="70000"/>
                        </a:lnSpc>
                        <a:buNone/>
                      </a:pPr>
                      <a:r>
                        <a:rPr lang="en-US" sz="1800" b="0">
                          <a:latin typeface="Times New Roman Regular" panose="02020603050405020304" charset="0"/>
                          <a:cs typeface="Times New Roman Regular" panose="02020603050405020304" charset="0"/>
                        </a:rPr>
                        <a:t>1</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Kim et al. (2023)</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Difficulty recognizing subtle and blended emotions. </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Proposed multi-output CNN architecture</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Achieved 67.2% avg F1-score on RAF-DB.</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It was limited by its small dataset size, lack of diversity, bias and noise.</a:t>
                      </a:r>
                      <a:endParaRPr lang="en-US" sz="1800">
                        <a:latin typeface="Times New Roman Regular" panose="02020603050405020304" charset="0"/>
                        <a:cs typeface="Times New Roman Regular" panose="02020603050405020304" charset="0"/>
                        <a:sym typeface="+mn-ea"/>
                      </a:endParaRPr>
                    </a:p>
                  </a:txBody>
                  <a:tcPr/>
                </a:tc>
              </a:tr>
              <a:tr h="1560830">
                <a:tc>
                  <a:txBody>
                    <a:bodyPr/>
                    <a:p>
                      <a:pPr>
                        <a:lnSpc>
                          <a:spcPct val="70000"/>
                        </a:lnSpc>
                        <a:buNone/>
                      </a:pPr>
                      <a:r>
                        <a:rPr lang="en-US" sz="1800" b="0">
                          <a:latin typeface="Times New Roman Regular" panose="02020603050405020304" charset="0"/>
                          <a:cs typeface="Times New Roman Regular" panose="02020603050405020304" charset="0"/>
                        </a:rPr>
                        <a:t>2</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Lee et al. (2022)</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Limits in handling multiple emotion labels.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Used an ensemble of CNNs for multi-label prediction</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Obtained 58.4% micro F1-score on FERPlus.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Prone to overfitting on small datasets. </a:t>
                      </a:r>
                      <a:endParaRPr lang="en-US" sz="1800" b="0">
                        <a:latin typeface="Times New Roman Regular" panose="02020603050405020304" charset="0"/>
                        <a:cs typeface="Times New Roman Regular" panose="02020603050405020304" charset="0"/>
                      </a:endParaRPr>
                    </a:p>
                  </a:txBody>
                  <a:tcPr/>
                </a:tc>
              </a:tr>
              <a:tr h="1888490">
                <a:tc>
                  <a:txBody>
                    <a:bodyPr/>
                    <a:p>
                      <a:pPr>
                        <a:lnSpc>
                          <a:spcPct val="70000"/>
                        </a:lnSpc>
                        <a:buNone/>
                      </a:pPr>
                      <a:r>
                        <a:rPr lang="en-US" sz="1800" b="0">
                          <a:latin typeface="Times New Roman Regular" panose="02020603050405020304" charset="0"/>
                          <a:cs typeface="Times New Roman Regular" panose="02020603050405020304" charset="0"/>
                        </a:rPr>
                        <a:t>3</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Ahmed et al. (2021)</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Existing methods do not effectively model multiple emotions. </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Proposed multi-task CNN architecture</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Achieved 52.6% macro F1 on EmotiW 2020</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Does not handle label ambiguity well.</a:t>
                      </a:r>
                      <a:endParaRPr lang="en-US" sz="1800" b="0">
                        <a:latin typeface="Times New Roman Regular" panose="02020603050405020304" charset="0"/>
                        <a:cs typeface="Times New Roman Regular" panose="02020603050405020304" charset="0"/>
                      </a:endParaRP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graphicFrame>
        <p:nvGraphicFramePr>
          <p:cNvPr id="5" name="Content Placeholder 4"/>
          <p:cNvGraphicFramePr/>
          <p:nvPr>
            <p:ph idx="1"/>
          </p:nvPr>
        </p:nvGraphicFramePr>
        <p:xfrm>
          <a:off x="20320" y="528320"/>
          <a:ext cx="12150725" cy="6193155"/>
        </p:xfrm>
        <a:graphic>
          <a:graphicData uri="http://schemas.openxmlformats.org/drawingml/2006/table">
            <a:tbl>
              <a:tblPr firstRow="1" bandRow="1">
                <a:tableStyleId>{5C22544A-7EE6-4342-B048-85BDC9FD1C3A}</a:tableStyleId>
              </a:tblPr>
              <a:tblGrid>
                <a:gridCol w="492760"/>
                <a:gridCol w="948055"/>
                <a:gridCol w="2577465"/>
                <a:gridCol w="3242945"/>
                <a:gridCol w="2613660"/>
                <a:gridCol w="2275840"/>
              </a:tblGrid>
              <a:tr h="850265">
                <a:tc>
                  <a:txBody>
                    <a:bodyPr/>
                    <a:p>
                      <a:pPr>
                        <a:lnSpc>
                          <a:spcPct val="70000"/>
                        </a:lnSpc>
                        <a:buNone/>
                      </a:pPr>
                      <a:r>
                        <a:rPr lang="en-US" sz="1600" b="0">
                          <a:latin typeface="Times New Roman Regular" panose="02020603050405020304" charset="0"/>
                          <a:cs typeface="Times New Roman Regular" panose="02020603050405020304" charset="0"/>
                        </a:rPr>
                        <a:t>4</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Wang et al. (2020)</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Limitations in recognizing subtle facial expressions.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3D CNNs and attention mechanism.   </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Obtained 73.2% accuracy on CASME II dataset.</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Tested only on micro-expressions. </a:t>
                      </a:r>
                      <a:endParaRPr lang="en-US" sz="1600" b="0">
                        <a:latin typeface="Times New Roman Regular" panose="02020603050405020304" charset="0"/>
                        <a:cs typeface="Times New Roman Regular" panose="02020603050405020304" charset="0"/>
                        <a:sym typeface="+mn-ea"/>
                      </a:endParaRPr>
                    </a:p>
                  </a:txBody>
                  <a:tcPr/>
                </a:tc>
              </a:tr>
              <a:tr h="869315">
                <a:tc>
                  <a:txBody>
                    <a:bodyPr/>
                    <a:p>
                      <a:pPr>
                        <a:lnSpc>
                          <a:spcPct val="70000"/>
                        </a:lnSpc>
                        <a:buNone/>
                      </a:pPr>
                      <a:r>
                        <a:rPr lang="en-US" sz="1600" b="0">
                          <a:latin typeface="Times New Roman Regular" panose="02020603050405020304" charset="0"/>
                          <a:cs typeface="Times New Roman Regular" panose="02020603050405020304" charset="0"/>
                        </a:rPr>
                        <a:t>5</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Liu et al. (2019)</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Handling ambiguities in multi-label emotion data.</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Proposed CNN-RNN model with joint-loss training.</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Achieved 63.7% F1 score on FERPlus dataset. </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Did not explore very deep architectures.</a:t>
                      </a:r>
                      <a:endParaRPr lang="en-US" sz="1600" b="0">
                        <a:latin typeface="Times New Roman Regular" panose="02020603050405020304" charset="0"/>
                        <a:cs typeface="Times New Roman Regular" panose="02020603050405020304" charset="0"/>
                        <a:sym typeface="+mn-ea"/>
                      </a:endParaRPr>
                    </a:p>
                  </a:txBody>
                  <a:tcPr/>
                </a:tc>
              </a:tr>
              <a:tr h="868680">
                <a:tc>
                  <a:txBody>
                    <a:bodyPr/>
                    <a:p>
                      <a:pPr>
                        <a:lnSpc>
                          <a:spcPct val="70000"/>
                        </a:lnSpc>
                        <a:buNone/>
                      </a:pPr>
                      <a:r>
                        <a:rPr lang="en-US" sz="1600" b="0">
                          <a:latin typeface="Times New Roman Regular" panose="02020603050405020304" charset="0"/>
                          <a:cs typeface="Times New Roman Regular" panose="02020603050405020304" charset="0"/>
                        </a:rPr>
                        <a:t>6</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Jung et al. (2017)</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Difficulty recognizing mixtures of facial expressions.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ensemble of CNNs trained on expression zones.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Obtained 71.3% accuracy on CK+ dataset.</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 Limited diversity in dataset. </a:t>
                      </a:r>
                      <a:endParaRPr lang="en-US" sz="1600" b="0">
                        <a:latin typeface="Times New Roman Regular" panose="02020603050405020304" charset="0"/>
                        <a:cs typeface="Times New Roman Regular" panose="02020603050405020304" charset="0"/>
                        <a:sym typeface="+mn-ea"/>
                      </a:endParaRPr>
                    </a:p>
                  </a:txBody>
                  <a:tcPr/>
                </a:tc>
              </a:tr>
              <a:tr h="989965">
                <a:tc>
                  <a:txBody>
                    <a:bodyPr/>
                    <a:p>
                      <a:pPr>
                        <a:lnSpc>
                          <a:spcPct val="70000"/>
                        </a:lnSpc>
                        <a:buNone/>
                      </a:pPr>
                      <a:r>
                        <a:rPr lang="en-US" sz="1600" b="0">
                          <a:latin typeface="Times New Roman Regular" panose="02020603050405020304" charset="0"/>
                          <a:cs typeface="Times New Roman Regular" panose="02020603050405020304" charset="0"/>
                        </a:rPr>
                        <a:t>7</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Liu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(2014)</a:t>
                      </a:r>
                      <a:endParaRPr lang="en-US" sz="1600" b="0">
                        <a:latin typeface="Times New Roman Regular" panose="02020603050405020304" charset="0"/>
                        <a:cs typeface="Times New Roman Regular" panose="02020603050405020304" charset="0"/>
                      </a:endParaRPr>
                    </a:p>
                    <a:p>
                      <a:pPr>
                        <a:lnSpc>
                          <a:spcPct val="70000"/>
                        </a:lnSpc>
                        <a:buNone/>
                      </a:pP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Challenging to extract</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discriminative facial patches</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and learn robust features.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Proposed Boosted Deep Belief</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Network using facial landmarks.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CK+, MMI, and FERG datasets. Achieved over 90% accuracy.</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Computationally expensive feature extraction process.</a:t>
                      </a:r>
                      <a:endParaRPr lang="en-US" sz="1600" b="0">
                        <a:latin typeface="Times New Roman Regular" panose="02020603050405020304" charset="0"/>
                        <a:cs typeface="Times New Roman Regular" panose="02020603050405020304" charset="0"/>
                        <a:sym typeface="+mn-ea"/>
                      </a:endParaRPr>
                    </a:p>
                  </a:txBody>
                  <a:tcPr/>
                </a:tc>
              </a:tr>
              <a:tr h="854710">
                <a:tc>
                  <a:txBody>
                    <a:bodyPr/>
                    <a:p>
                      <a:pPr>
                        <a:lnSpc>
                          <a:spcPct val="70000"/>
                        </a:lnSpc>
                        <a:buNone/>
                      </a:pPr>
                      <a:r>
                        <a:rPr lang="en-US" sz="1600" b="0">
                          <a:latin typeface="Times New Roman Regular" panose="02020603050405020304" charset="0"/>
                          <a:cs typeface="Times New Roman Regular" panose="02020603050405020304" charset="0"/>
                        </a:rPr>
                        <a:t>8</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Jaiswal &amp;</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Valstar</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(2016)</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Recognizing action units and</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emotions from limited training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data.</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Bi-directional LSTM neural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networks with 3D CNN features.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BP4D, DISFA, and SEMAINE datasets. Obtained 62%</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average F1 score.</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Did not focus on detecting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specific emotions.</a:t>
                      </a:r>
                      <a:endParaRPr lang="en-US" sz="1600" b="0">
                        <a:latin typeface="Times New Roman Regular" panose="02020603050405020304" charset="0"/>
                        <a:cs typeface="Times New Roman Regular" panose="02020603050405020304" charset="0"/>
                        <a:sym typeface="+mn-ea"/>
                      </a:endParaRPr>
                    </a:p>
                  </a:txBody>
                  <a:tcPr/>
                </a:tc>
              </a:tr>
              <a:tr h="846455">
                <a:tc>
                  <a:txBody>
                    <a:bodyPr/>
                    <a:p>
                      <a:pPr>
                        <a:lnSpc>
                          <a:spcPct val="70000"/>
                        </a:lnSpc>
                        <a:buNone/>
                      </a:pPr>
                      <a:r>
                        <a:rPr lang="en-US" sz="1600" b="0">
                          <a:latin typeface="Times New Roman Regular" panose="02020603050405020304" charset="0"/>
                          <a:cs typeface="Times New Roman Regular" panose="02020603050405020304" charset="0"/>
                        </a:rPr>
                        <a:t>9</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Jung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(2014)</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Difficulty in detecting emotions</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from low-resolution facial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images.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deep network combining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CNN and RNN with boosting.</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Multi-PIE dataset. Achieved over 80% accuracy from low-</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resolution images.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Only evaluated on lab-</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controlled dataset.</a:t>
                      </a:r>
                      <a:endParaRPr lang="en-US" sz="1600" b="0">
                        <a:latin typeface="Times New Roman Regular" panose="02020603050405020304" charset="0"/>
                        <a:cs typeface="Times New Roman Regular" panose="02020603050405020304" charset="0"/>
                        <a:sym typeface="+mn-ea"/>
                      </a:endParaRPr>
                    </a:p>
                  </a:txBody>
                  <a:tcPr/>
                </a:tc>
              </a:tr>
              <a:tr h="913765">
                <a:tc>
                  <a:txBody>
                    <a:bodyPr/>
                    <a:p>
                      <a:pPr>
                        <a:lnSpc>
                          <a:spcPct val="70000"/>
                        </a:lnSpc>
                        <a:buNone/>
                      </a:pPr>
                      <a:r>
                        <a:rPr lang="en-US" sz="1600" b="0">
                          <a:latin typeface="Times New Roman Regular" panose="02020603050405020304" charset="0"/>
                          <a:cs typeface="Times New Roman Regular" panose="02020603050405020304" charset="0"/>
                        </a:rPr>
                        <a:t>10</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Liu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(2013)</a:t>
                      </a:r>
                      <a:endParaRPr lang="en-US" sz="1600" b="0">
                        <a:latin typeface="Times New Roman Regular" panose="02020603050405020304" charset="0"/>
                        <a:cs typeface="Times New Roman Regular" panose="02020603050405020304" charset="0"/>
                      </a:endParaRPr>
                    </a:p>
                    <a:p>
                      <a:pPr>
                        <a:lnSpc>
                          <a:spcPct val="70000"/>
                        </a:lnSpc>
                        <a:buNone/>
                      </a:pP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Handling large variations in</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facial expression intensity,</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image conditions.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Proposed 3D CNN combined</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with deformable model fitting.</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BU-3DFE dataset. Obtained over 85% average accuracy.</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Computationally intensive 3D modeling</a:t>
                      </a:r>
                      <a:endParaRPr lang="en-US" sz="1600" b="0">
                        <a:latin typeface="Times New Roman Regular" panose="02020603050405020304" charset="0"/>
                        <a:cs typeface="Times New Roman Regular" panose="02020603050405020304" charset="0"/>
                        <a:sym typeface="+mn-ea"/>
                      </a:endParaRPr>
                    </a:p>
                  </a:txBody>
                  <a:tcPr/>
                </a:tc>
              </a:tr>
            </a:tbl>
          </a:graphicData>
        </a:graphic>
      </p:graphicFrame>
      <p:sp>
        <p:nvSpPr>
          <p:cNvPr id="6" name="Title 5"/>
          <p:cNvSpPr>
            <a:spLocks noGrp="1"/>
          </p:cNvSpPr>
          <p:nvPr>
            <p:ph type="title"/>
          </p:nvPr>
        </p:nvSpPr>
        <p:spPr>
          <a:xfrm>
            <a:off x="381000" y="92710"/>
            <a:ext cx="10972800" cy="300355"/>
          </a:xfrm>
        </p:spPr>
        <p:txBody>
          <a:bodyPr>
            <a:normAutofit fontScale="90000"/>
          </a:bodyPr>
          <a:p>
            <a:r>
              <a:rPr lang="en-US" sz="2000"/>
              <a:t>LITERATURE REVIEW TABLE</a:t>
            </a:r>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58800" y="410845"/>
            <a:ext cx="10972800" cy="413385"/>
          </a:xfrm>
        </p:spPr>
        <p:txBody>
          <a:bodyPr/>
          <a:p>
            <a:pPr algn="ctr"/>
            <a:r>
              <a:rPr lang="en-US" sz="2800"/>
              <a:t>PROBLEM STATEMENT</a:t>
            </a:r>
            <a:endParaRPr lang="en-US" sz="2800"/>
          </a:p>
        </p:txBody>
      </p:sp>
      <p:sp>
        <p:nvSpPr>
          <p:cNvPr id="3" name="Content Placeholder 2"/>
          <p:cNvSpPr>
            <a:spLocks noGrp="1"/>
          </p:cNvSpPr>
          <p:nvPr>
            <p:ph idx="1"/>
          </p:nvPr>
        </p:nvSpPr>
        <p:spPr>
          <a:xfrm>
            <a:off x="50800" y="1721485"/>
            <a:ext cx="12090400" cy="3415030"/>
          </a:xfrm>
        </p:spPr>
        <p:txBody>
          <a:bodyPr>
            <a:noAutofit/>
          </a:bodyPr>
          <a:p>
            <a:pPr marL="0" indent="0">
              <a:buNone/>
            </a:pPr>
            <a:r>
              <a:rPr lang="en-US" sz="2000"/>
              <a:t>Current Facial Expression Recognition (FER) systems primarily focus on detecting single dominant emotions and struggle with multi-classifying an image based on probability and chances an image might have more than one emotions. This limitation highlights the pressing need for more sophisticated approaches capable of accurately modeling emotion mixtures.</a:t>
            </a:r>
            <a:endParaRPr lang="en-US" sz="2000"/>
          </a:p>
          <a:p>
            <a:pPr marL="0" indent="0">
              <a:buNone/>
            </a:pPr>
            <a:endParaRPr lang="en-US" sz="2000"/>
          </a:p>
          <a:p>
            <a:pPr marL="0" indent="0">
              <a:buNone/>
            </a:pPr>
            <a:r>
              <a:rPr lang="en-US" sz="2000"/>
              <a:t>The task of recognizing facial expressions is inherently challenging. It becomes particularly intricate when faced with blended expressions, where multiple emotions coexist in a single facial display. Additionally, detecting subtle emotions, like faint smiles, demands a precise approach. Addressing these complexities necessitates the application of advanced techniques, and Convolutional Neural Network emerge as a promising solution.</a:t>
            </a: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 AND OBJECTIVES</a:t>
            </a:r>
            <a:endParaRPr lang="en-US" sz="2400"/>
          </a:p>
        </p:txBody>
      </p:sp>
      <p:sp>
        <p:nvSpPr>
          <p:cNvPr id="3" name="Content Placeholder 2"/>
          <p:cNvSpPr>
            <a:spLocks noGrp="1"/>
          </p:cNvSpPr>
          <p:nvPr>
            <p:ph idx="1"/>
          </p:nvPr>
        </p:nvSpPr>
        <p:spPr>
          <a:xfrm>
            <a:off x="93345" y="779145"/>
            <a:ext cx="12005310" cy="4867910"/>
          </a:xfrm>
        </p:spPr>
        <p:txBody>
          <a:bodyPr>
            <a:noAutofit/>
          </a:bodyPr>
          <a:p>
            <a:pPr marL="0" indent="0">
              <a:buNone/>
            </a:pPr>
            <a:r>
              <a:rPr lang="en-US" sz="2000"/>
              <a:t>Aim of the project:</a:t>
            </a:r>
            <a:endParaRPr lang="en-US" sz="2000"/>
          </a:p>
          <a:p>
            <a:pPr marL="0" indent="0">
              <a:buNone/>
            </a:pPr>
            <a:r>
              <a:rPr lang="en-US" sz="2000"/>
              <a:t>Develop a FER system that shows the list of emotion and probability using CNN that can predict based on eight classes of facial emotions.</a:t>
            </a:r>
            <a:endParaRPr lang="en-US" sz="2000"/>
          </a:p>
          <a:p>
            <a:pPr marL="0" indent="0">
              <a:buNone/>
            </a:pPr>
            <a:endParaRPr lang="en-US" sz="2000"/>
          </a:p>
          <a:p>
            <a:pPr marL="0" indent="0">
              <a:buNone/>
            </a:pPr>
            <a:r>
              <a:rPr lang="en-US" sz="2000">
                <a:sym typeface="+mn-ea"/>
              </a:rPr>
              <a:t>SPECIFIC OBJECTIVES</a:t>
            </a:r>
            <a:endParaRPr lang="en-US" sz="2000">
              <a:sym typeface="+mn-ea"/>
            </a:endParaRPr>
          </a:p>
          <a:p>
            <a:pPr marL="0" indent="0">
              <a:buNone/>
            </a:pPr>
            <a:endParaRPr lang="en-US" sz="2000"/>
          </a:p>
          <a:p>
            <a:pPr marL="342900" indent="-342900">
              <a:buAutoNum type="arabicPeriod"/>
            </a:pPr>
            <a:r>
              <a:rPr lang="en-US" sz="2000"/>
              <a:t>Design CNN architecture optimized for probability prediction on 8 classes of facial emotions.</a:t>
            </a:r>
            <a:endParaRPr lang="en-US" sz="2000"/>
          </a:p>
          <a:p>
            <a:pPr marL="342900" indent="-342900">
              <a:buAutoNum type="arabicPeriod"/>
            </a:pPr>
            <a:endParaRPr lang="en-US" sz="2000"/>
          </a:p>
          <a:p>
            <a:pPr marL="342900" indent="-342900">
              <a:buAutoNum type="arabicPeriod"/>
            </a:pPr>
            <a:r>
              <a:rPr lang="en-US" sz="2000"/>
              <a:t>Train model on dataset .</a:t>
            </a:r>
            <a:endParaRPr lang="en-US" sz="2000"/>
          </a:p>
          <a:p>
            <a:pPr marL="342900" indent="-342900">
              <a:buAutoNum type="arabicPeriod"/>
            </a:pPr>
            <a:endParaRPr lang="en-US" sz="2000"/>
          </a:p>
          <a:p>
            <a:pPr marL="342900" indent="-342900">
              <a:buAutoNum type="arabicPeriod"/>
            </a:pPr>
            <a:r>
              <a:rPr lang="en-US" sz="2000"/>
              <a:t>Evaluate with metrics like micro/macro F1 score, ROC curve and </a:t>
            </a:r>
            <a:r>
              <a:rPr lang="en-US" sz="2000">
                <a:sym typeface="+mn-ea"/>
              </a:rPr>
              <a:t>Analyze model for blended emotion insights.</a:t>
            </a:r>
            <a:endParaRPr lang="en-US" sz="2000"/>
          </a:p>
          <a:p>
            <a:pPr marL="0" indent="0">
              <a:buNone/>
            </a:pPr>
            <a:endParaRPr lang="en-US" sz="2000"/>
          </a:p>
          <a:p>
            <a:pPr marL="342900" indent="-342900">
              <a:buAutoNum type="arabicPeriod"/>
            </a:pP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66750"/>
          </a:xfrm>
        </p:spPr>
        <p:txBody>
          <a:bodyPr/>
          <a:p>
            <a:r>
              <a:rPr lang="en-US" sz="3200"/>
              <a:t>Methodology</a:t>
            </a:r>
            <a:endParaRPr lang="en-US" sz="32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pic>
        <p:nvPicPr>
          <p:cNvPr id="4" name="Picture 3" descr="electronics-10-01036-g003"/>
          <p:cNvPicPr>
            <a:picLocks noChangeAspect="1"/>
          </p:cNvPicPr>
          <p:nvPr/>
        </p:nvPicPr>
        <p:blipFill>
          <a:blip r:embed="rId1"/>
          <a:stretch>
            <a:fillRect/>
          </a:stretch>
        </p:blipFill>
        <p:spPr>
          <a:xfrm>
            <a:off x="0" y="556895"/>
            <a:ext cx="12192000" cy="5743575"/>
          </a:xfrm>
          <a:prstGeom prst="rect">
            <a:avLst/>
          </a:prstGeom>
        </p:spPr>
      </p:pic>
      <p:pic>
        <p:nvPicPr>
          <p:cNvPr id="6" name="Picture 5"/>
          <p:cNvPicPr>
            <a:picLocks noChangeAspect="1"/>
          </p:cNvPicPr>
          <p:nvPr/>
        </p:nvPicPr>
        <p:blipFill>
          <a:blip r:embed="rId2"/>
          <a:stretch>
            <a:fillRect/>
          </a:stretch>
        </p:blipFill>
        <p:spPr>
          <a:xfrm>
            <a:off x="315595" y="1170940"/>
            <a:ext cx="5396230" cy="2468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6840" y="41275"/>
            <a:ext cx="11236960" cy="694690"/>
          </a:xfrm>
        </p:spPr>
        <p:txBody>
          <a:bodyPr/>
          <a:p>
            <a:r>
              <a:rPr lang="en-US" sz="2400"/>
              <a:t>Dataset Preprocessing and Argumentation</a:t>
            </a:r>
            <a:endParaRPr 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7" name="Content Placeholder 6"/>
          <p:cNvPicPr>
            <a:picLocks noChangeAspect="1"/>
          </p:cNvPicPr>
          <p:nvPr>
            <p:ph idx="1"/>
          </p:nvPr>
        </p:nvPicPr>
        <p:blipFill>
          <a:blip r:embed="rId1"/>
          <a:stretch>
            <a:fillRect/>
          </a:stretch>
        </p:blipFill>
        <p:spPr>
          <a:xfrm>
            <a:off x="8350885" y="1577340"/>
            <a:ext cx="3848100" cy="5280660"/>
          </a:xfrm>
          <a:prstGeom prst="rect">
            <a:avLst/>
          </a:prstGeom>
        </p:spPr>
      </p:pic>
      <p:pic>
        <p:nvPicPr>
          <p:cNvPr id="8" name="Picture 7"/>
          <p:cNvPicPr>
            <a:picLocks noChangeAspect="1"/>
          </p:cNvPicPr>
          <p:nvPr/>
        </p:nvPicPr>
        <p:blipFill>
          <a:blip r:embed="rId2"/>
          <a:stretch>
            <a:fillRect/>
          </a:stretch>
        </p:blipFill>
        <p:spPr>
          <a:xfrm>
            <a:off x="0" y="984885"/>
            <a:ext cx="5676265" cy="2748915"/>
          </a:xfrm>
          <a:prstGeom prst="rect">
            <a:avLst/>
          </a:prstGeom>
        </p:spPr>
      </p:pic>
      <p:pic>
        <p:nvPicPr>
          <p:cNvPr id="9" name="Picture 8"/>
          <p:cNvPicPr>
            <a:picLocks noChangeAspect="1"/>
          </p:cNvPicPr>
          <p:nvPr/>
        </p:nvPicPr>
        <p:blipFill>
          <a:blip r:embed="rId3"/>
          <a:stretch>
            <a:fillRect/>
          </a:stretch>
        </p:blipFill>
        <p:spPr>
          <a:xfrm>
            <a:off x="5690235" y="557530"/>
            <a:ext cx="2660650" cy="5984875"/>
          </a:xfrm>
          <a:prstGeom prst="rect">
            <a:avLst/>
          </a:prstGeom>
        </p:spPr>
      </p:pic>
      <p:sp>
        <p:nvSpPr>
          <p:cNvPr id="11" name="Text Box 10"/>
          <p:cNvSpPr txBox="1"/>
          <p:nvPr/>
        </p:nvSpPr>
        <p:spPr>
          <a:xfrm>
            <a:off x="0" y="4874895"/>
            <a:ext cx="6378575" cy="2030095"/>
          </a:xfrm>
          <a:prstGeom prst="rect">
            <a:avLst/>
          </a:prstGeom>
          <a:noFill/>
        </p:spPr>
        <p:txBody>
          <a:bodyPr wrap="square" rtlCol="0">
            <a:spAutoFit/>
          </a:bodyPr>
          <a:p>
            <a:r>
              <a:rPr lang="en-US"/>
              <a:t>The use of OpenCV libraries helps in the Capturing of Facial Images by using histogram equalization for contrast enhancement and Gaussian blur for noise reduction, which makes it easy for the detection of eyes using a eye classifier, by detecting the left and right eye, makes it easier for OpenCV to align itself with the face rotation so as to detect the nose and mouth, for better cropping of the image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0990" y="265430"/>
            <a:ext cx="9106535" cy="516890"/>
          </a:xfrm>
        </p:spPr>
        <p:txBody>
          <a:bodyPr/>
          <a:p>
            <a:r>
              <a:rPr lang="en-US" sz="2000"/>
              <a:t>More information about Dataset</a:t>
            </a:r>
            <a:endParaRPr lang="en-US" sz="2000"/>
          </a:p>
        </p:txBody>
      </p:sp>
      <p:sp>
        <p:nvSpPr>
          <p:cNvPr id="3" name="Content Placeholder 2"/>
          <p:cNvSpPr>
            <a:spLocks noGrp="1"/>
          </p:cNvSpPr>
          <p:nvPr>
            <p:ph idx="1"/>
          </p:nvPr>
        </p:nvSpPr>
        <p:spPr>
          <a:xfrm>
            <a:off x="300990" y="1173480"/>
            <a:ext cx="11612880" cy="5107940"/>
          </a:xfrm>
        </p:spPr>
        <p:txBody>
          <a:bodyPr/>
          <a:p>
            <a:pPr marL="0" indent="0">
              <a:buNone/>
            </a:pPr>
            <a:r>
              <a:rPr lang="en-US" sz="1600"/>
              <a:t>The AffectNet dataset has over 27,836 images with 8 classes of images which are :-</a:t>
            </a:r>
            <a:endParaRPr lang="en-US" sz="1600"/>
          </a:p>
          <a:p>
            <a:r>
              <a:rPr lang="en-US" sz="1600"/>
              <a:t>Anger</a:t>
            </a:r>
            <a:endParaRPr lang="en-US" sz="1600"/>
          </a:p>
          <a:p>
            <a:r>
              <a:rPr lang="en-US" sz="1600"/>
              <a:t>Comtempt</a:t>
            </a:r>
            <a:endParaRPr lang="en-US" sz="1600"/>
          </a:p>
          <a:p>
            <a:r>
              <a:rPr lang="en-US" sz="1600"/>
              <a:t>Disgust</a:t>
            </a:r>
            <a:endParaRPr lang="en-US" sz="1600"/>
          </a:p>
          <a:p>
            <a:r>
              <a:rPr lang="en-US" sz="1600"/>
              <a:t>Fear </a:t>
            </a:r>
            <a:endParaRPr lang="en-US" sz="1600"/>
          </a:p>
          <a:p>
            <a:r>
              <a:rPr lang="en-US" sz="1600"/>
              <a:t>Happy </a:t>
            </a:r>
            <a:endParaRPr lang="en-US" sz="1600"/>
          </a:p>
          <a:p>
            <a:r>
              <a:rPr lang="en-US" sz="1600"/>
              <a:t>Neural</a:t>
            </a:r>
            <a:endParaRPr lang="en-US" sz="1600"/>
          </a:p>
          <a:p>
            <a:r>
              <a:rPr lang="en-US" sz="1600"/>
              <a:t>Surprise</a:t>
            </a:r>
            <a:endParaRPr lang="en-US" sz="1600"/>
          </a:p>
          <a:p>
            <a:r>
              <a:rPr lang="en-US" sz="1600"/>
              <a:t>Sad</a:t>
            </a:r>
            <a:endParaRPr lang="en-US" sz="1600"/>
          </a:p>
          <a:p>
            <a:pPr marL="0" indent="0">
              <a:buNone/>
            </a:pPr>
            <a:endParaRPr lang="en-US" sz="1600"/>
          </a:p>
          <a:p>
            <a:pPr marL="0" indent="0">
              <a:buNone/>
            </a:pPr>
            <a:r>
              <a:rPr lang="en-US" sz="1600"/>
              <a:t>Each images are of size 96 X 96, which are in the form RGB, which is publicly accessible through Kaggle datasets and research publications, AffectNet empowers researchers and developers to leverage its rich database for facial expression analysis and emotion recognition advancements.</a:t>
            </a:r>
            <a:endParaRPr lang="en-US" sz="16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02260" y="260350"/>
            <a:ext cx="10515600" cy="580390"/>
          </a:xfrm>
        </p:spPr>
        <p:txBody>
          <a:bodyPr>
            <a:normAutofit fontScale="90000"/>
          </a:bodyPr>
          <a:p>
            <a:r>
              <a:rPr lang="en-US"/>
              <a:t>CNN Architecture</a:t>
            </a:r>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11" name="Content Placeholder 10"/>
          <p:cNvPicPr>
            <a:picLocks noChangeAspect="1"/>
          </p:cNvPicPr>
          <p:nvPr>
            <p:ph idx="1"/>
          </p:nvPr>
        </p:nvPicPr>
        <p:blipFill>
          <a:blip r:embed="rId1"/>
          <a:stretch>
            <a:fillRect/>
          </a:stretch>
        </p:blipFill>
        <p:spPr>
          <a:xfrm>
            <a:off x="485140" y="840740"/>
            <a:ext cx="10964545" cy="54768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1280" y="97155"/>
            <a:ext cx="11272520" cy="365125"/>
          </a:xfrm>
        </p:spPr>
        <p:txBody>
          <a:bodyPr>
            <a:normAutofit fontScale="90000"/>
          </a:bodyPr>
          <a:p>
            <a:r>
              <a:rPr lang="en-US" sz="2000"/>
              <a:t>Function used doing Model Compilation</a:t>
            </a:r>
            <a:endParaRPr lang="en-US" sz="2000"/>
          </a:p>
        </p:txBody>
      </p:sp>
      <p:sp>
        <p:nvSpPr>
          <p:cNvPr id="3" name="Content Placeholder 2"/>
          <p:cNvSpPr>
            <a:spLocks noGrp="1"/>
          </p:cNvSpPr>
          <p:nvPr>
            <p:ph idx="1"/>
          </p:nvPr>
        </p:nvSpPr>
        <p:spPr>
          <a:xfrm>
            <a:off x="163195" y="462280"/>
            <a:ext cx="11784965" cy="6259830"/>
          </a:xfrm>
        </p:spPr>
        <p:txBody>
          <a:bodyPr/>
          <a:p>
            <a:r>
              <a:rPr lang="en-US" sz="2000"/>
              <a:t>Activation Function</a:t>
            </a:r>
            <a:endParaRPr lang="en-US" sz="2000"/>
          </a:p>
          <a:p>
            <a:pPr lvl="1"/>
            <a:r>
              <a:rPr lang="en-US" sz="1710"/>
              <a:t>Relu</a:t>
            </a:r>
            <a:endParaRPr lang="en-US" sz="1710"/>
          </a:p>
          <a:p>
            <a:pPr marL="457200" lvl="1" indent="0">
              <a:buNone/>
            </a:pPr>
            <a:r>
              <a:rPr lang="en-US" sz="1710"/>
              <a:t>	The rectified linear unit (ReLU) is a popular activation function in deep learning and neural networks. It 	introduces non-linearity and helps with complex pattern recognition. ReLU also solves the vanishing gradients 	issue and accelerates training convergence.</a:t>
            </a:r>
            <a:endParaRPr lang="en-US" sz="1710"/>
          </a:p>
          <a:p>
            <a:pPr marL="457200" lvl="1" indent="0">
              <a:buNone/>
            </a:pPr>
            <a:endParaRPr lang="en-US" sz="1710"/>
          </a:p>
          <a:p>
            <a:pPr marL="457200" lvl="1" indent="0">
              <a:buNone/>
            </a:pPr>
            <a:r>
              <a:rPr lang="en-US" sz="1710"/>
              <a:t>		f(x) = max(0,x)</a:t>
            </a:r>
            <a:endParaRPr lang="en-US" sz="1710"/>
          </a:p>
          <a:p>
            <a:pPr marL="457200" lvl="1" indent="0">
              <a:buNone/>
            </a:pPr>
            <a:endParaRPr lang="en-US" sz="1710"/>
          </a:p>
          <a:p>
            <a:pPr marL="457200" lvl="1" indent="0">
              <a:buNone/>
            </a:pPr>
            <a:r>
              <a:rPr lang="en-US" sz="1710"/>
              <a:t>	</a:t>
            </a:r>
            <a:endParaRPr lang="en-US" sz="1710"/>
          </a:p>
          <a:p>
            <a:pPr marL="457200" lvl="1" indent="0">
              <a:buNone/>
            </a:pPr>
            <a:endParaRPr lang="en-US" sz="1710"/>
          </a:p>
          <a:p>
            <a:pPr marL="457200" lvl="1" indent="0">
              <a:buNone/>
            </a:pPr>
            <a:endParaRPr lang="en-US" sz="1710"/>
          </a:p>
          <a:p>
            <a:pPr lvl="1"/>
            <a:r>
              <a:rPr lang="en-US" sz="1710"/>
              <a:t>SoftMax</a:t>
            </a:r>
            <a:endParaRPr lang="en-US" sz="1710"/>
          </a:p>
          <a:p>
            <a:pPr marL="914400" lvl="2" indent="0">
              <a:buNone/>
            </a:pPr>
            <a:r>
              <a:rPr lang="en-US" sz="1425"/>
              <a:t>The softmax activation function is a widely used function that converts raw scores into a probability distribution. It's used in the output layer of neural network models that predict a multinomial probability distribution. </a:t>
            </a:r>
            <a:endParaRPr lang="en-US" sz="1425"/>
          </a:p>
          <a:p>
            <a:endParaRPr lang="en-US" sz="171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5554980" y="1612900"/>
            <a:ext cx="2981325" cy="2248535"/>
          </a:xfrm>
          <a:prstGeom prst="rect">
            <a:avLst/>
          </a:prstGeom>
        </p:spPr>
      </p:pic>
      <p:pic>
        <p:nvPicPr>
          <p:cNvPr id="6" name="Picture 5"/>
          <p:cNvPicPr>
            <a:picLocks noChangeAspect="1"/>
          </p:cNvPicPr>
          <p:nvPr/>
        </p:nvPicPr>
        <p:blipFill>
          <a:blip r:embed="rId2"/>
          <a:stretch>
            <a:fillRect/>
          </a:stretch>
        </p:blipFill>
        <p:spPr>
          <a:xfrm>
            <a:off x="497840" y="4981575"/>
            <a:ext cx="4614545" cy="1374775"/>
          </a:xfrm>
          <a:prstGeom prst="rect">
            <a:avLst/>
          </a:prstGeom>
        </p:spPr>
      </p:pic>
      <p:pic>
        <p:nvPicPr>
          <p:cNvPr id="7" name="Picture 6"/>
          <p:cNvPicPr>
            <a:picLocks noChangeAspect="1"/>
          </p:cNvPicPr>
          <p:nvPr/>
        </p:nvPicPr>
        <p:blipFill>
          <a:blip r:embed="rId3"/>
          <a:stretch>
            <a:fillRect/>
          </a:stretch>
        </p:blipFill>
        <p:spPr>
          <a:xfrm>
            <a:off x="5767070" y="4488180"/>
            <a:ext cx="4151630" cy="2138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1280" y="97155"/>
            <a:ext cx="11272520" cy="708025"/>
          </a:xfrm>
        </p:spPr>
        <p:txBody>
          <a:bodyPr>
            <a:normAutofit/>
          </a:bodyPr>
          <a:p>
            <a:r>
              <a:rPr lang="en-US" sz="2000"/>
              <a:t>Function used doing Model Compilation</a:t>
            </a:r>
            <a:endParaRPr lang="en-US" sz="2000"/>
          </a:p>
        </p:txBody>
      </p:sp>
      <p:sp>
        <p:nvSpPr>
          <p:cNvPr id="3" name="Content Placeholder 2"/>
          <p:cNvSpPr>
            <a:spLocks noGrp="1"/>
          </p:cNvSpPr>
          <p:nvPr>
            <p:ph idx="1"/>
          </p:nvPr>
        </p:nvSpPr>
        <p:spPr>
          <a:xfrm>
            <a:off x="163195" y="838200"/>
            <a:ext cx="11784965" cy="5518150"/>
          </a:xfrm>
        </p:spPr>
        <p:txBody>
          <a:bodyPr/>
          <a:p>
            <a:r>
              <a:rPr lang="en-US" sz="2000"/>
              <a:t>Loss Function</a:t>
            </a:r>
            <a:endParaRPr lang="en-US" sz="2000"/>
          </a:p>
          <a:p>
            <a:pPr lvl="1"/>
            <a:r>
              <a:rPr lang="en-US" sz="1710"/>
              <a:t>sparse_categorical_crossentropy</a:t>
            </a:r>
            <a:endParaRPr lang="en-US" sz="1710"/>
          </a:p>
          <a:p>
            <a:pPr lvl="2"/>
            <a:r>
              <a:rPr lang="en-US" sz="1425"/>
              <a:t>It is a loss function specifically designed for multi-class classification problems where true labels are provided as integers (e.g., 0 for class A, 1 for class B, etc.) rather than one-hot encoded vectors.</a:t>
            </a:r>
            <a:endParaRPr lang="en-US" sz="1425"/>
          </a:p>
          <a:p>
            <a:pPr lvl="2"/>
            <a:r>
              <a:rPr lang="en-US" sz="1425"/>
              <a:t>It measures the difference between the model's predicted probabilities for each class and the true class label, aiming to minimize this difference during training.</a:t>
            </a:r>
            <a:endParaRPr lang="en-US" sz="1425"/>
          </a:p>
          <a:p>
            <a:pPr marL="914400" lvl="2" indent="0">
              <a:buNone/>
            </a:pPr>
            <a:endParaRPr lang="en-US" sz="1425"/>
          </a:p>
          <a:p>
            <a:pPr marL="914400" lvl="2" indent="0">
              <a:buNone/>
            </a:pPr>
            <a:r>
              <a:rPr lang="en-US" sz="1425"/>
              <a:t>Advantages over Categorical Crossentropy:</a:t>
            </a:r>
            <a:endParaRPr lang="en-US" sz="1425"/>
          </a:p>
          <a:p>
            <a:pPr marL="914400" lvl="2" indent="0">
              <a:buNone/>
            </a:pPr>
            <a:endParaRPr lang="en-US" sz="1425"/>
          </a:p>
          <a:p>
            <a:pPr marL="914400" lvl="2" indent="0">
              <a:buNone/>
            </a:pPr>
            <a:r>
              <a:rPr lang="en-US" sz="1425"/>
              <a:t>1. Efficiency:</a:t>
            </a:r>
            <a:endParaRPr lang="en-US" sz="1425"/>
          </a:p>
          <a:p>
            <a:pPr marL="914400" lvl="2" indent="0">
              <a:buNone/>
            </a:pPr>
            <a:r>
              <a:rPr lang="en-US" sz="1425"/>
              <a:t>	It avoids the need to convert integer labels to one-hot encoded vectors, saving time and memory, especially for large 	datasets or many classes.</a:t>
            </a:r>
            <a:endParaRPr lang="en-US" sz="1425"/>
          </a:p>
          <a:p>
            <a:pPr marL="914400" lvl="2" indent="0">
              <a:buNone/>
            </a:pPr>
            <a:endParaRPr lang="en-US" sz="1425"/>
          </a:p>
          <a:p>
            <a:pPr marL="914400" lvl="2" indent="0">
              <a:buNone/>
            </a:pPr>
            <a:r>
              <a:rPr lang="en-US" sz="1425"/>
              <a:t>2. Clarity:</a:t>
            </a:r>
            <a:endParaRPr lang="en-US" sz="1425"/>
          </a:p>
          <a:p>
            <a:pPr marL="914400" lvl="2" indent="0">
              <a:buNone/>
            </a:pPr>
            <a:r>
              <a:rPr lang="en-US" sz="1425"/>
              <a:t>	It's often more intuitive to provide integer labels directly, making model training and interpretation simpler.</a:t>
            </a:r>
            <a:endParaRPr lang="en-US" sz="1425"/>
          </a:p>
          <a:p>
            <a:pPr marL="914400" lvl="2" indent="0">
              <a:buNone/>
            </a:pPr>
            <a:endParaRPr lang="en-US" sz="1425"/>
          </a:p>
          <a:p>
            <a:pPr marL="914400" lvl="2" indent="0">
              <a:buNone/>
            </a:pPr>
            <a:r>
              <a:rPr lang="en-US" sz="1425"/>
              <a:t>3. Compatibility:</a:t>
            </a:r>
            <a:endParaRPr lang="en-US" sz="1425"/>
          </a:p>
          <a:p>
            <a:pPr marL="914400" lvl="2" indent="0">
              <a:buNone/>
            </a:pPr>
            <a:r>
              <a:rPr lang="en-US" sz="1425"/>
              <a:t>	Some deep learning frameworks (like TensorFlow and Keras) offer optimized implementations for 	sparse_categorical_crossentropy, potentially leading to faster training.</a:t>
            </a:r>
            <a:endParaRPr lang="en-US" sz="1425"/>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9550" y="155575"/>
            <a:ext cx="6856730" cy="365125"/>
          </a:xfrm>
        </p:spPr>
        <p:txBody>
          <a:bodyPr>
            <a:normAutofit fontScale="90000"/>
          </a:bodyPr>
          <a:p>
            <a:r>
              <a:rPr lang="en-US"/>
              <a:t>Performance and Evaluation</a:t>
            </a:r>
            <a:endParaRPr lang="en-US"/>
          </a:p>
        </p:txBody>
      </p:sp>
      <p:sp>
        <p:nvSpPr>
          <p:cNvPr id="3" name="Content Placeholder 2"/>
          <p:cNvSpPr>
            <a:spLocks noGrp="1"/>
          </p:cNvSpPr>
          <p:nvPr>
            <p:ph idx="1"/>
          </p:nvPr>
        </p:nvSpPr>
        <p:spPr>
          <a:xfrm>
            <a:off x="0" y="764540"/>
            <a:ext cx="12192000" cy="6093460"/>
          </a:xfrm>
        </p:spPr>
        <p:txBody>
          <a:bodyPr>
            <a:normAutofit fontScale="90000" lnSpcReduction="10000"/>
          </a:bodyPr>
          <a:p>
            <a:r>
              <a:rPr lang="en-US" sz="1600"/>
              <a:t>Performance Metrics:</a:t>
            </a:r>
            <a:endParaRPr lang="en-US" sz="1600"/>
          </a:p>
          <a:p>
            <a:pPr marL="457200" lvl="1" indent="0">
              <a:buNone/>
            </a:pPr>
            <a:r>
              <a:rPr lang="en-US" sz="1555"/>
              <a:t>a) Micro/Macro F1-score:</a:t>
            </a:r>
            <a:endParaRPr lang="en-US" sz="1555"/>
          </a:p>
          <a:p>
            <a:pPr marL="457200" lvl="1" indent="0">
              <a:buNone/>
            </a:pPr>
            <a:r>
              <a:rPr lang="en-US" sz="1555"/>
              <a:t>	F1-score is a harmonic mean of precision and recall, balancing both measures for a more robust evaluation.</a:t>
            </a:r>
            <a:endParaRPr lang="en-US" sz="1555"/>
          </a:p>
          <a:p>
            <a:pPr marL="457200" lvl="1" indent="0">
              <a:buNone/>
            </a:pPr>
            <a:r>
              <a:rPr lang="en-US" sz="1555"/>
              <a:t>	F1 = 2 * (precision * recall) / (precision + recall)</a:t>
            </a:r>
            <a:endParaRPr lang="en-US" sz="1555"/>
          </a:p>
          <a:p>
            <a:pPr marL="457200" lvl="1" indent="0">
              <a:buNone/>
            </a:pPr>
            <a:r>
              <a:rPr lang="en-US" sz="1555"/>
              <a:t>	</a:t>
            </a:r>
            <a:endParaRPr lang="en-US" sz="1555"/>
          </a:p>
          <a:p>
            <a:pPr marL="457200" lvl="1" indent="0">
              <a:buNone/>
            </a:pPr>
            <a:r>
              <a:rPr lang="en-US" sz="1555"/>
              <a:t>	Micro F1-score: Calculates the overall average F1-score across all classes, potentially favoring dominant classes.</a:t>
            </a:r>
            <a:endParaRPr lang="en-US" sz="1555"/>
          </a:p>
          <a:p>
            <a:pPr marL="457200" lvl="1" indent="0">
              <a:buNone/>
            </a:pPr>
            <a:r>
              <a:rPr lang="en-US" sz="1555"/>
              <a:t>	Equation:</a:t>
            </a:r>
            <a:endParaRPr lang="en-US" sz="1555"/>
          </a:p>
          <a:p>
            <a:pPr marL="457200" lvl="1" indent="0">
              <a:buNone/>
            </a:pPr>
            <a:r>
              <a:rPr lang="en-US" sz="1555"/>
              <a:t>		Micro F1 = (sum of true positives across all classes) / (sum of predicted positives across all classes)</a:t>
            </a:r>
            <a:endParaRPr lang="en-US" sz="1555"/>
          </a:p>
          <a:p>
            <a:pPr marL="457200" lvl="1" indent="0">
              <a:buNone/>
            </a:pPr>
            <a:endParaRPr lang="en-US" sz="1555"/>
          </a:p>
          <a:p>
            <a:pPr marL="457200" lvl="1" indent="0">
              <a:buNone/>
            </a:pPr>
            <a:r>
              <a:rPr lang="en-US" sz="1555"/>
              <a:t>	Macro F1-score: Averages the individual F1-scores for each class, giving equal weight to all emotions.</a:t>
            </a:r>
            <a:endParaRPr lang="en-US" sz="1555"/>
          </a:p>
          <a:p>
            <a:pPr marL="457200" lvl="1" indent="0">
              <a:buNone/>
            </a:pPr>
            <a:r>
              <a:rPr lang="en-US" sz="1555"/>
              <a:t>	Equation:</a:t>
            </a:r>
            <a:endParaRPr lang="en-US" sz="1555"/>
          </a:p>
          <a:p>
            <a:pPr marL="457200" lvl="1" indent="0">
              <a:buNone/>
            </a:pPr>
            <a:r>
              <a:rPr lang="en-US" sz="1555"/>
              <a:t>		Macro F1 = (sum of individual class F1-scores) / number of classes</a:t>
            </a:r>
            <a:endParaRPr lang="en-US" sz="1555"/>
          </a:p>
          <a:p>
            <a:pPr marL="457200" lvl="1" indent="0">
              <a:buNone/>
            </a:pPr>
            <a:endParaRPr lang="en-US" sz="1555"/>
          </a:p>
          <a:p>
            <a:pPr marL="457200" lvl="1" indent="0">
              <a:buNone/>
            </a:pPr>
            <a:r>
              <a:rPr lang="en-US" sz="1555"/>
              <a:t>b) ROC Curve:</a:t>
            </a:r>
            <a:endParaRPr lang="en-US" sz="1555"/>
          </a:p>
          <a:p>
            <a:pPr marL="457200" lvl="1" indent="0">
              <a:buNone/>
            </a:pPr>
            <a:endParaRPr lang="en-US" sz="1370"/>
          </a:p>
          <a:p>
            <a:pPr marL="457200" lvl="1" indent="0">
              <a:buNone/>
            </a:pPr>
            <a:r>
              <a:rPr lang="en-US" sz="1555"/>
              <a:t>	ROC (Receiver Operating Characteristic) curve visualizes the trade-off between True Positive Rate (TPR) and False Positive Rate (FPR) 	at different classification thresholds</a:t>
            </a:r>
            <a:endParaRPr lang="en-US" sz="1555"/>
          </a:p>
          <a:p>
            <a:pPr marL="457200" lvl="1" indent="0">
              <a:buNone/>
            </a:pPr>
            <a:r>
              <a:rPr lang="en-US" sz="1370"/>
              <a:t>.</a:t>
            </a:r>
            <a:endParaRPr lang="en-US" sz="1370"/>
          </a:p>
          <a:p>
            <a:pPr marL="914400" lvl="2" indent="0">
              <a:buNone/>
            </a:pPr>
            <a:r>
              <a:rPr lang="en-US" sz="1555"/>
              <a:t>ROC curve for facial emotion recognition</a:t>
            </a:r>
            <a:endParaRPr lang="en-US" sz="1555"/>
          </a:p>
          <a:p>
            <a:pPr marL="914400" lvl="2" indent="0">
              <a:buNone/>
            </a:pPr>
            <a:r>
              <a:rPr lang="en-US" sz="1555"/>
              <a:t>TPR (also called sensitivity) measures the model's ability to correctly identify true positives (e.g., correctly predicting happy faces).</a:t>
            </a:r>
            <a:endParaRPr lang="en-US" sz="1555"/>
          </a:p>
          <a:p>
            <a:pPr marL="914400" lvl="2" indent="0">
              <a:buNone/>
            </a:pPr>
            <a:endParaRPr lang="en-US" sz="1555"/>
          </a:p>
          <a:p>
            <a:pPr marL="914400" lvl="2" indent="0">
              <a:buNone/>
            </a:pPr>
            <a:r>
              <a:rPr lang="en-US" sz="1555"/>
              <a:t>FPR measures the model's tendency to incorrectly classify negative examples as positives (e.g., classifying a sad face as happy).</a:t>
            </a:r>
            <a:endParaRPr lang="en-US" sz="1555"/>
          </a:p>
          <a:p>
            <a:pPr marL="914400" lvl="2" indent="0">
              <a:buNone/>
            </a:pPr>
            <a:endParaRPr lang="en-US" sz="1555"/>
          </a:p>
          <a:p>
            <a:pPr marL="914400" lvl="2" indent="0">
              <a:buNone/>
            </a:pPr>
            <a:r>
              <a:rPr lang="en-US" sz="1555"/>
              <a:t>AUC (Area Under the Curve) quantifies the overall performance of the model, with higher AUC indicating better discrimination between classes.</a:t>
            </a:r>
            <a:endParaRPr lang="en-US" sz="1555"/>
          </a:p>
          <a:p>
            <a:pPr marL="457200" lvl="1" indent="0">
              <a:buNone/>
            </a:pPr>
            <a:endParaRPr lang="en-US" sz="1555"/>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7" name="Picture 6"/>
          <p:cNvPicPr>
            <a:picLocks noChangeAspect="1"/>
          </p:cNvPicPr>
          <p:nvPr/>
        </p:nvPicPr>
        <p:blipFill>
          <a:blip r:embed="rId1"/>
          <a:stretch>
            <a:fillRect/>
          </a:stretch>
        </p:blipFill>
        <p:spPr>
          <a:xfrm>
            <a:off x="9954260" y="0"/>
            <a:ext cx="2319020" cy="23348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2055" y="234950"/>
            <a:ext cx="9787890" cy="659765"/>
          </a:xfrm>
        </p:spPr>
        <p:txBody>
          <a:bodyPr/>
          <a:p>
            <a:r>
              <a:rPr lang="en-US" sz="3200"/>
              <a:t>EXPECTED CONTRIBUTION TO KNOWLEDGE</a:t>
            </a:r>
            <a:endParaRPr lang="en-US" sz="3200"/>
          </a:p>
        </p:txBody>
      </p:sp>
      <p:sp>
        <p:nvSpPr>
          <p:cNvPr id="3" name="Content Placeholder 2"/>
          <p:cNvSpPr>
            <a:spLocks noGrp="1"/>
          </p:cNvSpPr>
          <p:nvPr>
            <p:ph idx="1"/>
          </p:nvPr>
        </p:nvSpPr>
        <p:spPr/>
        <p:txBody>
          <a:bodyPr/>
          <a:p>
            <a:r>
              <a:rPr lang="en-US" sz="2400"/>
              <a:t>Advance state-of-the-art in multi-label FER.</a:t>
            </a:r>
            <a:endParaRPr lang="en-US" sz="2400"/>
          </a:p>
          <a:p>
            <a:r>
              <a:rPr lang="en-US" sz="2400"/>
              <a:t>Provide insights into blended facial emotion recognition.</a:t>
            </a:r>
            <a:endParaRPr lang="en-US" sz="2400"/>
          </a:p>
          <a:p>
            <a:r>
              <a:rPr lang="en-US" sz="2400"/>
              <a:t>Enable new applications benefitting from facial emotion detection.</a:t>
            </a:r>
            <a:endParaRPr lang="en-US" sz="2400"/>
          </a:p>
          <a:p>
            <a:pPr marL="0" indent="0">
              <a:buNone/>
            </a:pPr>
            <a:endParaRPr 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6515" y="864870"/>
            <a:ext cx="12135485" cy="5949950"/>
          </a:xfrm>
        </p:spPr>
        <p:txBody>
          <a:bodyPr/>
          <a:p>
            <a:r>
              <a:rPr lang="en-US" sz="1400"/>
              <a:t>Kim, B., Roh, M. C., &amp; Kim, D. (2023). Subtle Facial Expression Recognition using Multi-Output Convolutional Neural Network. IEEE Transactions on Affective Computing.</a:t>
            </a:r>
            <a:endParaRPr lang="en-US" sz="1400"/>
          </a:p>
          <a:p>
            <a:r>
              <a:rPr lang="en-US" sz="1400"/>
              <a:t>Lee, S., Park, J., &amp; Kim, J. (2022). An Ensemble Approach for Multi-Label Facial Expression Recognition. International Journal of Computer Vision, 128(6), 1562-1579.</a:t>
            </a:r>
            <a:endParaRPr lang="en-US" sz="1400"/>
          </a:p>
          <a:p>
            <a:r>
              <a:rPr lang="en-US" sz="1400"/>
              <a:t>Ahmed, F., Temko, A., &amp; Marnane, W. (2021). Multi-Task Learning for Facial Action Unit Detection using Convolutional Neural Networks. Pattern Recognition Letters, 147, 15-21.</a:t>
            </a:r>
            <a:endParaRPr lang="en-US" sz="1400"/>
          </a:p>
          <a:p>
            <a:r>
              <a:rPr lang="en-US" sz="1400"/>
              <a:t>Wang, Y., See, J., Phan, R.C.W. and Oh, Y.H. (2020). Efficient 3D Convolutional Networks for Action Unit Detection. Pattern Recognition, 108, 107580.</a:t>
            </a:r>
            <a:endParaRPr lang="en-US" sz="1400"/>
          </a:p>
          <a:p>
            <a:r>
              <a:rPr lang="en-US" sz="1400"/>
              <a:t>Liu, P., Han, S., Meng, Z. and Tong, Y. (2019). Facial Expression Recognition via a Boosted Deep Belief Network. IEEE Transactions on Neural Networks and Learning Systems, 30(10), pp.2992-3006.</a:t>
            </a:r>
            <a:endParaRPr lang="en-US" sz="1400"/>
          </a:p>
          <a:p>
            <a:r>
              <a:rPr lang="en-US" sz="1400"/>
              <a:t>Jung, H., Lee, S., Yim, J. and Kim, S. (2017). Joint Fine-Tuning in Deep Neural Networks for Facial Expression Recognition. IEEE International Conference on Computer Vision, 2983-2991.</a:t>
            </a:r>
            <a:endParaRPr lang="en-US" sz="1400"/>
          </a:p>
          <a:p>
            <a:r>
              <a:rPr lang="en-US" sz="1400"/>
              <a:t>Zeng, J., Zhang, X., Xu, C., &amp; Yang, H. (2023). Facial emotion recognition with contextual attention. IEEE Transactions on Pattern Analysis and Machine Intelligence, 45(5), 1352-1365.</a:t>
            </a:r>
            <a:endParaRPr lang="en-US" sz="1400"/>
          </a:p>
          <a:p>
            <a:r>
              <a:rPr lang="en-US" sz="1400">
                <a:sym typeface="+mn-ea"/>
              </a:rPr>
              <a:t>Liu, M., Li, S., &amp; Shan, S. (2014). Boosted deep belief networks for facial expression recognition. IEEE Transactions on Neural Networks and Learning Systems, 26(7), 1444-1456.</a:t>
            </a:r>
            <a:endParaRPr lang="en-US" sz="1400">
              <a:sym typeface="+mn-ea"/>
            </a:endParaRPr>
          </a:p>
          <a:p>
            <a:r>
              <a:rPr lang="en-US" sz="1400">
                <a:sym typeface="+mn-ea"/>
              </a:rPr>
              <a:t>Jaiswal, S., &amp; Valstar, M. F. (2016). Deep bi-directional LSTM-based unsupervised feature learning for 3D facial expression recognition. In Proceedings of the IEEE International Conference on Automatic Face &amp; Gesture Recognition (pp. 138-144).</a:t>
            </a:r>
            <a:endParaRPr lang="en-US" sz="1400">
              <a:sym typeface="+mn-ea"/>
            </a:endParaRPr>
          </a:p>
          <a:p>
            <a:r>
              <a:rPr lang="en-US" sz="1400">
                <a:sym typeface="+mn-ea"/>
              </a:rPr>
              <a:t>Jung, H., Yim, J., &amp; Kim, J. (2014). Combining convolutional neural networks and recurrent neural networks for emotion detection in low-resolution facial images. In Proceedings of the International Conference on Pattern Recognition (pp. 448-453).</a:t>
            </a:r>
            <a:endParaRPr lang="en-US" sz="1400">
              <a:sym typeface="+mn-ea"/>
            </a:endParaRPr>
          </a:p>
          <a:p>
            <a:r>
              <a:rPr lang="en-US" sz="1400">
                <a:sym typeface="+mn-ea"/>
              </a:rPr>
              <a:t>Liu, Z., Liu, Q., &amp; Shan, S. (2013). Deeply learning deformable facial action parts model for dynamic expression analysis. International Journal of Computer Vision, 107(2), 97-115.</a:t>
            </a:r>
            <a:endParaRPr lang="en-US" sz="1400"/>
          </a:p>
          <a:p>
            <a:endParaRPr lang="en-US" sz="1400"/>
          </a:p>
          <a:p>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itle 4"/>
          <p:cNvSpPr>
            <a:spLocks noGrp="1"/>
          </p:cNvSpPr>
          <p:nvPr>
            <p:ph type="title"/>
          </p:nvPr>
        </p:nvSpPr>
        <p:spPr>
          <a:xfrm>
            <a:off x="280670" y="163195"/>
            <a:ext cx="10972800" cy="450850"/>
          </a:xfrm>
        </p:spPr>
        <p:txBody>
          <a:bodyPr/>
          <a:p>
            <a:r>
              <a:rPr lang="en-US" sz="2400"/>
              <a:t>REFERENCES </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10201</Words>
  <Application>WPS Presentation</Application>
  <PresentationFormat>Widescreen</PresentationFormat>
  <Paragraphs>334</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Times New Roman Regular</vt:lpstr>
      <vt:lpstr>Calibri Light</vt:lpstr>
      <vt:lpstr>Helvetica Neue</vt:lpstr>
      <vt:lpstr>Calibri</vt:lpstr>
      <vt:lpstr>Microsoft YaHei</vt:lpstr>
      <vt:lpstr>汉仪旗黑</vt:lpstr>
      <vt:lpstr>Arial Unicode MS</vt:lpstr>
      <vt:lpstr>宋体-简</vt:lpstr>
      <vt:lpstr>Office Theme</vt:lpstr>
      <vt:lpstr>DEVELOPMENT OF FACIAL EMOTION RECOGNITION  FOR  MULTI-CLASSIFICATION ON IMAGE    OMAGE MICHEAL BRIGHT  233353</vt:lpstr>
      <vt:lpstr>INTRODUCTION</vt:lpstr>
      <vt:lpstr>LITERATURE REVIEW TABLE</vt:lpstr>
      <vt:lpstr>LITERATURE REVIEW TABLE</vt:lpstr>
      <vt:lpstr>PROBLEM STATEMENT</vt:lpstr>
      <vt:lpstr>AIM AND OBJECTIVES</vt:lpstr>
      <vt:lpstr>Methodology</vt:lpstr>
      <vt:lpstr>Dataset Preprocessing and Argumentation</vt:lpstr>
      <vt:lpstr>More information about Dataset</vt:lpstr>
      <vt:lpstr>CNN Architecture</vt:lpstr>
      <vt:lpstr>Function used doing Model Compilation</vt:lpstr>
      <vt:lpstr>Function used doing Model Compilation</vt:lpstr>
      <vt:lpstr>Performance and Evaluation</vt:lpstr>
      <vt:lpstr>EXPECTED CONTRIBUTION TO KNOWLEDGE</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mikky</cp:lastModifiedBy>
  <cp:revision>50</cp:revision>
  <dcterms:created xsi:type="dcterms:W3CDTF">2024-01-18T19:02:29Z</dcterms:created>
  <dcterms:modified xsi:type="dcterms:W3CDTF">2024-01-18T19:02:29Z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1033-5.6.0.8082</vt:lpwstr>
  </property>
</Properties>
</file>