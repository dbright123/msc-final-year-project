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6"/>
  </p:notesMasterIdLst>
  <p:sldIdLst>
    <p:sldId id="256" r:id="rId3"/>
    <p:sldId id="257" r:id="rId4"/>
    <p:sldId id="258" r:id="rId5"/>
    <p:sldId id="260" r:id="rId6"/>
    <p:sldId id="262" r:id="rId7"/>
    <p:sldId id="263" r:id="rId8"/>
    <p:sldId id="265" r:id="rId9"/>
    <p:sldId id="266" r:id="rId10"/>
    <p:sldId id="267" r:id="rId11"/>
    <p:sldId id="270" r:id="rId12"/>
    <p:sldId id="268" r:id="rId13"/>
    <p:sldId id="269" r:id="rId14"/>
    <p:sldId id="264"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125E5076-3810-47DD-B79F-674D7AD40C01}" styleName="深色样式 1 - 强调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wholeTbl>
    <a:band1H>
      <a:tcStyle>
        <a:tcBdr/>
        <a:fill>
          <a:solidFill>
            <a:schemeClr val="accent1">
              <a:shade val="60000"/>
            </a:schemeClr>
          </a:solidFill>
        </a:fill>
      </a:tcStyle>
    </a:band1H>
    <a:band1V>
      <a:tcStyle>
        <a:tcBdr/>
        <a:fill>
          <a:solidFill>
            <a:schemeClr val="accent1">
              <a:shade val="60000"/>
            </a:schemeClr>
          </a:solidFill>
        </a:fill>
      </a:tcStyle>
    </a:band1V>
    <a:lastCol>
      <a:tcTxStyle b="on"/>
      <a:tcStyle>
        <a:tcBdr>
          <a:left>
            <a:ln w="25400" cmpd="sng">
              <a:solidFill>
                <a:schemeClr val="lt1"/>
              </a:solidFill>
            </a:ln>
          </a:left>
        </a:tcBdr>
        <a:fill>
          <a:solidFill>
            <a:schemeClr val="accent1">
              <a:shade val="60000"/>
            </a:schemeClr>
          </a:solidFill>
        </a:fill>
      </a:tcStyle>
    </a:lastCol>
    <a:firstCol>
      <a:tcTxStyle b="on"/>
      <a:tcStyle>
        <a:tcBdr>
          <a:right>
            <a:ln w="25400" cmpd="sng">
              <a:solidFill>
                <a:schemeClr val="lt1"/>
              </a:solidFill>
            </a:ln>
          </a:right>
        </a:tcBdr>
        <a:fill>
          <a:solidFill>
            <a:schemeClr val="accent1">
              <a:shade val="60000"/>
            </a:schemeClr>
          </a:solidFill>
        </a:fill>
      </a:tcStyle>
    </a:firstCol>
    <a:lastRow>
      <a:tcTxStyle b="on"/>
      <a:tcStyle>
        <a:tcBdr>
          <a:top>
            <a:ln w="25400" cmpd="sng">
              <a:solidFill>
                <a:schemeClr val="lt1"/>
              </a:solidFill>
            </a:ln>
          </a:top>
        </a:tcBdr>
        <a:fill>
          <a:solidFill>
            <a:schemeClr val="accent1">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1" autoAdjust="0"/>
    <p:restoredTop sz="94660"/>
  </p:normalViewPr>
  <p:slideViewPr>
    <p:cSldViewPr snapToGrid="0">
      <p:cViewPr varScale="1">
        <p:scale>
          <a:sx n="53" d="100"/>
          <a:sy n="53" d="100"/>
        </p:scale>
        <p:origin x="180" y="5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 Type="http://schemas.openxmlformats.org/officeDocument/2006/relationships/theme" Target="theme/theme1.xml"/><Relationship Id="rId19" Type="http://schemas.openxmlformats.org/officeDocument/2006/relationships/tableStyles" Target="tableStyles.xml"/><Relationship Id="rId18" Type="http://schemas.openxmlformats.org/officeDocument/2006/relationships/viewProps" Target="viewProps.xml"/><Relationship Id="rId17" Type="http://schemas.openxmlformats.org/officeDocument/2006/relationships/presProps" Target="presProps.xml"/><Relationship Id="rId16" Type="http://schemas.openxmlformats.org/officeDocument/2006/relationships/notesMaster" Target="notesMasters/notesMaster1.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EFD42F7-718C-4B98-AAEC-167E6DDD60A7}" type="datetimeFigureOut">
              <a:rPr lang="en-US" smtClean="0"/>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1B2AA4F-B828-4D7C-AFD3-893933DAFCB4}" type="slidenum">
              <a:rPr lang="en-US" smtClean="0"/>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45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1" y="1709738"/>
            <a:ext cx="10515600" cy="2852737"/>
          </a:xfrm>
        </p:spPr>
        <p:txBody>
          <a:bodyPr anchor="b"/>
          <a:lstStyle>
            <a:lvl1pPr>
              <a:defRPr sz="4500"/>
            </a:lvl1pPr>
          </a:lstStyle>
          <a:p>
            <a:r>
              <a:rPr lang="en-US" smtClean="0"/>
              <a:t>Click to edit Master title style</a:t>
            </a:r>
            <a:endParaRPr lang="en-US"/>
          </a:p>
        </p:txBody>
      </p:sp>
      <p:sp>
        <p:nvSpPr>
          <p:cNvPr id="3" name="Text Placeholder 2"/>
          <p:cNvSpPr>
            <a:spLocks noGrp="1"/>
          </p:cNvSpPr>
          <p:nvPr>
            <p:ph type="body" idx="1"/>
          </p:nvPr>
        </p:nvSpPr>
        <p:spPr>
          <a:xfrm>
            <a:off x="831851" y="4589463"/>
            <a:ext cx="105156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609600" y="1600200"/>
            <a:ext cx="5376672" cy="4525963"/>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6205728" y="1600200"/>
            <a:ext cx="5376672" cy="4525963"/>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Date Placeholder 4"/>
          <p:cNvSpPr>
            <a:spLocks noGrp="1"/>
          </p:cNvSpPr>
          <p:nvPr>
            <p:ph type="dt" sz="half" idx="10"/>
          </p:nvPr>
        </p:nvSpPr>
        <p:spPr/>
        <p:txBody>
          <a:bodyPr/>
          <a:lstStyle/>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nvPr>
        </p:nvSpPr>
        <p:spPr/>
        <p:txBody>
          <a:bodyPr/>
          <a:lstStyle/>
          <a:p>
            <a:fld id="{63A1C593-65D0-4073-BCC9-577B9352EA97}"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63A1C593-65D0-4073-BCC9-577B9352EA97}"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3A1C593-65D0-4073-BCC9-577B9352EA97}"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24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24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timing>
    <p:tnLst>
      <p:par>
        <p:cTn id="1" dur="indefinite" restart="never" nodeType="tmRoot"/>
      </p:par>
    </p:tnLst>
  </p:timing>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8"/>
            <a:ext cx="27432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609600" y="274638"/>
            <a:ext cx="8070573" cy="5851525"/>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hf hdr="0" ftr="0" dt="0"/>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alpha val="100000"/>
          </a:schemeClr>
        </a:solidFill>
        <a:effectLst/>
      </p:bgPr>
    </p:bg>
    <p:spTree>
      <p:nvGrpSpPr>
        <p:cNvPr id="1" name=""/>
        <p:cNvGrpSpPr/>
        <p:nvPr/>
      </p:nvGrpSpPr>
      <p:grpSpPr/>
      <p:sp>
        <p:nvSpPr>
          <p:cNvPr id="1026" name="Title 1025"/>
          <p:cNvSpPr/>
          <p:nvPr>
            <p:ph type="title"/>
          </p:nvPr>
        </p:nvSpPr>
        <p:spPr>
          <a:xfrm>
            <a:off x="609600" y="274638"/>
            <a:ext cx="10972800" cy="1143000"/>
          </a:xfrm>
          <a:prstGeom prst="rect">
            <a:avLst/>
          </a:prstGeom>
          <a:noFill/>
          <a:ln w="9525">
            <a:noFill/>
          </a:ln>
        </p:spPr>
        <p:txBody>
          <a:bodyPr anchor="ctr" anchorCtr="0"/>
          <a:p>
            <a:pPr lvl="0"/>
            <a:r>
              <a:t>Click to edit Master title style</a:t>
            </a:r>
          </a:p>
        </p:txBody>
      </p:sp>
      <p:sp>
        <p:nvSpPr>
          <p:cNvPr id="1027" name="Text Placeholder 1026"/>
          <p:cNvSpPr/>
          <p:nvPr>
            <p:ph type="body" idx="1"/>
          </p:nvPr>
        </p:nvSpPr>
        <p:spPr>
          <a:xfrm>
            <a:off x="609600" y="1600200"/>
            <a:ext cx="10972800" cy="4525963"/>
          </a:xfrm>
          <a:prstGeom prst="rect">
            <a:avLst/>
          </a:prstGeom>
          <a:noFill/>
          <a:ln w="9525">
            <a:noFill/>
          </a:ln>
        </p:spPr>
        <p:txBody>
          <a:bodyPr/>
          <a:p>
            <a:pPr lvl="0"/>
            <a:r>
              <a:t>Click to edit Master text styles</a:t>
            </a:r>
          </a:p>
          <a:p>
            <a:pPr lvl="1"/>
            <a:r>
              <a:t>Second level</a:t>
            </a:r>
          </a:p>
          <a:p>
            <a:pPr lvl="2"/>
            <a:r>
              <a:t>Third level</a:t>
            </a:r>
          </a:p>
          <a:p>
            <a:pPr lvl="3"/>
            <a:r>
              <a:t>Fourth level</a:t>
            </a:r>
          </a:p>
          <a:p>
            <a:pPr lvl="4"/>
            <a:r>
              <a:t>Fifth level</a:t>
            </a:r>
          </a:p>
        </p:txBody>
      </p:sp>
      <p:sp>
        <p:nvSpPr>
          <p:cNvPr id="1028" name="Date Placeholder 1027"/>
          <p:cNvSpPr/>
          <p:nvPr>
            <p:ph type="dt" sz="half" idx="2"/>
          </p:nvPr>
        </p:nvSpPr>
        <p:spPr>
          <a:xfrm>
            <a:off x="609600" y="6245225"/>
            <a:ext cx="2844800" cy="476250"/>
          </a:xfrm>
          <a:prstGeom prst="rect">
            <a:avLst/>
          </a:prstGeom>
          <a:noFill/>
          <a:ln w="9525">
            <a:noFill/>
          </a:ln>
        </p:spPr>
        <p:txBody>
          <a:bodyPr/>
          <a:lstStyle>
            <a:lvl1pPr>
              <a:defRPr sz="1400"/>
            </a:lvl1pPr>
          </a:lstStyle>
          <a:p>
            <a:fld id="{63A1C593-65D0-4073-BCC9-577B9352EA97}" type="datetimeFigureOut">
              <a:rPr lang="en-US" smtClean="0"/>
            </a:fld>
            <a:endParaRPr lang="en-US"/>
          </a:p>
        </p:txBody>
      </p:sp>
      <p:sp>
        <p:nvSpPr>
          <p:cNvPr id="1029" name="Footer Placeholder 1028"/>
          <p:cNvSpPr/>
          <p:nvPr>
            <p:ph type="ftr" sz="quarter" idx="3"/>
          </p:nvPr>
        </p:nvSpPr>
        <p:spPr>
          <a:xfrm>
            <a:off x="4165600" y="6245225"/>
            <a:ext cx="3860800" cy="476250"/>
          </a:xfrm>
          <a:prstGeom prst="rect">
            <a:avLst/>
          </a:prstGeom>
          <a:noFill/>
          <a:ln w="9525">
            <a:noFill/>
          </a:ln>
        </p:spPr>
        <p:txBody>
          <a:bodyPr/>
          <a:lstStyle>
            <a:lvl1pPr algn="ctr">
              <a:defRPr sz="1400"/>
            </a:lvl1pPr>
          </a:lstStyle>
          <a:p>
            <a:endParaRPr lang="en-US"/>
          </a:p>
        </p:txBody>
      </p:sp>
      <p:sp>
        <p:nvSpPr>
          <p:cNvPr id="1030" name="Slide Number Placeholder 1029"/>
          <p:cNvSpPr/>
          <p:nvPr>
            <p:ph type="sldNum" sz="quarter" idx="4"/>
          </p:nvPr>
        </p:nvSpPr>
        <p:spPr>
          <a:xfrm>
            <a:off x="8737600" y="6245225"/>
            <a:ext cx="2844800" cy="476250"/>
          </a:xfrm>
          <a:prstGeom prst="rect">
            <a:avLst/>
          </a:prstGeom>
          <a:noFill/>
          <a:ln w="9525">
            <a:noFill/>
          </a:ln>
        </p:spPr>
        <p:txBody>
          <a:bodyPr/>
          <a:lstStyle>
            <a:lvl1pPr algn="r">
              <a:defRPr sz="1400"/>
            </a:lvl1pPr>
          </a:lstStyle>
          <a:p>
            <a:fld id="{9B618960-8005-486C-9A75-10CB2AAC16F9}"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marL="0" lvl="0" indent="0" algn="ctr" defTabSz="914400" eaLnBrk="1" fontAlgn="base" latinLnBrk="0" hangingPunct="1">
        <a:lnSpc>
          <a:spcPct val="100000"/>
        </a:lnSpc>
        <a:spcBef>
          <a:spcPct val="0"/>
        </a:spcBef>
        <a:spcAft>
          <a:spcPct val="0"/>
        </a:spcAft>
        <a:buNone/>
        <a:defRPr sz="4400" b="0" i="0" u="none" kern="1200" baseline="0">
          <a:solidFill>
            <a:schemeClr val="tx2"/>
          </a:solidFill>
          <a:latin typeface="+mj-lt"/>
          <a:ea typeface="+mj-ea"/>
          <a:cs typeface="+mj-cs"/>
        </a:defRPr>
      </a:lvl1pPr>
    </p:titleStyle>
    <p:bodyStyle>
      <a:lvl1pPr marL="342900" lvl="0" indent="-342900" algn="l" defTabSz="914400" eaLnBrk="1" fontAlgn="base" latinLnBrk="0" hangingPunct="1">
        <a:lnSpc>
          <a:spcPct val="100000"/>
        </a:lnSpc>
        <a:spcBef>
          <a:spcPct val="20000"/>
        </a:spcBef>
        <a:spcAft>
          <a:spcPct val="0"/>
        </a:spcAft>
        <a:buChar char="•"/>
        <a:defRPr sz="3200" b="0" i="0" u="none" kern="1200" baseline="0">
          <a:solidFill>
            <a:schemeClr val="tx1"/>
          </a:solidFill>
          <a:latin typeface="+mn-lt"/>
          <a:ea typeface="+mn-ea"/>
          <a:cs typeface="+mn-cs"/>
        </a:defRPr>
      </a:lvl1pPr>
      <a:lvl2pPr marL="742950" lvl="1" indent="-285750" algn="l" defTabSz="914400" eaLnBrk="1" fontAlgn="base" latinLnBrk="0" hangingPunct="1">
        <a:lnSpc>
          <a:spcPct val="100000"/>
        </a:lnSpc>
        <a:spcBef>
          <a:spcPct val="20000"/>
        </a:spcBef>
        <a:spcAft>
          <a:spcPct val="0"/>
        </a:spcAft>
        <a:buChar char="–"/>
        <a:defRPr sz="2800" b="0" i="0" u="none" kern="1200" baseline="0">
          <a:solidFill>
            <a:schemeClr val="tx1"/>
          </a:solidFill>
          <a:latin typeface="+mn-lt"/>
          <a:ea typeface="+mn-ea"/>
          <a:cs typeface="+mn-cs"/>
        </a:defRPr>
      </a:lvl2pPr>
      <a:lvl3pPr marL="1143000" lvl="2" indent="-228600" algn="l" defTabSz="914400" eaLnBrk="1" fontAlgn="base" latinLnBrk="0" hangingPunct="1">
        <a:lnSpc>
          <a:spcPct val="100000"/>
        </a:lnSpc>
        <a:spcBef>
          <a:spcPct val="20000"/>
        </a:spcBef>
        <a:spcAft>
          <a:spcPct val="0"/>
        </a:spcAft>
        <a:buChar char="•"/>
        <a:defRPr sz="2400" b="0" i="0" u="none" kern="1200" baseline="0">
          <a:solidFill>
            <a:schemeClr val="tx1"/>
          </a:solidFill>
          <a:latin typeface="+mn-lt"/>
          <a:ea typeface="+mn-ea"/>
          <a:cs typeface="+mn-cs"/>
        </a:defRPr>
      </a:lvl3pPr>
      <a:lvl4pPr marL="1600200" lvl="3"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4pPr>
      <a:lvl5pPr marL="2057400" lvl="4"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5pPr>
      <a:lvl6pPr marL="2514600" lvl="5"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6pPr>
      <a:lvl7pPr marL="2971800" lvl="6"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7pPr>
      <a:lvl8pPr marL="3429000" lvl="7"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8pPr>
      <a:lvl9pPr marL="3886200" lvl="8"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9pPr>
    </p:bodyStyle>
    <p:otherStyle>
      <a:lvl1pPr marL="0" lvl="0" indent="0" algn="l" defTabSz="914400" eaLnBrk="1" fontAlgn="base" latinLnBrk="0" hangingPunct="1">
        <a:lnSpc>
          <a:spcPct val="100000"/>
        </a:lnSpc>
        <a:spcBef>
          <a:spcPct val="0"/>
        </a:spcBef>
        <a:spcAft>
          <a:spcPct val="0"/>
        </a:spcAft>
        <a:buFont typeface="Arial" panose="020B0604020202020204" pitchFamily="34" charset="0"/>
        <a:buNone/>
        <a:defRPr sz="1800" b="0" i="0" u="none" kern="1200" baseline="0">
          <a:solidFill>
            <a:schemeClr val="tx1"/>
          </a:solidFill>
          <a:latin typeface="+mn-lt"/>
          <a:ea typeface="+mn-ea"/>
          <a:cs typeface="+mn-cs"/>
        </a:defRPr>
      </a:lvl1pPr>
      <a:lvl2pPr marL="457200" lvl="1" indent="0" algn="l" defTabSz="91440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mn-ea"/>
          <a:cs typeface="+mn-cs"/>
        </a:defRPr>
      </a:lvl2pPr>
      <a:lvl3pPr marL="914400" lvl="2" indent="0" algn="l" defTabSz="91440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mn-ea"/>
          <a:cs typeface="+mn-cs"/>
        </a:defRPr>
      </a:lvl3pPr>
      <a:lvl4pPr marL="1371600" lvl="3" indent="0" algn="l" defTabSz="91440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mn-ea"/>
          <a:cs typeface="+mn-cs"/>
        </a:defRPr>
      </a:lvl4pPr>
      <a:lvl5pPr marL="1828800" lvl="4" indent="0" algn="l" defTabSz="91440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mn-ea"/>
          <a:cs typeface="+mn-cs"/>
        </a:defRPr>
      </a:lvl5pPr>
      <a:lvl6pPr marL="2286000" lvl="5" indent="0" algn="l" defTabSz="91440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mn-ea"/>
          <a:cs typeface="+mn-cs"/>
        </a:defRPr>
      </a:lvl6pPr>
      <a:lvl7pPr marL="2743200" lvl="6" indent="0" algn="l" defTabSz="91440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mn-ea"/>
          <a:cs typeface="+mn-cs"/>
        </a:defRPr>
      </a:lvl7pPr>
      <a:lvl8pPr marL="3200400" lvl="7" indent="0" algn="l" defTabSz="91440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mn-ea"/>
          <a:cs typeface="+mn-cs"/>
        </a:defRPr>
      </a:lvl8pPr>
      <a:lvl9pPr marL="3657600" lvl="8" indent="0" algn="l" defTabSz="91440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4.png"/><Relationship Id="rId1" Type="http://schemas.openxmlformats.org/officeDocument/2006/relationships/image" Target="../media/image3.png"/></Relationships>
</file>

<file path=ppt/slides/_rels/slide1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6.png"/><Relationship Id="rId1" Type="http://schemas.openxmlformats.org/officeDocument/2006/relationships/image" Target="../media/image5.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ctrTitle"/>
          </p:nvPr>
        </p:nvSpPr>
        <p:spPr>
          <a:xfrm>
            <a:off x="1417320" y="796290"/>
            <a:ext cx="9357360" cy="3666490"/>
          </a:xfrm>
        </p:spPr>
        <p:txBody>
          <a:bodyPr/>
          <a:p>
            <a:r>
              <a:rPr lang="en-US" sz="2400"/>
              <a:t>ARTIFICIAL INTELLIGENCE </a:t>
            </a:r>
            <a:br>
              <a:rPr lang="en-US" sz="2400"/>
            </a:br>
            <a:br>
              <a:rPr lang="en-US" sz="2400"/>
            </a:br>
            <a:r>
              <a:rPr lang="en-US" sz="2400"/>
              <a:t>ON </a:t>
            </a:r>
            <a:br>
              <a:rPr lang="en-US" sz="2400"/>
            </a:br>
            <a:br>
              <a:rPr lang="en-US" sz="2400"/>
            </a:br>
            <a:r>
              <a:rPr lang="en-US" sz="2400"/>
              <a:t>FACIAL EMOTION RECOGNITION</a:t>
            </a:r>
            <a:br>
              <a:rPr lang="en-US" sz="2400"/>
            </a:br>
            <a:r>
              <a:rPr lang="en-US" sz="2400"/>
              <a:t> </a:t>
            </a:r>
            <a:br>
              <a:rPr lang="en-US" sz="2400"/>
            </a:br>
            <a:r>
              <a:rPr lang="en-US" sz="2400"/>
              <a:t>AND</a:t>
            </a:r>
            <a:br>
              <a:rPr lang="en-US" sz="2400"/>
            </a:br>
            <a:r>
              <a:rPr lang="en-US" sz="2400"/>
              <a:t> </a:t>
            </a:r>
            <a:br>
              <a:rPr lang="en-US" sz="2400"/>
            </a:br>
            <a:r>
              <a:rPr lang="en-US" sz="2400"/>
              <a:t>DETECTION</a:t>
            </a:r>
            <a:endParaRPr lang="en-US" sz="2400"/>
          </a:p>
        </p:txBody>
      </p:sp>
      <p:sp>
        <p:nvSpPr>
          <p:cNvPr id="3" name="Subtitle 2"/>
          <p:cNvSpPr>
            <a:spLocks noGrp="1"/>
          </p:cNvSpPr>
          <p:nvPr>
            <p:ph type="subTitle" idx="1"/>
          </p:nvPr>
        </p:nvSpPr>
        <p:spPr>
          <a:xfrm>
            <a:off x="2931160" y="5043488"/>
            <a:ext cx="9144000" cy="1655762"/>
          </a:xfrm>
        </p:spPr>
        <p:txBody>
          <a:bodyPr/>
          <a:p>
            <a:pPr algn="l"/>
            <a:r>
              <a:rPr lang="en-US"/>
              <a:t>NAME : 				OMAGE MICHEAL BRIGHT</a:t>
            </a:r>
            <a:endParaRPr lang="en-US"/>
          </a:p>
          <a:p>
            <a:pPr algn="l"/>
            <a:r>
              <a:rPr lang="en-US"/>
              <a:t>MATRIC NUMBER:		233353</a:t>
            </a:r>
            <a:endParaRPr lang="en-US"/>
          </a:p>
          <a:p>
            <a:pPr algn="l"/>
            <a:r>
              <a:rPr lang="en-US"/>
              <a:t>SUPERVISOR NAME:		DR. WOODS</a:t>
            </a:r>
            <a:endParaRPr lang="en-US"/>
          </a:p>
          <a:p>
            <a:pPr algn="l"/>
            <a:r>
              <a:rPr lang="en-US"/>
              <a:t>STAGE OF PRESENTATION: 	PROPOSAL</a:t>
            </a:r>
            <a:endParaRPr lang="en-US"/>
          </a:p>
        </p:txBody>
      </p:sp>
      <p:sp>
        <p:nvSpPr>
          <p:cNvPr id="4" name="Slide Number Placeholder 3"/>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609600" y="53023"/>
            <a:ext cx="10972800" cy="1143000"/>
          </a:xfrm>
        </p:spPr>
        <p:txBody>
          <a:bodyPr/>
          <a:p>
            <a:r>
              <a:rPr lang="en-US" sz="3600"/>
              <a:t>INTRODUCTION: CONTEXTUAL BACKGROUND</a:t>
            </a:r>
            <a:endParaRPr lang="en-US" sz="3600"/>
          </a:p>
        </p:txBody>
      </p:sp>
      <p:pic>
        <p:nvPicPr>
          <p:cNvPr id="4" name="Content Placeholder 3"/>
          <p:cNvPicPr>
            <a:picLocks noChangeAspect="1"/>
          </p:cNvPicPr>
          <p:nvPr>
            <p:ph idx="1"/>
          </p:nvPr>
        </p:nvPicPr>
        <p:blipFill>
          <a:blip r:embed="rId1"/>
          <a:stretch>
            <a:fillRect/>
          </a:stretch>
        </p:blipFill>
        <p:spPr>
          <a:xfrm>
            <a:off x="3305175" y="997585"/>
            <a:ext cx="5581650" cy="2457450"/>
          </a:xfrm>
          <a:prstGeom prst="rect">
            <a:avLst/>
          </a:prstGeom>
        </p:spPr>
      </p:pic>
      <p:sp>
        <p:nvSpPr>
          <p:cNvPr id="7" name="Text Box 6"/>
          <p:cNvSpPr txBox="1"/>
          <p:nvPr/>
        </p:nvSpPr>
        <p:spPr>
          <a:xfrm>
            <a:off x="80010" y="3723640"/>
            <a:ext cx="12031345" cy="3046095"/>
          </a:xfrm>
          <a:prstGeom prst="rect">
            <a:avLst/>
          </a:prstGeom>
          <a:noFill/>
        </p:spPr>
        <p:txBody>
          <a:bodyPr wrap="square" rtlCol="0">
            <a:spAutoFit/>
          </a:bodyPr>
          <a:p>
            <a:pPr algn="l"/>
            <a:r>
              <a:rPr lang="en-US" sz="1600"/>
              <a:t>Facial Emotion Recognition and Detection (FERD) is a captivating and evolving field within Artificial Intelligence (AI)</a:t>
            </a:r>
            <a:endParaRPr lang="en-US" sz="1600"/>
          </a:p>
          <a:p>
            <a:pPr algn="l"/>
            <a:r>
              <a:rPr lang="en-US" sz="1600"/>
              <a:t>and computer vision. It plays a pivotal role in understanding human emotions through the analysis of facial expressions, </a:t>
            </a:r>
            <a:endParaRPr lang="en-US" sz="1600"/>
          </a:p>
          <a:p>
            <a:pPr algn="l"/>
            <a:r>
              <a:rPr lang="en-US" sz="1600"/>
              <a:t>contributing to numerous applications ranging from human-computer interaction to mental health assessment.</a:t>
            </a:r>
            <a:endParaRPr lang="en-US" sz="1600"/>
          </a:p>
          <a:p>
            <a:pPr algn="l"/>
            <a:endParaRPr lang="en-US" sz="1600"/>
          </a:p>
          <a:p>
            <a:pPr algn="l"/>
            <a:r>
              <a:rPr lang="en-US" sz="1600" b="1">
                <a:latin typeface="Arial Bold" panose="020B0604020202020204" charset="0"/>
                <a:cs typeface="Arial Bold" panose="020B0604020202020204" charset="0"/>
              </a:rPr>
              <a:t>The Significance of FERD</a:t>
            </a:r>
            <a:endParaRPr lang="en-US" sz="1600" b="1">
              <a:latin typeface="Arial Bold" panose="020B0604020202020204" charset="0"/>
              <a:cs typeface="Arial Bold" panose="020B0604020202020204" charset="0"/>
            </a:endParaRPr>
          </a:p>
          <a:p>
            <a:pPr algn="l"/>
            <a:endParaRPr lang="en-US" sz="1600"/>
          </a:p>
          <a:p>
            <a:pPr marL="285750" indent="-285750" algn="l">
              <a:buFont typeface="Arial" panose="020B0604020202020204" pitchFamily="34" charset="0"/>
              <a:buChar char="•"/>
            </a:pPr>
            <a:r>
              <a:rPr lang="en-US" sz="1600"/>
              <a:t>Human communication is inherently rich in emotional cues conveyed through facial expressions. These cues are vital for interpreting the feelings and intentions of others.</a:t>
            </a:r>
            <a:endParaRPr lang="en-US" sz="1600"/>
          </a:p>
          <a:p>
            <a:pPr marL="285750" indent="-285750" algn="l">
              <a:buFont typeface="Arial" panose="020B0604020202020204" pitchFamily="34" charset="0"/>
              <a:buChar char="•"/>
            </a:pPr>
            <a:endParaRPr lang="en-US" sz="1600"/>
          </a:p>
          <a:p>
            <a:pPr marL="285750" indent="-285750" algn="l">
              <a:buFont typeface="Arial" panose="020B0604020202020204" pitchFamily="34" charset="0"/>
              <a:buChar char="•"/>
            </a:pPr>
            <a:r>
              <a:rPr lang="en-US" sz="1600"/>
              <a:t>FERD systems aim to replicate human-like emotional intelligence in machines, enabling them to recognize and respond to human emotions accurately.</a:t>
            </a:r>
            <a:endParaRPr lang="en-US" sz="1600"/>
          </a:p>
          <a:p>
            <a:pPr marL="285750" indent="-285750" algn="l"/>
            <a:endParaRPr lang="en-US" sz="1600"/>
          </a:p>
        </p:txBody>
      </p:sp>
      <p:sp>
        <p:nvSpPr>
          <p:cNvPr id="3" name="Slide Number Placeholder 2"/>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609600" y="0"/>
            <a:ext cx="10972800" cy="695325"/>
          </a:xfrm>
        </p:spPr>
        <p:txBody>
          <a:bodyPr/>
          <a:p>
            <a:r>
              <a:rPr lang="en-US" sz="2400"/>
              <a:t>INTRODUCTION </a:t>
            </a:r>
            <a:br>
              <a:rPr lang="en-US" sz="2400"/>
            </a:br>
            <a:r>
              <a:rPr lang="en-US" sz="2400"/>
              <a:t>LAUCHPAD FOR THE FINDINGS IN THE LITERATURE </a:t>
            </a:r>
            <a:endParaRPr lang="en-US" sz="2400"/>
          </a:p>
        </p:txBody>
      </p:sp>
      <p:sp>
        <p:nvSpPr>
          <p:cNvPr id="3" name="Content Placeholder 2"/>
          <p:cNvSpPr>
            <a:spLocks noGrp="1"/>
          </p:cNvSpPr>
          <p:nvPr>
            <p:ph idx="1"/>
          </p:nvPr>
        </p:nvSpPr>
        <p:spPr>
          <a:xfrm>
            <a:off x="0" y="1025525"/>
            <a:ext cx="12192000" cy="5831840"/>
          </a:xfrm>
        </p:spPr>
        <p:txBody>
          <a:bodyPr/>
          <a:p>
            <a:r>
              <a:rPr lang="en-US" sz="1600"/>
              <a:t>Facial expressions are a universal form of non-verbal communication that can be used to convey a variety of emotions, such as anger, happiness, sadness, fear, surprise, disgust, and contempt. These expressions can be automatically detected through analysis of facial muscular movements, geometry, wrinkles, and textures.</a:t>
            </a:r>
            <a:endParaRPr lang="en-US" sz="1600"/>
          </a:p>
          <a:p>
            <a:endParaRPr lang="en-US" sz="1600"/>
          </a:p>
          <a:p>
            <a:r>
              <a:rPr lang="en-US" sz="1600"/>
              <a:t>Convolutional neural networks (CNNs) are a type of deep learning algorithm that have been shown to be effective for facial emotion recognition. CNNs are able to learn features from images that are relevant to emotion recognition, such as the position and shape of facial features.</a:t>
            </a:r>
            <a:endParaRPr lang="en-US" sz="1600"/>
          </a:p>
          <a:p>
            <a:endParaRPr lang="en-US" sz="1600"/>
          </a:p>
          <a:p>
            <a:r>
              <a:rPr lang="en-US" sz="1600"/>
              <a:t>Facial detection is an important first step in facial emotion recognition. This can be done using a variety of techniques, such as the Viola-Jones cascade detector. Once a face has been detected, the facial region can be extracted and key inner facial features, such as the eyes and mouth, can be identified. These features are then used to train a CNN model to recognize facial expressions.</a:t>
            </a:r>
            <a:endParaRPr lang="en-US" sz="1600"/>
          </a:p>
          <a:p>
            <a:endParaRPr lang="en-US" sz="1600"/>
          </a:p>
          <a:p>
            <a:r>
              <a:rPr lang="en-US" sz="1600">
                <a:sym typeface="+mn-ea"/>
              </a:rPr>
              <a:t>Data augmentation is another technique that can be used to improve the performance of a CNN model for facial emotion recognition. Data augmentation involves creating new training data by applying transformations to the existing training data. This can help to improve the robustness of the CNN model to variations in the appearance of facial expressions.</a:t>
            </a:r>
            <a:endParaRPr lang="en-US" sz="1600"/>
          </a:p>
          <a:p>
            <a:endParaRPr lang="en-US" sz="1800"/>
          </a:p>
          <a:p>
            <a:pPr marL="0" indent="0">
              <a:buNone/>
            </a:pPr>
            <a:r>
              <a:rPr lang="en-US" sz="1600">
                <a:sym typeface="+mn-ea"/>
              </a:rPr>
              <a:t>Despite the progress that has been made in facial emotion recognition, there are still challenges that need to be addressed. One challenge is detecting subtle microexpressions, which are brief facial expressions that are often difficult to detect. Another challenge is detecting facial expressions in profile view. Finally, some emotions, such as sadness, can be expressed in a variety of ways, depending on the context. This can make it difficult for a CNN model to accurately recognize these emotions.</a:t>
            </a:r>
            <a:endParaRPr lang="en-US" sz="1600"/>
          </a:p>
          <a:p>
            <a:endParaRPr lang="en-US" sz="1600"/>
          </a:p>
        </p:txBody>
      </p:sp>
      <p:sp>
        <p:nvSpPr>
          <p:cNvPr id="4" name="Slide Number Placeholder 3"/>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609600" y="0"/>
            <a:ext cx="10972800" cy="300355"/>
          </a:xfrm>
        </p:spPr>
        <p:txBody>
          <a:bodyPr/>
          <a:p>
            <a:r>
              <a:rPr lang="en-US" sz="2000"/>
              <a:t>LITERATURE REVIEW TABLE</a:t>
            </a:r>
            <a:endParaRPr lang="en-US" sz="2000"/>
          </a:p>
        </p:txBody>
      </p:sp>
      <p:graphicFrame>
        <p:nvGraphicFramePr>
          <p:cNvPr id="4" name="Content Placeholder 3"/>
          <p:cNvGraphicFramePr/>
          <p:nvPr>
            <p:ph idx="1"/>
          </p:nvPr>
        </p:nvGraphicFramePr>
        <p:xfrm>
          <a:off x="0" y="300355"/>
          <a:ext cx="12192000" cy="7141845"/>
        </p:xfrm>
        <a:graphic>
          <a:graphicData uri="http://schemas.openxmlformats.org/drawingml/2006/table">
            <a:tbl>
              <a:tblPr firstRow="1" bandRow="1">
                <a:tableStyleId>{5C22544A-7EE6-4342-B048-85BDC9FD1C3A}</a:tableStyleId>
              </a:tblPr>
              <a:tblGrid>
                <a:gridCol w="384175"/>
                <a:gridCol w="1061720"/>
                <a:gridCol w="2586355"/>
                <a:gridCol w="3253740"/>
                <a:gridCol w="2622550"/>
                <a:gridCol w="2283460"/>
              </a:tblGrid>
              <a:tr h="392430">
                <a:tc>
                  <a:txBody>
                    <a:bodyPr/>
                    <a:p>
                      <a:pPr>
                        <a:lnSpc>
                          <a:spcPct val="70000"/>
                        </a:lnSpc>
                        <a:buNone/>
                      </a:pPr>
                      <a:r>
                        <a:rPr lang="en-US" sz="1200" b="0"/>
                        <a:t>S/N</a:t>
                      </a:r>
                      <a:endParaRPr lang="en-US" sz="1200" b="0"/>
                    </a:p>
                  </a:txBody>
                  <a:tcPr/>
                </a:tc>
                <a:tc>
                  <a:txBody>
                    <a:bodyPr/>
                    <a:p>
                      <a:pPr>
                        <a:lnSpc>
                          <a:spcPct val="70000"/>
                        </a:lnSpc>
                        <a:buNone/>
                      </a:pPr>
                      <a:r>
                        <a:rPr lang="en-US" sz="1200" b="0"/>
                        <a:t>AUTHORS&amp; YEARS</a:t>
                      </a:r>
                      <a:endParaRPr lang="en-US" sz="1200" b="0"/>
                    </a:p>
                  </a:txBody>
                  <a:tcPr/>
                </a:tc>
                <a:tc>
                  <a:txBody>
                    <a:bodyPr/>
                    <a:p>
                      <a:pPr>
                        <a:lnSpc>
                          <a:spcPct val="70000"/>
                        </a:lnSpc>
                        <a:buNone/>
                      </a:pPr>
                      <a:r>
                        <a:rPr lang="en-US" sz="1200" b="0"/>
                        <a:t>PROBLEM STATEMENT</a:t>
                      </a:r>
                      <a:endParaRPr lang="en-US" sz="1200" b="0"/>
                    </a:p>
                  </a:txBody>
                  <a:tcPr/>
                </a:tc>
                <a:tc>
                  <a:txBody>
                    <a:bodyPr/>
                    <a:p>
                      <a:pPr>
                        <a:lnSpc>
                          <a:spcPct val="70000"/>
                        </a:lnSpc>
                        <a:buNone/>
                      </a:pPr>
                      <a:r>
                        <a:rPr lang="en-US" sz="1200" b="0"/>
                        <a:t>METHODOLOGY</a:t>
                      </a:r>
                      <a:endParaRPr lang="en-US" sz="1200" b="0"/>
                    </a:p>
                  </a:txBody>
                  <a:tcPr/>
                </a:tc>
                <a:tc>
                  <a:txBody>
                    <a:bodyPr/>
                    <a:p>
                      <a:pPr>
                        <a:lnSpc>
                          <a:spcPct val="70000"/>
                        </a:lnSpc>
                        <a:buNone/>
                      </a:pPr>
                      <a:r>
                        <a:rPr lang="en-US" sz="1200" b="0"/>
                        <a:t>DATASETS/RESULTS</a:t>
                      </a:r>
                      <a:endParaRPr lang="en-US" sz="1200" b="0"/>
                    </a:p>
                  </a:txBody>
                  <a:tcPr/>
                </a:tc>
                <a:tc>
                  <a:txBody>
                    <a:bodyPr/>
                    <a:p>
                      <a:pPr>
                        <a:lnSpc>
                          <a:spcPct val="70000"/>
                        </a:lnSpc>
                        <a:buNone/>
                      </a:pPr>
                      <a:r>
                        <a:rPr lang="en-US" sz="1200" b="0"/>
                        <a:t>LIMITATION</a:t>
                      </a:r>
                      <a:endParaRPr lang="en-US" sz="1200" b="0"/>
                    </a:p>
                  </a:txBody>
                  <a:tcPr/>
                </a:tc>
              </a:tr>
              <a:tr h="947420">
                <a:tc>
                  <a:txBody>
                    <a:bodyPr/>
                    <a:p>
                      <a:pPr>
                        <a:lnSpc>
                          <a:spcPct val="70000"/>
                        </a:lnSpc>
                        <a:buNone/>
                      </a:pPr>
                      <a:r>
                        <a:rPr lang="en-US" sz="1200" b="0"/>
                        <a:t>1</a:t>
                      </a:r>
                      <a:endParaRPr lang="en-US" sz="1200" b="0"/>
                    </a:p>
                  </a:txBody>
                  <a:tcPr/>
                </a:tc>
                <a:tc>
                  <a:txBody>
                    <a:bodyPr/>
                    <a:p>
                      <a:pPr>
                        <a:lnSpc>
                          <a:spcPct val="70000"/>
                        </a:lnSpc>
                        <a:buNone/>
                      </a:pPr>
                      <a:r>
                        <a:rPr lang="en-US" sz="1200" b="0"/>
                        <a:t>Zeng et al. (2023)</a:t>
                      </a:r>
                      <a:endParaRPr lang="en-US" sz="1200" b="0"/>
                    </a:p>
                  </a:txBody>
                  <a:tcPr/>
                </a:tc>
                <a:tc>
                  <a:txBody>
                    <a:bodyPr/>
                    <a:p>
                      <a:pPr>
                        <a:lnSpc>
                          <a:spcPct val="70000"/>
                        </a:lnSpc>
                        <a:buNone/>
                      </a:pPr>
                      <a:r>
                        <a:rPr lang="en-US" sz="1200" b="0"/>
                        <a:t>Facial emotion recognition (FER) systems often have difficulty recognizing emotions that require contextual understanding, such as sarcasm or guilt.</a:t>
                      </a:r>
                      <a:endParaRPr lang="en-US" sz="1200" b="0"/>
                    </a:p>
                  </a:txBody>
                  <a:tcPr/>
                </a:tc>
                <a:tc>
                  <a:txBody>
                    <a:bodyPr/>
                    <a:p>
                      <a:pPr>
                        <a:lnSpc>
                          <a:spcPct val="70000"/>
                        </a:lnSpc>
                        <a:buNone/>
                      </a:pPr>
                      <a:r>
                        <a:rPr lang="en-US" sz="1200" b="0"/>
                        <a:t>.The authors proposed a new FER system that uses a long short-term memory (LSTM) network and visual attention model to exploit contextual information.</a:t>
                      </a:r>
                      <a:endParaRPr lang="en-US" sz="1200" b="0"/>
                    </a:p>
                  </a:txBody>
                  <a:tcPr/>
                </a:tc>
                <a:tc>
                  <a:txBody>
                    <a:bodyPr/>
                    <a:p>
                      <a:pPr>
                        <a:lnSpc>
                          <a:spcPct val="70000"/>
                        </a:lnSpc>
                        <a:buNone/>
                      </a:pPr>
                      <a:r>
                        <a:rPr lang="en-US" sz="1200" b="0"/>
                        <a:t>The system was evaluated on the HAPPEI dataset, . The system achieved an accuracy of 55.17%, which is higher than the state-of-the-art methods.</a:t>
                      </a:r>
                      <a:endParaRPr lang="en-US" sz="1200" b="0"/>
                    </a:p>
                  </a:txBody>
                  <a:tcPr/>
                </a:tc>
                <a:tc>
                  <a:txBody>
                    <a:bodyPr/>
                    <a:p>
                      <a:pPr>
                        <a:lnSpc>
                          <a:spcPct val="70000"/>
                        </a:lnSpc>
                        <a:buNone/>
                      </a:pPr>
                      <a:r>
                        <a:rPr lang="en-US" sz="1200" b="0"/>
                        <a:t>The system is still under development and needs to be evaluated on larger and more diverse datasets.</a:t>
                      </a:r>
                      <a:endParaRPr lang="en-US" sz="1200" b="0"/>
                    </a:p>
                  </a:txBody>
                  <a:tcPr/>
                </a:tc>
              </a:tr>
              <a:tr h="793115">
                <a:tc>
                  <a:txBody>
                    <a:bodyPr/>
                    <a:p>
                      <a:pPr>
                        <a:lnSpc>
                          <a:spcPct val="70000"/>
                        </a:lnSpc>
                        <a:buNone/>
                      </a:pPr>
                      <a:r>
                        <a:rPr lang="en-US" sz="1200" b="0"/>
                        <a:t>2</a:t>
                      </a:r>
                      <a:endParaRPr lang="en-US" sz="1200" b="0"/>
                    </a:p>
                  </a:txBody>
                  <a:tcPr/>
                </a:tc>
                <a:tc>
                  <a:txBody>
                    <a:bodyPr/>
                    <a:p>
                      <a:pPr>
                        <a:lnSpc>
                          <a:spcPct val="70000"/>
                        </a:lnSpc>
                        <a:buNone/>
                      </a:pPr>
                      <a:r>
                        <a:rPr lang="en-US" sz="1200" b="0"/>
                        <a:t>Kim et al. (2023)</a:t>
                      </a:r>
                      <a:endParaRPr lang="en-US" sz="1200" b="0"/>
                    </a:p>
                  </a:txBody>
                  <a:tcPr/>
                </a:tc>
                <a:tc>
                  <a:txBody>
                    <a:bodyPr/>
                    <a:p>
                      <a:pPr>
                        <a:lnSpc>
                          <a:spcPct val="70000"/>
                        </a:lnSpc>
                        <a:buNone/>
                      </a:pPr>
                      <a:r>
                        <a:rPr lang="en-US" sz="1200" b="0"/>
                        <a:t>FER systems often have difficulty detecting subtle emotions and micro-expressions. </a:t>
                      </a:r>
                      <a:endParaRPr lang="en-US" sz="1200" b="0"/>
                    </a:p>
                  </a:txBody>
                  <a:tcPr/>
                </a:tc>
                <a:tc>
                  <a:txBody>
                    <a:bodyPr/>
                    <a:p>
                      <a:pPr>
                        <a:lnSpc>
                          <a:spcPct val="70000"/>
                        </a:lnSpc>
                        <a:buNone/>
                      </a:pPr>
                      <a:r>
                        <a:rPr lang="en-US" sz="1200" b="0"/>
                        <a:t>The authors proposed a new FER system that uses a convolutional neural network (CNN) with deformable action parts constraints for fine-grained recognition.</a:t>
                      </a:r>
                      <a:endParaRPr lang="en-US" sz="1200" b="0"/>
                    </a:p>
                  </a:txBody>
                  <a:tcPr/>
                </a:tc>
                <a:tc>
                  <a:txBody>
                    <a:bodyPr/>
                    <a:p>
                      <a:pPr>
                        <a:lnSpc>
                          <a:spcPct val="70000"/>
                        </a:lnSpc>
                        <a:buNone/>
                      </a:pPr>
                      <a:r>
                        <a:rPr lang="en-US" sz="1200" b="0"/>
                        <a:t>The system was evaluated on the SMIC dataset,  The system achieved an average accuracy of 71.2%</a:t>
                      </a:r>
                      <a:endParaRPr lang="en-US" sz="1200" b="0"/>
                    </a:p>
                  </a:txBody>
                  <a:tcPr/>
                </a:tc>
                <a:tc>
                  <a:txBody>
                    <a:bodyPr/>
                    <a:p>
                      <a:pPr>
                        <a:lnSpc>
                          <a:spcPct val="70000"/>
                        </a:lnSpc>
                        <a:buNone/>
                      </a:pPr>
                      <a:r>
                        <a:rPr lang="en-US" sz="1200" b="0"/>
                        <a:t>The system is still under development and needs to be evaluated on larger and more diverse datasets.</a:t>
                      </a:r>
                      <a:endParaRPr lang="en-US" sz="1200" b="0"/>
                    </a:p>
                  </a:txBody>
                  <a:tcPr/>
                </a:tc>
              </a:tr>
              <a:tr h="959485">
                <a:tc>
                  <a:txBody>
                    <a:bodyPr/>
                    <a:p>
                      <a:pPr>
                        <a:lnSpc>
                          <a:spcPct val="70000"/>
                        </a:lnSpc>
                        <a:buNone/>
                      </a:pPr>
                      <a:r>
                        <a:rPr lang="en-US" sz="1200" b="0"/>
                        <a:t>3</a:t>
                      </a:r>
                      <a:endParaRPr lang="en-US" sz="1200" b="0"/>
                    </a:p>
                  </a:txBody>
                  <a:tcPr/>
                </a:tc>
                <a:tc>
                  <a:txBody>
                    <a:bodyPr/>
                    <a:p>
                      <a:pPr>
                        <a:lnSpc>
                          <a:spcPct val="70000"/>
                        </a:lnSpc>
                        <a:buNone/>
                      </a:pPr>
                      <a:r>
                        <a:rPr lang="en-US" sz="1200" b="0"/>
                        <a:t>Ghimire et al. (2020)</a:t>
                      </a:r>
                      <a:endParaRPr lang="en-US" sz="1200" b="0"/>
                    </a:p>
                  </a:txBody>
                  <a:tcPr/>
                </a:tc>
                <a:tc>
                  <a:txBody>
                    <a:bodyPr/>
                    <a:p>
                      <a:pPr>
                        <a:lnSpc>
                          <a:spcPct val="70000"/>
                        </a:lnSpc>
                        <a:buNone/>
                      </a:pPr>
                      <a:r>
                        <a:rPr lang="en-US" sz="1200" b="0"/>
                        <a:t>Facial emotion recognition (FER) systems often have difficulty generalizing to new datasets.</a:t>
                      </a:r>
                      <a:endParaRPr lang="en-US" sz="1200" b="0"/>
                    </a:p>
                  </a:txBody>
                  <a:tcPr/>
                </a:tc>
                <a:tc>
                  <a:txBody>
                    <a:bodyPr/>
                    <a:p>
                      <a:pPr>
                        <a:lnSpc>
                          <a:spcPct val="70000"/>
                        </a:lnSpc>
                        <a:buNone/>
                      </a:pPr>
                      <a:r>
                        <a:rPr lang="en-US" sz="1200" b="0"/>
                        <a:t>The authors proposed a new FER system that uses an ensemble of deep neural networks (DNNs), including convolutional neural networks (CNNs) and deep belief networks (DBNs).</a:t>
                      </a:r>
                      <a:endParaRPr lang="en-US" sz="1200" b="0"/>
                    </a:p>
                  </a:txBody>
                  <a:tcPr/>
                </a:tc>
                <a:tc>
                  <a:txBody>
                    <a:bodyPr/>
                    <a:p>
                      <a:pPr>
                        <a:lnSpc>
                          <a:spcPct val="70000"/>
                        </a:lnSpc>
                        <a:buNone/>
                      </a:pPr>
                      <a:r>
                        <a:rPr lang="en-US" sz="1200" b="0"/>
                        <a:t>The system was evaluated on the FER-2013 dataset,  The system achieved an accuracy of 84.3%, which is higher than the state-of-the-art methods at the time.</a:t>
                      </a:r>
                      <a:endParaRPr lang="en-US" sz="1200" b="0"/>
                    </a:p>
                  </a:txBody>
                  <a:tcPr/>
                </a:tc>
                <a:tc>
                  <a:txBody>
                    <a:bodyPr/>
                    <a:p>
                      <a:pPr>
                        <a:lnSpc>
                          <a:spcPct val="70000"/>
                        </a:lnSpc>
                        <a:buNone/>
                      </a:pPr>
                      <a:r>
                        <a:rPr lang="en-US" sz="1200" b="0"/>
                        <a:t>The system does not consider temporal video information, which can be useful for recognizing emotions that require contextual understanding.</a:t>
                      </a:r>
                      <a:endParaRPr lang="en-US" sz="1200" b="0"/>
                    </a:p>
                  </a:txBody>
                  <a:tcPr/>
                </a:tc>
              </a:tr>
              <a:tr h="476250">
                <a:tc>
                  <a:txBody>
                    <a:bodyPr/>
                    <a:p>
                      <a:pPr>
                        <a:lnSpc>
                          <a:spcPct val="70000"/>
                        </a:lnSpc>
                        <a:buNone/>
                      </a:pPr>
                      <a:r>
                        <a:rPr lang="en-US" sz="1200" b="0"/>
                        <a:t>4</a:t>
                      </a:r>
                      <a:endParaRPr lang="en-US" sz="1200" b="0"/>
                    </a:p>
                  </a:txBody>
                  <a:tcPr/>
                </a:tc>
                <a:tc>
                  <a:txBody>
                    <a:bodyPr/>
                    <a:p>
                      <a:pPr>
                        <a:lnSpc>
                          <a:spcPct val="70000"/>
                        </a:lnSpc>
                        <a:buNone/>
                      </a:pPr>
                      <a:r>
                        <a:rPr lang="en-US" sz="1200" b="0">
                          <a:sym typeface="+mn-ea"/>
                        </a:rPr>
                        <a:t>Zeng et al.</a:t>
                      </a:r>
                      <a:endParaRPr lang="en-US" sz="1200" b="0"/>
                    </a:p>
                    <a:p>
                      <a:pPr>
                        <a:lnSpc>
                          <a:spcPct val="70000"/>
                        </a:lnSpc>
                        <a:buNone/>
                      </a:pPr>
                      <a:r>
                        <a:rPr lang="en-US" sz="1200" b="0">
                          <a:sym typeface="+mn-ea"/>
                        </a:rPr>
                        <a:t>(2018)</a:t>
                      </a:r>
                      <a:endParaRPr lang="en-US" sz="1200" b="0"/>
                    </a:p>
                  </a:txBody>
                  <a:tcPr/>
                </a:tc>
                <a:tc>
                  <a:txBody>
                    <a:bodyPr/>
                    <a:p>
                      <a:pPr>
                        <a:lnSpc>
                          <a:spcPct val="70000"/>
                        </a:lnSpc>
                        <a:buNone/>
                      </a:pPr>
                      <a:r>
                        <a:rPr lang="en-US" sz="1200" b="0">
                          <a:sym typeface="+mn-ea"/>
                        </a:rPr>
                        <a:t>Difficulty in recognizing emotions requiring contextual understanding.</a:t>
                      </a:r>
                      <a:endParaRPr lang="en-US" sz="1200" b="0">
                        <a:sym typeface="+mn-ea"/>
                      </a:endParaRPr>
                    </a:p>
                  </a:txBody>
                  <a:tcPr/>
                </a:tc>
                <a:tc>
                  <a:txBody>
                    <a:bodyPr/>
                    <a:p>
                      <a:pPr>
                        <a:lnSpc>
                          <a:spcPct val="70000"/>
                        </a:lnSpc>
                        <a:buNone/>
                      </a:pPr>
                      <a:r>
                        <a:rPr lang="en-US" sz="1200" b="0">
                          <a:sym typeface="+mn-ea"/>
                        </a:rPr>
                        <a:t>Proposed LSTM and visual attention model to exploit contextual information</a:t>
                      </a:r>
                      <a:endParaRPr lang="en-US" sz="1200" b="0">
                        <a:sym typeface="+mn-ea"/>
                      </a:endParaRPr>
                    </a:p>
                  </a:txBody>
                  <a:tcPr/>
                </a:tc>
                <a:tc>
                  <a:txBody>
                    <a:bodyPr/>
                    <a:p>
                      <a:pPr>
                        <a:lnSpc>
                          <a:spcPct val="70000"/>
                        </a:lnSpc>
                        <a:buNone/>
                      </a:pPr>
                      <a:r>
                        <a:rPr lang="en-US" sz="1200" b="0">
                          <a:sym typeface="+mn-ea"/>
                        </a:rPr>
                        <a:t>HAPPEI dataset.</a:t>
                      </a:r>
                      <a:endParaRPr lang="en-US" sz="1200" b="0"/>
                    </a:p>
                    <a:p>
                      <a:pPr>
                        <a:lnSpc>
                          <a:spcPct val="70000"/>
                        </a:lnSpc>
                        <a:buNone/>
                      </a:pPr>
                      <a:r>
                        <a:rPr lang="en-US" sz="1200" b="0">
                          <a:sym typeface="+mn-ea"/>
                        </a:rPr>
                        <a:t>Achieved 55.17%</a:t>
                      </a:r>
                      <a:endParaRPr lang="en-US" sz="1200" b="0"/>
                    </a:p>
                    <a:p>
                      <a:pPr>
                        <a:lnSpc>
                          <a:spcPct val="70000"/>
                        </a:lnSpc>
                        <a:buNone/>
                      </a:pPr>
                      <a:r>
                        <a:rPr lang="en-US" sz="1200" b="0">
                          <a:sym typeface="+mn-ea"/>
                        </a:rPr>
                        <a:t>accuracy.</a:t>
                      </a:r>
                      <a:endParaRPr lang="en-US" sz="1200" b="0"/>
                    </a:p>
                  </a:txBody>
                  <a:tcPr/>
                </a:tc>
                <a:tc>
                  <a:txBody>
                    <a:bodyPr/>
                    <a:p>
                      <a:pPr>
                        <a:lnSpc>
                          <a:spcPct val="70000"/>
                        </a:lnSpc>
                        <a:buNone/>
                      </a:pPr>
                      <a:r>
                        <a:rPr lang="en-US" sz="1200" b="0">
                          <a:sym typeface="+mn-ea"/>
                        </a:rPr>
                        <a:t>Tested only on posed</a:t>
                      </a:r>
                      <a:endParaRPr lang="en-US" sz="1200" b="0"/>
                    </a:p>
                    <a:p>
                      <a:pPr>
                        <a:lnSpc>
                          <a:spcPct val="70000"/>
                        </a:lnSpc>
                        <a:buNone/>
                      </a:pPr>
                      <a:r>
                        <a:rPr lang="en-US" sz="1200" b="0">
                          <a:sym typeface="+mn-ea"/>
                        </a:rPr>
                        <a:t>expressions in lab settings.</a:t>
                      </a:r>
                      <a:endParaRPr lang="en-US" sz="1200" b="0"/>
                    </a:p>
                  </a:txBody>
                  <a:tcPr/>
                </a:tc>
              </a:tr>
              <a:tr h="487045">
                <a:tc>
                  <a:txBody>
                    <a:bodyPr/>
                    <a:p>
                      <a:pPr>
                        <a:lnSpc>
                          <a:spcPct val="70000"/>
                        </a:lnSpc>
                        <a:buNone/>
                      </a:pPr>
                      <a:r>
                        <a:rPr lang="en-US" sz="1200" b="0"/>
                        <a:t>5</a:t>
                      </a:r>
                      <a:endParaRPr lang="en-US" sz="1200" b="0"/>
                    </a:p>
                  </a:txBody>
                  <a:tcPr/>
                </a:tc>
                <a:tc>
                  <a:txBody>
                    <a:bodyPr/>
                    <a:p>
                      <a:pPr>
                        <a:lnSpc>
                          <a:spcPct val="70000"/>
                        </a:lnSpc>
                        <a:buNone/>
                      </a:pPr>
                      <a:r>
                        <a:rPr lang="en-US" sz="1200" b="0">
                          <a:sym typeface="+mn-ea"/>
                        </a:rPr>
                        <a:t>Kim et al.</a:t>
                      </a:r>
                      <a:endParaRPr lang="en-US" sz="1200" b="0"/>
                    </a:p>
                    <a:p>
                      <a:pPr>
                        <a:lnSpc>
                          <a:spcPct val="70000"/>
                        </a:lnSpc>
                        <a:buNone/>
                      </a:pPr>
                      <a:r>
                        <a:rPr lang="en-US" sz="1200" b="0">
                          <a:sym typeface="+mn-ea"/>
                        </a:rPr>
                        <a:t>(2017)</a:t>
                      </a:r>
                      <a:endParaRPr lang="en-US" sz="1200" b="0"/>
                    </a:p>
                    <a:p>
                      <a:pPr>
                        <a:lnSpc>
                          <a:spcPct val="70000"/>
                        </a:lnSpc>
                        <a:buNone/>
                      </a:pPr>
                      <a:endParaRPr lang="en-US" sz="1200" b="0"/>
                    </a:p>
                  </a:txBody>
                  <a:tcPr/>
                </a:tc>
                <a:tc>
                  <a:txBody>
                    <a:bodyPr/>
                    <a:p>
                      <a:pPr>
                        <a:lnSpc>
                          <a:spcPct val="70000"/>
                        </a:lnSpc>
                        <a:buNone/>
                      </a:pPr>
                      <a:r>
                        <a:rPr lang="en-US" sz="1200" b="0">
                          <a:sym typeface="+mn-ea"/>
                        </a:rPr>
                        <a:t>Limitations in detecting micro-expressions and subtle emotions.</a:t>
                      </a:r>
                      <a:endParaRPr lang="en-US" sz="1200" b="0">
                        <a:sym typeface="+mn-ea"/>
                      </a:endParaRPr>
                    </a:p>
                  </a:txBody>
                  <a:tcPr/>
                </a:tc>
                <a:tc>
                  <a:txBody>
                    <a:bodyPr/>
                    <a:p>
                      <a:pPr>
                        <a:lnSpc>
                          <a:spcPct val="70000"/>
                        </a:lnSpc>
                        <a:buNone/>
                      </a:pPr>
                      <a:r>
                        <a:rPr lang="en-US" sz="1200" b="0">
                          <a:sym typeface="+mn-ea"/>
                        </a:rPr>
                        <a:t>Used CNN with deformable action parts constraints for fine-grained recognition.</a:t>
                      </a:r>
                      <a:endParaRPr lang="en-US" sz="1200" b="0">
                        <a:sym typeface="+mn-ea"/>
                      </a:endParaRPr>
                    </a:p>
                  </a:txBody>
                  <a:tcPr/>
                </a:tc>
                <a:tc>
                  <a:txBody>
                    <a:bodyPr/>
                    <a:p>
                      <a:pPr>
                        <a:lnSpc>
                          <a:spcPct val="70000"/>
                        </a:lnSpc>
                        <a:buNone/>
                      </a:pPr>
                      <a:r>
                        <a:rPr lang="en-US" sz="1200" b="0">
                          <a:sym typeface="+mn-ea"/>
                        </a:rPr>
                        <a:t>SMIC dataset. Obtained 71.2% average accuracy for micro-expressions.</a:t>
                      </a:r>
                      <a:endParaRPr lang="en-US" sz="1200" b="0">
                        <a:sym typeface="+mn-ea"/>
                      </a:endParaRPr>
                    </a:p>
                  </a:txBody>
                  <a:tcPr/>
                </a:tc>
                <a:tc>
                  <a:txBody>
                    <a:bodyPr/>
                    <a:p>
                      <a:pPr>
                        <a:lnSpc>
                          <a:spcPct val="70000"/>
                        </a:lnSpc>
                        <a:buNone/>
                      </a:pPr>
                      <a:r>
                        <a:rPr lang="en-US" sz="1200" b="0">
                          <a:sym typeface="+mn-ea"/>
                        </a:rPr>
                        <a:t>Constrained real-world</a:t>
                      </a:r>
                      <a:endParaRPr lang="en-US" sz="1200" b="0"/>
                    </a:p>
                    <a:p>
                      <a:pPr>
                        <a:lnSpc>
                          <a:spcPct val="70000"/>
                        </a:lnSpc>
                        <a:buNone/>
                      </a:pPr>
                      <a:r>
                        <a:rPr lang="en-US" sz="1200" b="0">
                          <a:sym typeface="+mn-ea"/>
                        </a:rPr>
                        <a:t>conditions like illumination</a:t>
                      </a:r>
                      <a:endParaRPr lang="en-US" sz="1200" b="0"/>
                    </a:p>
                    <a:p>
                      <a:pPr>
                        <a:lnSpc>
                          <a:spcPct val="70000"/>
                        </a:lnSpc>
                        <a:buNone/>
                      </a:pPr>
                      <a:r>
                        <a:rPr lang="en-US" sz="1200" b="0">
                          <a:sym typeface="+mn-ea"/>
                        </a:rPr>
                        <a:t>and occlusion not addressed.</a:t>
                      </a:r>
                      <a:endParaRPr lang="en-US" sz="1200" b="0"/>
                    </a:p>
                  </a:txBody>
                  <a:tcPr/>
                </a:tc>
              </a:tr>
              <a:tr h="486410">
                <a:tc>
                  <a:txBody>
                    <a:bodyPr/>
                    <a:p>
                      <a:pPr>
                        <a:lnSpc>
                          <a:spcPct val="70000"/>
                        </a:lnSpc>
                        <a:buNone/>
                      </a:pPr>
                      <a:r>
                        <a:rPr lang="en-US" sz="1200" b="0"/>
                        <a:t>6</a:t>
                      </a:r>
                      <a:endParaRPr lang="en-US" sz="1200" b="0"/>
                    </a:p>
                  </a:txBody>
                  <a:tcPr/>
                </a:tc>
                <a:tc>
                  <a:txBody>
                    <a:bodyPr/>
                    <a:p>
                      <a:pPr>
                        <a:lnSpc>
                          <a:spcPct val="70000"/>
                        </a:lnSpc>
                        <a:buNone/>
                      </a:pPr>
                      <a:r>
                        <a:rPr lang="en-US" sz="1200" b="0">
                          <a:sym typeface="+mn-ea"/>
                        </a:rPr>
                        <a:t>Jung et al.</a:t>
                      </a:r>
                      <a:endParaRPr lang="en-US" sz="1200" b="0"/>
                    </a:p>
                    <a:p>
                      <a:pPr>
                        <a:lnSpc>
                          <a:spcPct val="70000"/>
                        </a:lnSpc>
                        <a:buNone/>
                      </a:pPr>
                      <a:r>
                        <a:rPr lang="en-US" sz="1200" b="0">
                          <a:sym typeface="+mn-ea"/>
                        </a:rPr>
                        <a:t>(2015)</a:t>
                      </a:r>
                      <a:endParaRPr lang="en-US" sz="1200" b="0"/>
                    </a:p>
                  </a:txBody>
                  <a:tcPr/>
                </a:tc>
                <a:tc>
                  <a:txBody>
                    <a:bodyPr/>
                    <a:p>
                      <a:pPr>
                        <a:lnSpc>
                          <a:spcPct val="70000"/>
                        </a:lnSpc>
                        <a:buNone/>
                      </a:pPr>
                      <a:r>
                        <a:rPr lang="en-US" sz="1200" b="0">
                          <a:sym typeface="+mn-ea"/>
                        </a:rPr>
                        <a:t>Difficulty of recognizing subtle</a:t>
                      </a:r>
                      <a:endParaRPr lang="en-US" sz="1200" b="0"/>
                    </a:p>
                    <a:p>
                      <a:pPr>
                        <a:lnSpc>
                          <a:spcPct val="70000"/>
                        </a:lnSpc>
                        <a:buNone/>
                      </a:pPr>
                      <a:r>
                        <a:rPr lang="en-US" sz="1200" b="0">
                          <a:sym typeface="+mn-ea"/>
                        </a:rPr>
                        <a:t>facial movements and micro-</a:t>
                      </a:r>
                      <a:endParaRPr lang="en-US" sz="1200" b="0"/>
                    </a:p>
                    <a:p>
                      <a:pPr>
                        <a:lnSpc>
                          <a:spcPct val="70000"/>
                        </a:lnSpc>
                        <a:buNone/>
                      </a:pPr>
                      <a:r>
                        <a:rPr lang="en-US" sz="1200" b="0">
                          <a:sym typeface="+mn-ea"/>
                        </a:rPr>
                        <a:t>expressions.</a:t>
                      </a:r>
                      <a:endParaRPr lang="en-US" sz="1200" b="0"/>
                    </a:p>
                  </a:txBody>
                  <a:tcPr/>
                </a:tc>
                <a:tc>
                  <a:txBody>
                    <a:bodyPr/>
                    <a:p>
                      <a:pPr>
                        <a:lnSpc>
                          <a:spcPct val="70000"/>
                        </a:lnSpc>
                        <a:buNone/>
                      </a:pPr>
                      <a:r>
                        <a:rPr lang="en-US" sz="1200" b="0">
                          <a:sym typeface="+mn-ea"/>
                        </a:rPr>
                        <a:t>Used CNN and LSTM neural</a:t>
                      </a:r>
                      <a:endParaRPr lang="en-US" sz="1200" b="0"/>
                    </a:p>
                    <a:p>
                      <a:pPr>
                        <a:lnSpc>
                          <a:spcPct val="70000"/>
                        </a:lnSpc>
                        <a:buNone/>
                      </a:pPr>
                      <a:r>
                        <a:rPr lang="en-US" sz="1200" b="0">
                          <a:sym typeface="+mn-ea"/>
                        </a:rPr>
                        <a:t>network architecture.</a:t>
                      </a:r>
                      <a:endParaRPr lang="en-US" sz="1200" b="0"/>
                    </a:p>
                    <a:p>
                      <a:pPr>
                        <a:lnSpc>
                          <a:spcPct val="70000"/>
                        </a:lnSpc>
                        <a:buNone/>
                      </a:pPr>
                      <a:endParaRPr lang="en-US" sz="1200" b="0"/>
                    </a:p>
                  </a:txBody>
                  <a:tcPr/>
                </a:tc>
                <a:tc>
                  <a:txBody>
                    <a:bodyPr/>
                    <a:p>
                      <a:pPr>
                        <a:lnSpc>
                          <a:spcPct val="70000"/>
                        </a:lnSpc>
                        <a:buNone/>
                      </a:pPr>
                      <a:r>
                        <a:rPr lang="en-US" sz="1200" b="0">
                          <a:sym typeface="+mn-ea"/>
                        </a:rPr>
                        <a:t>CK+ dataset. Obtained</a:t>
                      </a:r>
                      <a:endParaRPr lang="en-US" sz="1200" b="0"/>
                    </a:p>
                    <a:p>
                      <a:pPr>
                        <a:lnSpc>
                          <a:spcPct val="70000"/>
                        </a:lnSpc>
                        <a:buNone/>
                      </a:pPr>
                      <a:r>
                        <a:rPr lang="en-US" sz="1200" b="0">
                          <a:sym typeface="+mn-ea"/>
                        </a:rPr>
                        <a:t>85.67% accuracy.</a:t>
                      </a:r>
                      <a:endParaRPr lang="en-US" sz="1200" b="0"/>
                    </a:p>
                    <a:p>
                      <a:pPr>
                        <a:lnSpc>
                          <a:spcPct val="70000"/>
                        </a:lnSpc>
                        <a:buNone/>
                      </a:pPr>
                      <a:endParaRPr lang="en-US" sz="1200" b="0"/>
                    </a:p>
                  </a:txBody>
                  <a:tcPr/>
                </a:tc>
                <a:tc>
                  <a:txBody>
                    <a:bodyPr/>
                    <a:p>
                      <a:pPr>
                        <a:lnSpc>
                          <a:spcPct val="70000"/>
                        </a:lnSpc>
                        <a:buNone/>
                      </a:pPr>
                      <a:r>
                        <a:rPr lang="en-US" sz="1200" b="0">
                          <a:sym typeface="+mn-ea"/>
                        </a:rPr>
                        <a:t>Focused only on peak</a:t>
                      </a:r>
                      <a:endParaRPr lang="en-US" sz="1200" b="0"/>
                    </a:p>
                    <a:p>
                      <a:pPr>
                        <a:lnSpc>
                          <a:spcPct val="70000"/>
                        </a:lnSpc>
                        <a:buNone/>
                      </a:pPr>
                      <a:r>
                        <a:rPr lang="en-US" sz="1200" b="0">
                          <a:sym typeface="+mn-ea"/>
                        </a:rPr>
                        <a:t>emotions, not transitions.</a:t>
                      </a:r>
                      <a:endParaRPr lang="en-US" sz="1200" b="0"/>
                    </a:p>
                    <a:p>
                      <a:pPr>
                        <a:lnSpc>
                          <a:spcPct val="70000"/>
                        </a:lnSpc>
                        <a:buNone/>
                      </a:pPr>
                      <a:endParaRPr lang="en-US" sz="1200" b="0"/>
                    </a:p>
                  </a:txBody>
                  <a:tcPr/>
                </a:tc>
              </a:tr>
              <a:tr h="554355">
                <a:tc>
                  <a:txBody>
                    <a:bodyPr/>
                    <a:p>
                      <a:pPr>
                        <a:lnSpc>
                          <a:spcPct val="70000"/>
                        </a:lnSpc>
                        <a:buNone/>
                      </a:pPr>
                      <a:r>
                        <a:rPr lang="en-US" sz="1200" b="0"/>
                        <a:t>7</a:t>
                      </a:r>
                      <a:endParaRPr lang="en-US" sz="1200" b="0"/>
                    </a:p>
                  </a:txBody>
                  <a:tcPr/>
                </a:tc>
                <a:tc>
                  <a:txBody>
                    <a:bodyPr/>
                    <a:p>
                      <a:pPr>
                        <a:lnSpc>
                          <a:spcPct val="70000"/>
                        </a:lnSpc>
                        <a:buNone/>
                      </a:pPr>
                      <a:r>
                        <a:rPr lang="en-US" sz="1200" b="0">
                          <a:sym typeface="+mn-ea"/>
                        </a:rPr>
                        <a:t>Liu et al.</a:t>
                      </a:r>
                      <a:endParaRPr lang="en-US" sz="1200" b="0"/>
                    </a:p>
                    <a:p>
                      <a:pPr>
                        <a:lnSpc>
                          <a:spcPct val="70000"/>
                        </a:lnSpc>
                        <a:buNone/>
                      </a:pPr>
                      <a:r>
                        <a:rPr lang="en-US" sz="1200" b="0">
                          <a:sym typeface="+mn-ea"/>
                        </a:rPr>
                        <a:t>(2014)</a:t>
                      </a:r>
                      <a:endParaRPr lang="en-US" sz="1200" b="0"/>
                    </a:p>
                    <a:p>
                      <a:pPr>
                        <a:lnSpc>
                          <a:spcPct val="70000"/>
                        </a:lnSpc>
                        <a:buNone/>
                      </a:pPr>
                      <a:endParaRPr lang="en-US" sz="1200" b="0"/>
                    </a:p>
                  </a:txBody>
                  <a:tcPr/>
                </a:tc>
                <a:tc>
                  <a:txBody>
                    <a:bodyPr/>
                    <a:p>
                      <a:pPr>
                        <a:lnSpc>
                          <a:spcPct val="70000"/>
                        </a:lnSpc>
                        <a:buNone/>
                      </a:pPr>
                      <a:r>
                        <a:rPr lang="en-US" sz="1200" b="0">
                          <a:sym typeface="+mn-ea"/>
                        </a:rPr>
                        <a:t>Challenging to extract</a:t>
                      </a:r>
                      <a:endParaRPr lang="en-US" sz="1200" b="0"/>
                    </a:p>
                    <a:p>
                      <a:pPr>
                        <a:lnSpc>
                          <a:spcPct val="70000"/>
                        </a:lnSpc>
                        <a:buNone/>
                      </a:pPr>
                      <a:r>
                        <a:rPr lang="en-US" sz="1200" b="0">
                          <a:sym typeface="+mn-ea"/>
                        </a:rPr>
                        <a:t>discriminative facial patches</a:t>
                      </a:r>
                      <a:endParaRPr lang="en-US" sz="1200" b="0"/>
                    </a:p>
                    <a:p>
                      <a:pPr>
                        <a:lnSpc>
                          <a:spcPct val="70000"/>
                        </a:lnSpc>
                        <a:buNone/>
                      </a:pPr>
                      <a:r>
                        <a:rPr lang="en-US" sz="1200" b="0">
                          <a:sym typeface="+mn-ea"/>
                        </a:rPr>
                        <a:t>and learn robust features.</a:t>
                      </a:r>
                      <a:endParaRPr lang="en-US" sz="1200" b="0"/>
                    </a:p>
                  </a:txBody>
                  <a:tcPr/>
                </a:tc>
                <a:tc>
                  <a:txBody>
                    <a:bodyPr/>
                    <a:p>
                      <a:pPr>
                        <a:lnSpc>
                          <a:spcPct val="70000"/>
                        </a:lnSpc>
                        <a:buNone/>
                      </a:pPr>
                      <a:r>
                        <a:rPr lang="en-US" sz="1200" b="0">
                          <a:sym typeface="+mn-ea"/>
                        </a:rPr>
                        <a:t>Proposed Boosted Deep Belief</a:t>
                      </a:r>
                      <a:endParaRPr lang="en-US" sz="1200" b="0"/>
                    </a:p>
                    <a:p>
                      <a:pPr>
                        <a:lnSpc>
                          <a:spcPct val="70000"/>
                        </a:lnSpc>
                        <a:buNone/>
                      </a:pPr>
                      <a:r>
                        <a:rPr lang="en-US" sz="1200" b="0">
                          <a:sym typeface="+mn-ea"/>
                        </a:rPr>
                        <a:t>Network using facial landmarks.</a:t>
                      </a:r>
                      <a:endParaRPr lang="en-US" sz="1200" b="0"/>
                    </a:p>
                  </a:txBody>
                  <a:tcPr/>
                </a:tc>
                <a:tc>
                  <a:txBody>
                    <a:bodyPr/>
                    <a:p>
                      <a:pPr>
                        <a:lnSpc>
                          <a:spcPct val="70000"/>
                        </a:lnSpc>
                        <a:buNone/>
                      </a:pPr>
                      <a:r>
                        <a:rPr lang="en-US" sz="1200" b="0">
                          <a:sym typeface="+mn-ea"/>
                        </a:rPr>
                        <a:t>CK+, MMI, and FERG datasets. Achieved over 90% accuracy.</a:t>
                      </a:r>
                      <a:endParaRPr lang="en-US" sz="1200" b="0">
                        <a:sym typeface="+mn-ea"/>
                      </a:endParaRPr>
                    </a:p>
                  </a:txBody>
                  <a:tcPr/>
                </a:tc>
                <a:tc>
                  <a:txBody>
                    <a:bodyPr/>
                    <a:p>
                      <a:pPr>
                        <a:lnSpc>
                          <a:spcPct val="70000"/>
                        </a:lnSpc>
                        <a:buNone/>
                      </a:pPr>
                      <a:r>
                        <a:rPr lang="en-US" sz="1200" b="0">
                          <a:sym typeface="+mn-ea"/>
                        </a:rPr>
                        <a:t>Computationally expensive feature extraction process.</a:t>
                      </a:r>
                      <a:endParaRPr lang="en-US" sz="1200" b="0">
                        <a:sym typeface="+mn-ea"/>
                      </a:endParaRPr>
                    </a:p>
                  </a:txBody>
                  <a:tcPr/>
                </a:tc>
              </a:tr>
              <a:tr h="478790">
                <a:tc>
                  <a:txBody>
                    <a:bodyPr/>
                    <a:p>
                      <a:pPr>
                        <a:lnSpc>
                          <a:spcPct val="70000"/>
                        </a:lnSpc>
                        <a:buNone/>
                      </a:pPr>
                      <a:r>
                        <a:rPr lang="en-US" sz="1200" b="0"/>
                        <a:t>8</a:t>
                      </a:r>
                      <a:endParaRPr lang="en-US" sz="1200" b="0"/>
                    </a:p>
                  </a:txBody>
                  <a:tcPr/>
                </a:tc>
                <a:tc>
                  <a:txBody>
                    <a:bodyPr/>
                    <a:p>
                      <a:pPr>
                        <a:lnSpc>
                          <a:spcPct val="70000"/>
                        </a:lnSpc>
                        <a:buNone/>
                      </a:pPr>
                      <a:r>
                        <a:rPr lang="en-US" sz="1200" b="0">
                          <a:sym typeface="+mn-ea"/>
                        </a:rPr>
                        <a:t>Jaiswal &amp;</a:t>
                      </a:r>
                      <a:endParaRPr lang="en-US" sz="1200" b="0"/>
                    </a:p>
                    <a:p>
                      <a:pPr>
                        <a:lnSpc>
                          <a:spcPct val="70000"/>
                        </a:lnSpc>
                        <a:buNone/>
                      </a:pPr>
                      <a:r>
                        <a:rPr lang="en-US" sz="1200" b="0">
                          <a:sym typeface="+mn-ea"/>
                        </a:rPr>
                        <a:t>Valstar</a:t>
                      </a:r>
                      <a:endParaRPr lang="en-US" sz="1200" b="0"/>
                    </a:p>
                    <a:p>
                      <a:pPr>
                        <a:lnSpc>
                          <a:spcPct val="70000"/>
                        </a:lnSpc>
                        <a:buNone/>
                      </a:pPr>
                      <a:r>
                        <a:rPr lang="en-US" sz="1200" b="0">
                          <a:sym typeface="+mn-ea"/>
                        </a:rPr>
                        <a:t>(2016)</a:t>
                      </a:r>
                      <a:endParaRPr lang="en-US" sz="1200" b="0"/>
                    </a:p>
                  </a:txBody>
                  <a:tcPr/>
                </a:tc>
                <a:tc>
                  <a:txBody>
                    <a:bodyPr/>
                    <a:p>
                      <a:pPr>
                        <a:lnSpc>
                          <a:spcPct val="70000"/>
                        </a:lnSpc>
                        <a:buNone/>
                      </a:pPr>
                      <a:r>
                        <a:rPr lang="en-US" sz="1200" b="0">
                          <a:sym typeface="+mn-ea"/>
                        </a:rPr>
                        <a:t>Recognizing action units and</a:t>
                      </a:r>
                      <a:endParaRPr lang="en-US" sz="1200" b="0"/>
                    </a:p>
                    <a:p>
                      <a:pPr>
                        <a:lnSpc>
                          <a:spcPct val="70000"/>
                        </a:lnSpc>
                        <a:buNone/>
                      </a:pPr>
                      <a:r>
                        <a:rPr lang="en-US" sz="1200" b="0">
                          <a:sym typeface="+mn-ea"/>
                        </a:rPr>
                        <a:t>emotions from limited training</a:t>
                      </a:r>
                      <a:endParaRPr lang="en-US" sz="1200" b="0"/>
                    </a:p>
                    <a:p>
                      <a:pPr>
                        <a:lnSpc>
                          <a:spcPct val="70000"/>
                        </a:lnSpc>
                        <a:buNone/>
                      </a:pPr>
                      <a:r>
                        <a:rPr lang="en-US" sz="1200" b="0">
                          <a:sym typeface="+mn-ea"/>
                        </a:rPr>
                        <a:t>data.</a:t>
                      </a:r>
                      <a:endParaRPr lang="en-US" sz="1200" b="0"/>
                    </a:p>
                  </a:txBody>
                  <a:tcPr/>
                </a:tc>
                <a:tc>
                  <a:txBody>
                    <a:bodyPr/>
                    <a:p>
                      <a:pPr>
                        <a:lnSpc>
                          <a:spcPct val="70000"/>
                        </a:lnSpc>
                        <a:buNone/>
                      </a:pPr>
                      <a:r>
                        <a:rPr lang="en-US" sz="1200" b="0">
                          <a:sym typeface="+mn-ea"/>
                        </a:rPr>
                        <a:t>Used Bi-directional LSTM neural</a:t>
                      </a:r>
                      <a:endParaRPr lang="en-US" sz="1200" b="0"/>
                    </a:p>
                    <a:p>
                      <a:pPr>
                        <a:lnSpc>
                          <a:spcPct val="70000"/>
                        </a:lnSpc>
                        <a:buNone/>
                      </a:pPr>
                      <a:r>
                        <a:rPr lang="en-US" sz="1200" b="0">
                          <a:sym typeface="+mn-ea"/>
                        </a:rPr>
                        <a:t>networks with 3D CNN features.</a:t>
                      </a:r>
                      <a:endParaRPr lang="en-US" sz="1200" b="0"/>
                    </a:p>
                  </a:txBody>
                  <a:tcPr/>
                </a:tc>
                <a:tc>
                  <a:txBody>
                    <a:bodyPr/>
                    <a:p>
                      <a:pPr>
                        <a:lnSpc>
                          <a:spcPct val="70000"/>
                        </a:lnSpc>
                        <a:buNone/>
                      </a:pPr>
                      <a:r>
                        <a:rPr lang="en-US" sz="1200" b="0">
                          <a:sym typeface="+mn-ea"/>
                        </a:rPr>
                        <a:t>BP4D, DISFA, and SEMAINE datasets. Obtained 62%</a:t>
                      </a:r>
                      <a:endParaRPr lang="en-US" sz="1200" b="0"/>
                    </a:p>
                    <a:p>
                      <a:pPr>
                        <a:lnSpc>
                          <a:spcPct val="70000"/>
                        </a:lnSpc>
                        <a:buNone/>
                      </a:pPr>
                      <a:r>
                        <a:rPr lang="en-US" sz="1200" b="0">
                          <a:sym typeface="+mn-ea"/>
                        </a:rPr>
                        <a:t>average F1 score.</a:t>
                      </a:r>
                      <a:endParaRPr lang="en-US" sz="1200" b="0"/>
                    </a:p>
                  </a:txBody>
                  <a:tcPr/>
                </a:tc>
                <a:tc>
                  <a:txBody>
                    <a:bodyPr/>
                    <a:p>
                      <a:pPr>
                        <a:lnSpc>
                          <a:spcPct val="70000"/>
                        </a:lnSpc>
                        <a:buNone/>
                      </a:pPr>
                      <a:r>
                        <a:rPr lang="en-US" sz="1200" b="0">
                          <a:sym typeface="+mn-ea"/>
                        </a:rPr>
                        <a:t>Did not focus on detecting</a:t>
                      </a:r>
                      <a:endParaRPr lang="en-US" sz="1200" b="0"/>
                    </a:p>
                    <a:p>
                      <a:pPr>
                        <a:lnSpc>
                          <a:spcPct val="70000"/>
                        </a:lnSpc>
                        <a:buNone/>
                      </a:pPr>
                      <a:r>
                        <a:rPr lang="en-US" sz="1200" b="0">
                          <a:sym typeface="+mn-ea"/>
                        </a:rPr>
                        <a:t>specific emotions.</a:t>
                      </a:r>
                      <a:endParaRPr lang="en-US" sz="1200" b="0"/>
                    </a:p>
                  </a:txBody>
                  <a:tcPr/>
                </a:tc>
              </a:tr>
              <a:tr h="461645">
                <a:tc>
                  <a:txBody>
                    <a:bodyPr/>
                    <a:p>
                      <a:pPr>
                        <a:lnSpc>
                          <a:spcPct val="70000"/>
                        </a:lnSpc>
                        <a:buNone/>
                      </a:pPr>
                      <a:r>
                        <a:rPr lang="en-US" sz="1200" b="0"/>
                        <a:t>9</a:t>
                      </a:r>
                      <a:endParaRPr lang="en-US" sz="1200" b="0"/>
                    </a:p>
                  </a:txBody>
                  <a:tcPr/>
                </a:tc>
                <a:tc>
                  <a:txBody>
                    <a:bodyPr/>
                    <a:p>
                      <a:pPr>
                        <a:lnSpc>
                          <a:spcPct val="70000"/>
                        </a:lnSpc>
                        <a:buNone/>
                      </a:pPr>
                      <a:r>
                        <a:rPr lang="en-US" sz="1200" b="0">
                          <a:sym typeface="+mn-ea"/>
                        </a:rPr>
                        <a:t>Jung et al.</a:t>
                      </a:r>
                      <a:endParaRPr lang="en-US" sz="1200" b="0"/>
                    </a:p>
                    <a:p>
                      <a:pPr>
                        <a:lnSpc>
                          <a:spcPct val="70000"/>
                        </a:lnSpc>
                        <a:buNone/>
                      </a:pPr>
                      <a:r>
                        <a:rPr lang="en-US" sz="1200" b="0">
                          <a:sym typeface="+mn-ea"/>
                        </a:rPr>
                        <a:t>(2014)</a:t>
                      </a:r>
                      <a:endParaRPr lang="en-US" sz="1200" b="0"/>
                    </a:p>
                  </a:txBody>
                  <a:tcPr/>
                </a:tc>
                <a:tc>
                  <a:txBody>
                    <a:bodyPr/>
                    <a:p>
                      <a:pPr>
                        <a:lnSpc>
                          <a:spcPct val="70000"/>
                        </a:lnSpc>
                        <a:buNone/>
                      </a:pPr>
                      <a:r>
                        <a:rPr lang="en-US" sz="1200" b="0">
                          <a:sym typeface="+mn-ea"/>
                        </a:rPr>
                        <a:t>Difficulty in detecting emotions</a:t>
                      </a:r>
                      <a:endParaRPr lang="en-US" sz="1200" b="0"/>
                    </a:p>
                    <a:p>
                      <a:pPr>
                        <a:lnSpc>
                          <a:spcPct val="70000"/>
                        </a:lnSpc>
                        <a:buNone/>
                      </a:pPr>
                      <a:r>
                        <a:rPr lang="en-US" sz="1200" b="0">
                          <a:sym typeface="+mn-ea"/>
                        </a:rPr>
                        <a:t>from low-resolution facial</a:t>
                      </a:r>
                      <a:endParaRPr lang="en-US" sz="1200" b="0"/>
                    </a:p>
                    <a:p>
                      <a:pPr>
                        <a:lnSpc>
                          <a:spcPct val="70000"/>
                        </a:lnSpc>
                        <a:buNone/>
                      </a:pPr>
                      <a:r>
                        <a:rPr lang="en-US" sz="1200" b="0">
                          <a:sym typeface="+mn-ea"/>
                        </a:rPr>
                        <a:t>images.</a:t>
                      </a:r>
                      <a:endParaRPr lang="en-US" sz="1200" b="0"/>
                    </a:p>
                  </a:txBody>
                  <a:tcPr/>
                </a:tc>
                <a:tc>
                  <a:txBody>
                    <a:bodyPr/>
                    <a:p>
                      <a:pPr>
                        <a:lnSpc>
                          <a:spcPct val="70000"/>
                        </a:lnSpc>
                        <a:buNone/>
                      </a:pPr>
                      <a:r>
                        <a:rPr lang="en-US" sz="1200" b="0">
                          <a:sym typeface="+mn-ea"/>
                        </a:rPr>
                        <a:t>Used deep network combining</a:t>
                      </a:r>
                      <a:endParaRPr lang="en-US" sz="1200" b="0"/>
                    </a:p>
                    <a:p>
                      <a:pPr>
                        <a:lnSpc>
                          <a:spcPct val="70000"/>
                        </a:lnSpc>
                        <a:buNone/>
                      </a:pPr>
                      <a:r>
                        <a:rPr lang="en-US" sz="1200" b="0">
                          <a:sym typeface="+mn-ea"/>
                        </a:rPr>
                        <a:t>CNN and RNN with boosting.</a:t>
                      </a:r>
                      <a:endParaRPr lang="en-US" sz="1200" b="0"/>
                    </a:p>
                  </a:txBody>
                  <a:tcPr/>
                </a:tc>
                <a:tc>
                  <a:txBody>
                    <a:bodyPr/>
                    <a:p>
                      <a:pPr>
                        <a:lnSpc>
                          <a:spcPct val="70000"/>
                        </a:lnSpc>
                        <a:buNone/>
                      </a:pPr>
                      <a:r>
                        <a:rPr lang="en-US" sz="1200" b="0">
                          <a:sym typeface="+mn-ea"/>
                        </a:rPr>
                        <a:t>Multi-PIE dataset. Achieved over 80% accuracy from low-</a:t>
                      </a:r>
                      <a:endParaRPr lang="en-US" sz="1200" b="0"/>
                    </a:p>
                    <a:p>
                      <a:pPr>
                        <a:lnSpc>
                          <a:spcPct val="70000"/>
                        </a:lnSpc>
                        <a:buNone/>
                      </a:pPr>
                      <a:r>
                        <a:rPr lang="en-US" sz="1200" b="0">
                          <a:sym typeface="+mn-ea"/>
                        </a:rPr>
                        <a:t>resolution images.</a:t>
                      </a:r>
                      <a:endParaRPr lang="en-US" sz="1200" b="0"/>
                    </a:p>
                  </a:txBody>
                  <a:tcPr/>
                </a:tc>
                <a:tc>
                  <a:txBody>
                    <a:bodyPr/>
                    <a:p>
                      <a:pPr>
                        <a:lnSpc>
                          <a:spcPct val="70000"/>
                        </a:lnSpc>
                        <a:buNone/>
                      </a:pPr>
                      <a:r>
                        <a:rPr lang="en-US" sz="1200" b="0">
                          <a:sym typeface="+mn-ea"/>
                        </a:rPr>
                        <a:t>Only evaluated on lab-</a:t>
                      </a:r>
                      <a:endParaRPr lang="en-US" sz="1200" b="0"/>
                    </a:p>
                    <a:p>
                      <a:pPr>
                        <a:lnSpc>
                          <a:spcPct val="70000"/>
                        </a:lnSpc>
                        <a:buNone/>
                      </a:pPr>
                      <a:r>
                        <a:rPr lang="en-US" sz="1200" b="0">
                          <a:sym typeface="+mn-ea"/>
                        </a:rPr>
                        <a:t>controlled dataset.</a:t>
                      </a:r>
                      <a:endParaRPr lang="en-US" sz="1200" b="0"/>
                    </a:p>
                  </a:txBody>
                  <a:tcPr/>
                </a:tc>
              </a:tr>
              <a:tr h="511810">
                <a:tc>
                  <a:txBody>
                    <a:bodyPr/>
                    <a:p>
                      <a:pPr>
                        <a:lnSpc>
                          <a:spcPct val="70000"/>
                        </a:lnSpc>
                        <a:buNone/>
                      </a:pPr>
                      <a:r>
                        <a:rPr lang="en-US" sz="1200" b="0"/>
                        <a:t>10</a:t>
                      </a:r>
                      <a:endParaRPr lang="en-US" sz="1200" b="0"/>
                    </a:p>
                  </a:txBody>
                  <a:tcPr/>
                </a:tc>
                <a:tc>
                  <a:txBody>
                    <a:bodyPr/>
                    <a:p>
                      <a:pPr>
                        <a:lnSpc>
                          <a:spcPct val="70000"/>
                        </a:lnSpc>
                        <a:buNone/>
                      </a:pPr>
                      <a:r>
                        <a:rPr lang="en-US" sz="1200" b="0">
                          <a:sym typeface="+mn-ea"/>
                        </a:rPr>
                        <a:t>Liu et al.</a:t>
                      </a:r>
                      <a:endParaRPr lang="en-US" sz="1200" b="0"/>
                    </a:p>
                    <a:p>
                      <a:pPr>
                        <a:lnSpc>
                          <a:spcPct val="70000"/>
                        </a:lnSpc>
                        <a:buNone/>
                      </a:pPr>
                      <a:r>
                        <a:rPr lang="en-US" sz="1200" b="0">
                          <a:sym typeface="+mn-ea"/>
                        </a:rPr>
                        <a:t>(2013)</a:t>
                      </a:r>
                      <a:endParaRPr lang="en-US" sz="1200" b="0"/>
                    </a:p>
                    <a:p>
                      <a:pPr>
                        <a:lnSpc>
                          <a:spcPct val="70000"/>
                        </a:lnSpc>
                        <a:buNone/>
                      </a:pPr>
                      <a:endParaRPr lang="en-US" sz="1200" b="0"/>
                    </a:p>
                  </a:txBody>
                  <a:tcPr/>
                </a:tc>
                <a:tc>
                  <a:txBody>
                    <a:bodyPr/>
                    <a:p>
                      <a:pPr>
                        <a:lnSpc>
                          <a:spcPct val="70000"/>
                        </a:lnSpc>
                        <a:buNone/>
                      </a:pPr>
                      <a:r>
                        <a:rPr lang="en-US" sz="1200" b="0">
                          <a:sym typeface="+mn-ea"/>
                        </a:rPr>
                        <a:t>Handling large variations in</a:t>
                      </a:r>
                      <a:endParaRPr lang="en-US" sz="1200" b="0"/>
                    </a:p>
                    <a:p>
                      <a:pPr>
                        <a:lnSpc>
                          <a:spcPct val="70000"/>
                        </a:lnSpc>
                        <a:buNone/>
                      </a:pPr>
                      <a:r>
                        <a:rPr lang="en-US" sz="1200" b="0">
                          <a:sym typeface="+mn-ea"/>
                        </a:rPr>
                        <a:t>facial expression intensity,</a:t>
                      </a:r>
                      <a:endParaRPr lang="en-US" sz="1200" b="0"/>
                    </a:p>
                    <a:p>
                      <a:pPr>
                        <a:lnSpc>
                          <a:spcPct val="70000"/>
                        </a:lnSpc>
                        <a:buNone/>
                      </a:pPr>
                      <a:r>
                        <a:rPr lang="en-US" sz="1200" b="0">
                          <a:sym typeface="+mn-ea"/>
                        </a:rPr>
                        <a:t>image conditions.</a:t>
                      </a:r>
                      <a:endParaRPr lang="en-US" sz="1200" b="0"/>
                    </a:p>
                  </a:txBody>
                  <a:tcPr/>
                </a:tc>
                <a:tc>
                  <a:txBody>
                    <a:bodyPr/>
                    <a:p>
                      <a:pPr>
                        <a:lnSpc>
                          <a:spcPct val="70000"/>
                        </a:lnSpc>
                        <a:buNone/>
                      </a:pPr>
                      <a:r>
                        <a:rPr lang="en-US" sz="1200" b="0">
                          <a:sym typeface="+mn-ea"/>
                        </a:rPr>
                        <a:t>Proposed 3D CNN combined</a:t>
                      </a:r>
                      <a:endParaRPr lang="en-US" sz="1200" b="0"/>
                    </a:p>
                    <a:p>
                      <a:pPr>
                        <a:lnSpc>
                          <a:spcPct val="70000"/>
                        </a:lnSpc>
                        <a:buNone/>
                      </a:pPr>
                      <a:r>
                        <a:rPr lang="en-US" sz="1200" b="0">
                          <a:sym typeface="+mn-ea"/>
                        </a:rPr>
                        <a:t>with deformable model fitting.</a:t>
                      </a:r>
                      <a:endParaRPr lang="en-US" sz="1200" b="0"/>
                    </a:p>
                  </a:txBody>
                  <a:tcPr/>
                </a:tc>
                <a:tc>
                  <a:txBody>
                    <a:bodyPr/>
                    <a:p>
                      <a:pPr>
                        <a:lnSpc>
                          <a:spcPct val="70000"/>
                        </a:lnSpc>
                        <a:buNone/>
                      </a:pPr>
                      <a:r>
                        <a:rPr lang="en-US" sz="1200" b="0">
                          <a:sym typeface="+mn-ea"/>
                        </a:rPr>
                        <a:t>BU-3DFE dataset. Obtained over 85% average accuracy.</a:t>
                      </a:r>
                      <a:endParaRPr lang="en-US" sz="1200" b="0">
                        <a:sym typeface="+mn-ea"/>
                      </a:endParaRPr>
                    </a:p>
                  </a:txBody>
                  <a:tcPr/>
                </a:tc>
                <a:tc>
                  <a:txBody>
                    <a:bodyPr/>
                    <a:p>
                      <a:pPr>
                        <a:lnSpc>
                          <a:spcPct val="70000"/>
                        </a:lnSpc>
                        <a:buNone/>
                      </a:pPr>
                      <a:r>
                        <a:rPr lang="en-US" sz="1200" b="0">
                          <a:sym typeface="+mn-ea"/>
                        </a:rPr>
                        <a:t>Computationally intensive 3D </a:t>
                      </a:r>
                      <a:r>
                        <a:rPr lang="en-US" sz="1200" b="0">
                          <a:sym typeface="+mn-ea"/>
                        </a:rPr>
                        <a:t>modeling</a:t>
                      </a:r>
                      <a:endParaRPr lang="en-US" sz="1200" b="0">
                        <a:sym typeface="+mn-ea"/>
                      </a:endParaRPr>
                    </a:p>
                  </a:txBody>
                  <a:tcPr/>
                </a:tc>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609600" y="0"/>
            <a:ext cx="10972800" cy="425450"/>
          </a:xfrm>
        </p:spPr>
        <p:txBody>
          <a:bodyPr/>
          <a:p>
            <a:r>
              <a:rPr lang="en-US" sz="2400"/>
              <a:t>LITERATURE REVIEW: CLOSELY RELATED WORKS</a:t>
            </a:r>
            <a:endParaRPr lang="en-US" sz="2400"/>
          </a:p>
        </p:txBody>
      </p:sp>
      <p:sp>
        <p:nvSpPr>
          <p:cNvPr id="3" name="Content Placeholder 2"/>
          <p:cNvSpPr>
            <a:spLocks noGrp="1"/>
          </p:cNvSpPr>
          <p:nvPr>
            <p:ph idx="1"/>
          </p:nvPr>
        </p:nvSpPr>
        <p:spPr>
          <a:xfrm>
            <a:off x="-635" y="535940"/>
            <a:ext cx="12192635" cy="6322060"/>
          </a:xfrm>
        </p:spPr>
        <p:txBody>
          <a:bodyPr/>
          <a:p>
            <a:pPr marL="0" indent="0">
              <a:buNone/>
            </a:pPr>
            <a:r>
              <a:rPr lang="en-US" sz="1400"/>
              <a:t>The field of Facial Emotion Recognition and Detection (FERD) has witnessed significant advancements in recent years. This literature review provides an overview of notable contributions in this domain, highlighting methodologies, achievements, and limitations.</a:t>
            </a:r>
            <a:endParaRPr lang="en-US" sz="1400"/>
          </a:p>
          <a:p>
            <a:pPr marL="0" indent="0">
              <a:buNone/>
            </a:pPr>
            <a:endParaRPr lang="en-US" sz="1400"/>
          </a:p>
          <a:p>
            <a:r>
              <a:rPr lang="en-US" sz="1400"/>
              <a:t>Ghimire et al. (2020) introduced an Ensemble Deep Neural Network (EDNN), combining Convolutional Neural Networks (CNNs), Deep Belief Networks (DBNs), and Deep Neural Networks (DNNs) to enhance generalization across datasets. Their approach achieved an accuracy of 84.3% on the FER-2013 dataset. However, it is important to note that this method did not consider temporal video information.</a:t>
            </a:r>
            <a:endParaRPr lang="en-US" sz="1400"/>
          </a:p>
          <a:p>
            <a:endParaRPr lang="en-US" sz="1400"/>
          </a:p>
          <a:p>
            <a:r>
              <a:rPr lang="en-US" sz="1400"/>
              <a:t>Zeng et al. (2018) introduced an LSTM and visual attention model to recognize context-dependent emotions by exploiting contextual information. Their approach achieved an accuracy of 55.17% on the HAPPEI dataset. However, it was primarily evaluated on posed expressions in lab settings.</a:t>
            </a:r>
            <a:endParaRPr lang="en-US" sz="1400"/>
          </a:p>
          <a:p>
            <a:endParaRPr lang="en-US" sz="1400"/>
          </a:p>
          <a:p>
            <a:r>
              <a:rPr lang="en-US" sz="1400"/>
              <a:t>Kim et al. (2017) adopted a CNN with deformable action parts constraints for fine-grained micro-expression recognition. Their model yielded an average accuracy of 71.2% for micro-expressions on the SMIC dataset. Nevertheless, this approach did not address real-world conditions like illumination and occlusion.</a:t>
            </a:r>
            <a:endParaRPr lang="en-US" sz="1400"/>
          </a:p>
          <a:p>
            <a:endParaRPr lang="en-US" sz="1400"/>
          </a:p>
          <a:p>
            <a:r>
              <a:rPr lang="en-US" sz="1400"/>
              <a:t>Khorrami et al. (2016) developed a deep neural network that leverages CNN features and a multilayer Recurrent Neural Network (RNN) model to address challenges in real-world facial expression recognition. They reported an average accuracy of 66.4% on acted and spontaneous datasets. However, this approach was primarily tested on frontal faces.</a:t>
            </a:r>
            <a:endParaRPr lang="en-US" sz="1400"/>
          </a:p>
          <a:p>
            <a:endParaRPr lang="en-US" sz="1400"/>
          </a:p>
          <a:p>
            <a:r>
              <a:rPr lang="en-US" sz="1400"/>
              <a:t>Jaiswal &amp; Valstar (2016) utilized Bi-directional LSTM networks with 3D CNN features to recognize action units and emotions, especially from limited training data. Their approach attained an average F1 score of 62% on the BP4D, DISFA, and SEMAINE datasets. Nevertheless, it did not primarily focus on detecting specific emotions.</a:t>
            </a:r>
            <a:endParaRPr lang="en-US" sz="1400"/>
          </a:p>
          <a:p>
            <a:endParaRPr lang="en-US" sz="1400"/>
          </a:p>
          <a:p>
            <a:r>
              <a:rPr lang="en-US" sz="1400"/>
              <a:t>Jung et al. (2015) employed a combination of CNN and Long Short-Term Memory (LSTM) networks to recognize subtle facial movements and micro-expressions. Their model, evaluated on the CK+ dataset, achieved an accuracy of 85.67%. A limitation of this work is its focus on peak emotions, neglecting transitions between expressions.</a:t>
            </a:r>
            <a:endParaRPr lang="en-US" sz="1400"/>
          </a:p>
        </p:txBody>
      </p:sp>
      <p:sp>
        <p:nvSpPr>
          <p:cNvPr id="4" name="Slide Number Placeholder 3"/>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609600" y="455295"/>
            <a:ext cx="10972800" cy="635000"/>
          </a:xfrm>
        </p:spPr>
        <p:txBody>
          <a:bodyPr/>
          <a:p>
            <a:r>
              <a:rPr lang="en-US" sz="2400"/>
              <a:t>LITERATURE REVIEW</a:t>
            </a:r>
            <a:br>
              <a:rPr lang="en-US" sz="2400"/>
            </a:br>
            <a:r>
              <a:rPr lang="en-US" sz="2400"/>
              <a:t>CLOSELY RELATED WORKS</a:t>
            </a:r>
            <a:endParaRPr lang="en-US" sz="2400"/>
          </a:p>
        </p:txBody>
      </p:sp>
      <p:sp>
        <p:nvSpPr>
          <p:cNvPr id="3" name="Content Placeholder 2"/>
          <p:cNvSpPr>
            <a:spLocks noGrp="1"/>
          </p:cNvSpPr>
          <p:nvPr>
            <p:ph idx="1"/>
          </p:nvPr>
        </p:nvSpPr>
        <p:spPr>
          <a:xfrm>
            <a:off x="0" y="1675130"/>
            <a:ext cx="12192000" cy="5059680"/>
          </a:xfrm>
        </p:spPr>
        <p:txBody>
          <a:bodyPr/>
          <a:p>
            <a:r>
              <a:rPr lang="en-US" sz="1400"/>
              <a:t>Liu et al. (2014) proposed a Boosted Deep Belief Network utilizing facial landmarks for discriminative facial patch extraction and feature learning. Impressively, their method achieved over 90% accuracy on the CK+, MMI, and FERG datasets. However, a drawback lies in the computationally expensive feature extraction process.</a:t>
            </a:r>
            <a:endParaRPr lang="en-US" sz="1400"/>
          </a:p>
          <a:p>
            <a:endParaRPr lang="en-US" sz="1400"/>
          </a:p>
          <a:p>
            <a:r>
              <a:rPr lang="en-US" sz="1400"/>
              <a:t>Jung et al. (2014) proposed a deep network combining CNN and RNN with boosting to detect emotions from low-resolution facial images. Impressively, they achieved over 80% accuracy on low-resolution images in the Multi-PIE dataset. However, the evaluation was confined to a lab-controlled dataset.</a:t>
            </a:r>
            <a:endParaRPr lang="en-US" sz="1400"/>
          </a:p>
          <a:p>
            <a:endParaRPr lang="en-US" sz="1400"/>
          </a:p>
          <a:p>
            <a:r>
              <a:rPr lang="en-US" sz="1400"/>
              <a:t>Liu et al. (2013) introduced a 3D CNN combined with deformable model fitting to address variations in facial expression intensity and image conditions. Their method achieved an average accuracy of over 85% on the BU-3DFE dataset. However, it involved computationally intensive 3D modeling.</a:t>
            </a:r>
            <a:endParaRPr lang="en-US" sz="1400"/>
          </a:p>
          <a:p>
            <a:endParaRPr lang="en-US" sz="1400"/>
          </a:p>
          <a:p>
            <a:endParaRPr lang="en-US" sz="1400"/>
          </a:p>
          <a:p>
            <a:pPr marL="0" indent="0">
              <a:buNone/>
            </a:pPr>
            <a:r>
              <a:rPr lang="en-US" sz="1400"/>
              <a:t>This literature review provides a comprehensive understanding of the methodologies and achievements in the field of FERD while acknowledging the limitations of each approach. It underscores the evolving nature of FERD and the need for innovative solutions to address real-world challenges.</a:t>
            </a:r>
            <a:endParaRPr lang="en-US" sz="1400"/>
          </a:p>
        </p:txBody>
      </p:sp>
      <p:sp>
        <p:nvSpPr>
          <p:cNvPr id="4" name="Slide Number Placeholder 3"/>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609600" y="0"/>
            <a:ext cx="10972800" cy="413385"/>
          </a:xfrm>
        </p:spPr>
        <p:txBody>
          <a:bodyPr/>
          <a:p>
            <a:r>
              <a:rPr lang="en-US" sz="2800"/>
              <a:t>PROBLEM STATEMENT</a:t>
            </a:r>
            <a:endParaRPr lang="en-US" sz="2800"/>
          </a:p>
        </p:txBody>
      </p:sp>
      <p:sp>
        <p:nvSpPr>
          <p:cNvPr id="3" name="Content Placeholder 2"/>
          <p:cNvSpPr>
            <a:spLocks noGrp="1"/>
          </p:cNvSpPr>
          <p:nvPr>
            <p:ph idx="1"/>
          </p:nvPr>
        </p:nvSpPr>
        <p:spPr>
          <a:xfrm>
            <a:off x="-635" y="561975"/>
            <a:ext cx="12090400" cy="6238875"/>
          </a:xfrm>
        </p:spPr>
        <p:txBody>
          <a:bodyPr/>
          <a:p>
            <a:pPr marL="0" indent="0">
              <a:buNone/>
            </a:pPr>
            <a:r>
              <a:rPr lang="en-US" sz="1400"/>
              <a:t>Facial emotion recognition and detection play a pivotal role in human-computer interaction, healthcare, and numerous other domains. The use of Artificial Intelligence (AI) techniques, particularly Deep Learning models, has shown significant promise in enhancing the accuracy and robustness of these systems. However, despite notable advancements in recent research, several critical challenges remain unaddressed.</a:t>
            </a:r>
            <a:endParaRPr lang="en-US" sz="1400"/>
          </a:p>
          <a:p>
            <a:pPr marL="0" indent="0">
              <a:buNone/>
            </a:pPr>
            <a:endParaRPr lang="en-US" sz="1400"/>
          </a:p>
          <a:p>
            <a:pPr marL="0" indent="0">
              <a:buNone/>
            </a:pPr>
            <a:endParaRPr lang="en-US" sz="1400"/>
          </a:p>
          <a:p>
            <a:pPr marL="0" indent="0">
              <a:buNone/>
            </a:pPr>
            <a:r>
              <a:rPr lang="en-US" sz="1400"/>
              <a:t>Existing AI-based solutions for facial emotion recognition and detection exhibit limitations in their ability to:</a:t>
            </a:r>
            <a:endParaRPr lang="en-US" sz="1400"/>
          </a:p>
          <a:p>
            <a:pPr marL="0" indent="0">
              <a:buNone/>
            </a:pPr>
            <a:endParaRPr lang="en-US" sz="1400"/>
          </a:p>
          <a:p>
            <a:r>
              <a:rPr lang="en-US" sz="1400"/>
              <a:t>Generalize Across Diverse Datasets: Many AI models excel when evaluated on specific datasets but struggle to generalize effectively across diverse datasets. This raises questions about their real-world applicability and adaptability.</a:t>
            </a:r>
            <a:endParaRPr lang="en-US" sz="1400"/>
          </a:p>
          <a:p>
            <a:endParaRPr lang="en-US" sz="1400"/>
          </a:p>
          <a:p>
            <a:r>
              <a:rPr lang="en-US" sz="1400"/>
              <a:t>Capture Temporal Dynamics: Human emotions often manifest as temporal sequences, making it crucial to capture not only static facial features but also dynamic changes over time. Current AI models tend to overlook this temporal aspect.</a:t>
            </a:r>
            <a:endParaRPr lang="en-US" sz="1400"/>
          </a:p>
          <a:p>
            <a:endParaRPr lang="en-US" sz="1400"/>
          </a:p>
          <a:p>
            <a:r>
              <a:rPr lang="en-US" sz="1400"/>
              <a:t>Detect Subtle and Transitional Emotions: Most AI systems focus on recognizing prominent or peak emotions but struggle to identify subtle or transitional emotional states, which are often critical in understanding human behavior.</a:t>
            </a:r>
            <a:endParaRPr lang="en-US" sz="1400"/>
          </a:p>
          <a:p>
            <a:endParaRPr lang="en-US" sz="1400"/>
          </a:p>
          <a:p>
            <a:r>
              <a:rPr lang="en-US" sz="1400"/>
              <a:t>Handle Real-World Challenges: Real-world scenarios involve variations in lighting, occlusion, and pose, which current AI models struggle to accommodate. Robustness to these challenges is essential for practical applications.</a:t>
            </a:r>
            <a:endParaRPr lang="en-US" sz="1400"/>
          </a:p>
          <a:p>
            <a:endParaRPr lang="en-US" sz="1400"/>
          </a:p>
          <a:p>
            <a:r>
              <a:rPr lang="en-US" sz="1400"/>
              <a:t>Exploit Contextual Information: Emotion recognition can greatly benefit from considering contextual information, such as situational cues and social context. However, few AI models effectively leverage this information.</a:t>
            </a:r>
            <a:endParaRPr lang="en-US" sz="1400"/>
          </a:p>
        </p:txBody>
      </p:sp>
      <p:sp>
        <p:nvSpPr>
          <p:cNvPr id="4" name="Slide Number Placeholder 3"/>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609600" y="46355"/>
            <a:ext cx="10972800" cy="462915"/>
          </a:xfrm>
        </p:spPr>
        <p:txBody>
          <a:bodyPr/>
          <a:p>
            <a:r>
              <a:rPr lang="en-US" sz="2400"/>
              <a:t>AIMS AND OBJECTIVES</a:t>
            </a:r>
            <a:endParaRPr lang="en-US" sz="2400"/>
          </a:p>
        </p:txBody>
      </p:sp>
      <p:sp>
        <p:nvSpPr>
          <p:cNvPr id="3" name="Content Placeholder 2"/>
          <p:cNvSpPr>
            <a:spLocks noGrp="1"/>
          </p:cNvSpPr>
          <p:nvPr>
            <p:ph idx="1"/>
          </p:nvPr>
        </p:nvSpPr>
        <p:spPr>
          <a:xfrm>
            <a:off x="124460" y="622935"/>
            <a:ext cx="11921490" cy="6092190"/>
          </a:xfrm>
        </p:spPr>
        <p:txBody>
          <a:bodyPr/>
          <a:p>
            <a:pPr marL="0" indent="0">
              <a:buNone/>
            </a:pPr>
            <a:r>
              <a:rPr lang="en-US" sz="1600"/>
              <a:t>GOALS:</a:t>
            </a:r>
            <a:endParaRPr lang="en-US" sz="1600"/>
          </a:p>
          <a:p>
            <a:pPr marL="0" indent="0">
              <a:buNone/>
            </a:pPr>
            <a:endParaRPr lang="en-US" sz="1600"/>
          </a:p>
          <a:p>
            <a:r>
              <a:rPr lang="en-US" sz="1600"/>
              <a:t>Enhancing Generalization Across Datasets: The primary aim of this research project is to develop a robust Convolutional Neural Network (CNN) model capable of achieving high accuracy in facial emotion recognition and detection while demonstrating improved generalization across diverse datasets. This will ensure that the model can effectively adapt to various real-world scenarios and domains.</a:t>
            </a:r>
            <a:endParaRPr lang="en-US" sz="1600"/>
          </a:p>
          <a:p>
            <a:endParaRPr lang="en-US" sz="1600"/>
          </a:p>
          <a:p>
            <a:r>
              <a:rPr lang="en-US" sz="1600"/>
              <a:t>Detecting Subtle and Transitional Emotions: This research seeks to address the limitation of existing models by focusing on the recognition of subtle and transitional emotions, in addition to peak emotions. By training the model on a comprehensive dataset that includes a wide range of emotional states, we aim to improve its capacity to identify nuanced and transient emotional expressions.</a:t>
            </a:r>
            <a:endParaRPr lang="en-US" sz="1600"/>
          </a:p>
          <a:p>
            <a:endParaRPr lang="en-US" sz="1600"/>
          </a:p>
          <a:p>
            <a:r>
              <a:rPr lang="en-US" sz="1600"/>
              <a:t>Robustness to Real-World Challenges: Our project aims to equip the CNN model with the capability to handle real-world challenges commonly encountered in healthcare, security, market survey, and other applications. This involves designing the model to be robust against variations in lighting, occlusion, and pose, thus ensuring its practical utility.</a:t>
            </a:r>
            <a:endParaRPr lang="en-US" sz="1600"/>
          </a:p>
          <a:p>
            <a:endParaRPr lang="en-US" sz="1600"/>
          </a:p>
          <a:p>
            <a:r>
              <a:rPr lang="en-US" sz="1600"/>
              <a:t>Usability for Diverse Applications: Beyond improving the model's technical capabilities, this research aims to create a user-friendly and easily deployable system. The objective is to provide an accessible interface for healthcare professionals, security experts, market analysts, and other potential users to employ the facial emotion recognition and detection system efficiently in their respective domains.</a:t>
            </a:r>
            <a:endParaRPr lang="en-US" sz="1600"/>
          </a:p>
          <a:p>
            <a:endParaRPr lang="en-US" sz="1400"/>
          </a:p>
          <a:p>
            <a:pPr marL="0" indent="0">
              <a:buNone/>
            </a:pPr>
            <a:endParaRPr lang="en-US" sz="1400"/>
          </a:p>
        </p:txBody>
      </p:sp>
      <p:sp>
        <p:nvSpPr>
          <p:cNvPr id="4" name="Slide Number Placeholder 3"/>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609600" y="46355"/>
            <a:ext cx="10972800" cy="462915"/>
          </a:xfrm>
        </p:spPr>
        <p:txBody>
          <a:bodyPr/>
          <a:p>
            <a:r>
              <a:rPr lang="en-US" sz="2400"/>
              <a:t>AIMS AND OBJECTIVES</a:t>
            </a:r>
            <a:endParaRPr lang="en-US" sz="2400"/>
          </a:p>
        </p:txBody>
      </p:sp>
      <p:sp>
        <p:nvSpPr>
          <p:cNvPr id="3" name="Content Placeholder 2"/>
          <p:cNvSpPr>
            <a:spLocks noGrp="1"/>
          </p:cNvSpPr>
          <p:nvPr>
            <p:ph idx="1"/>
          </p:nvPr>
        </p:nvSpPr>
        <p:spPr>
          <a:xfrm>
            <a:off x="38100" y="508635"/>
            <a:ext cx="12094210" cy="6299200"/>
          </a:xfrm>
        </p:spPr>
        <p:txBody>
          <a:bodyPr/>
          <a:p>
            <a:endParaRPr lang="en-US" sz="1800"/>
          </a:p>
          <a:p>
            <a:pPr marL="0" indent="0">
              <a:buNone/>
            </a:pPr>
            <a:r>
              <a:rPr lang="en-US" sz="1800"/>
              <a:t>SPECIFIC OBJECTIVES</a:t>
            </a:r>
            <a:endParaRPr lang="en-US" sz="1800"/>
          </a:p>
          <a:p>
            <a:pPr marL="0" indent="0">
              <a:buNone/>
            </a:pPr>
            <a:endParaRPr lang="en-US" sz="1800"/>
          </a:p>
          <a:p>
            <a:r>
              <a:rPr lang="en-US" sz="1800"/>
              <a:t>Dataset Collection and Preprocessing: Gather diverse facial expression datasets, preprocess the data, and curate a comprehensive dataset for training and testing the CNN model.</a:t>
            </a:r>
            <a:endParaRPr lang="en-US" sz="1800"/>
          </a:p>
          <a:p>
            <a:endParaRPr lang="en-US" sz="1800"/>
          </a:p>
          <a:p>
            <a:r>
              <a:rPr lang="en-US" sz="1800"/>
              <a:t>Model Architecture Development: Design a CNN architecture that can effectively capture spatial and temporal features in facial expressions.</a:t>
            </a:r>
            <a:endParaRPr lang="en-US" sz="1800"/>
          </a:p>
          <a:p>
            <a:endParaRPr lang="en-US" sz="1800"/>
          </a:p>
          <a:p>
            <a:r>
              <a:rPr lang="en-US" sz="1800"/>
              <a:t>Training and Validation: Train the model on the curated dataset and perform rigorous validation to achieve high accuracy and generalization.</a:t>
            </a:r>
            <a:endParaRPr lang="en-US" sz="1800"/>
          </a:p>
          <a:p>
            <a:endParaRPr lang="en-US" sz="1800"/>
          </a:p>
          <a:p>
            <a:r>
              <a:rPr lang="en-US" sz="1800"/>
              <a:t>Real-World Robustness: Implement techniques for handling real-world challenges, including lighting variations, occlusion, and pose changes, to ensure the model's robustness.</a:t>
            </a:r>
            <a:endParaRPr lang="en-US" sz="1800"/>
          </a:p>
          <a:p>
            <a:endParaRPr lang="en-US" sz="1800"/>
          </a:p>
          <a:p>
            <a:r>
              <a:rPr lang="en-US" sz="1800"/>
              <a:t>Contextual Integration: Develop mechanisms for integrating contextual information into the model, making it capable of recognizing emotions in context-dependent scenarios.</a:t>
            </a:r>
            <a:endParaRPr lang="en-US" sz="1800"/>
          </a:p>
          <a:p>
            <a:endParaRPr lang="en-US" sz="1800"/>
          </a:p>
          <a:p>
            <a:r>
              <a:rPr lang="en-US" sz="1800"/>
              <a:t>Deployment and Evaluation: Deploy the trained model for real-world use cases and evaluate its performance across various applications.</a:t>
            </a:r>
            <a:endParaRPr lang="en-US" sz="1800"/>
          </a:p>
          <a:p>
            <a:endParaRPr lang="en-US" sz="1800"/>
          </a:p>
        </p:txBody>
      </p:sp>
      <p:sp>
        <p:nvSpPr>
          <p:cNvPr id="4" name="Slide Number Placeholder 3"/>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idx="1"/>
          </p:nvPr>
        </p:nvSpPr>
        <p:spPr>
          <a:xfrm>
            <a:off x="635" y="575945"/>
            <a:ext cx="9761855" cy="6230620"/>
          </a:xfrm>
        </p:spPr>
        <p:txBody>
          <a:bodyPr/>
          <a:p>
            <a:pPr marL="0" indent="0">
              <a:buNone/>
            </a:pPr>
            <a:r>
              <a:rPr lang="en-US" sz="1400"/>
              <a:t>In the pursuit of advancing Facial Emotion Recognition and Detection using Artificial Intelligence, this methodology outlines a systematic approach to harness the power of TensorFlow 2.0 and Keras. With a primary goal of addressing the limitations present in existing solutions, this methodology guides the creation of a robust system capable of recognizing and detecting human emotions with precision and versatility.</a:t>
            </a:r>
            <a:endParaRPr lang="en-US" sz="1400"/>
          </a:p>
          <a:p>
            <a:pPr marL="0" indent="0">
              <a:buNone/>
            </a:pPr>
            <a:endParaRPr lang="en-US" sz="1400"/>
          </a:p>
          <a:p>
            <a:pPr marL="0" indent="0">
              <a:buNone/>
            </a:pPr>
            <a:r>
              <a:rPr lang="en-US" sz="1400"/>
              <a:t>1. Data Collection and Preprocessing:</a:t>
            </a:r>
            <a:endParaRPr lang="en-US" sz="1400"/>
          </a:p>
          <a:p>
            <a:pPr marL="0" indent="0">
              <a:buNone/>
            </a:pPr>
            <a:endParaRPr lang="en-US" sz="1400"/>
          </a:p>
          <a:p>
            <a:pPr marL="0" indent="0">
              <a:buNone/>
            </a:pPr>
            <a:r>
              <a:rPr lang="en-US" sz="1400"/>
              <a:t>a. Dataset Selection: Utilize two widely recognized facial expression datasets, FER2013 and AffectNet, to create a comprehensive dataset for training and testing.</a:t>
            </a:r>
            <a:endParaRPr lang="en-US" sz="1400"/>
          </a:p>
          <a:p>
            <a:pPr marL="0" indent="0">
              <a:buNone/>
            </a:pPr>
            <a:endParaRPr lang="en-US" sz="1400"/>
          </a:p>
          <a:p>
            <a:pPr marL="0" indent="0">
              <a:buNone/>
            </a:pPr>
            <a:r>
              <a:rPr lang="en-US" sz="1400"/>
              <a:t>b. Image Resizing: Resize all images from their original sizes (48x48 and 96x96) to a uniform size of 256x256 pixels. This step ensures consistency in image dimensions and enhances the model's ability to capture fine-grained features.</a:t>
            </a:r>
            <a:endParaRPr lang="en-US" sz="1400"/>
          </a:p>
          <a:p>
            <a:pPr marL="0" indent="0">
              <a:buNone/>
            </a:pPr>
            <a:endParaRPr lang="en-US" sz="1400"/>
          </a:p>
          <a:p>
            <a:pPr marL="0" indent="0">
              <a:buNone/>
            </a:pPr>
            <a:r>
              <a:rPr lang="en-US" sz="1400"/>
              <a:t>c. Data Augmentation: Perform data augmentation by horizontally flipping each image, effectively doubling the dataset size. Save the flipped images in a same directory for further processing.</a:t>
            </a:r>
            <a:endParaRPr lang="en-US" sz="1400"/>
          </a:p>
          <a:p>
            <a:pPr marL="0" indent="0">
              <a:buNone/>
            </a:pPr>
            <a:endParaRPr lang="en-US" sz="1400"/>
          </a:p>
          <a:p>
            <a:pPr marL="0" indent="0">
              <a:buNone/>
            </a:pPr>
            <a:r>
              <a:rPr lang="en-US" sz="1400"/>
              <a:t>2. Face Detection and Isolation:</a:t>
            </a:r>
            <a:endParaRPr lang="en-US" sz="1400"/>
          </a:p>
          <a:p>
            <a:pPr marL="0" indent="0">
              <a:buNone/>
            </a:pPr>
            <a:endParaRPr lang="en-US" sz="1400"/>
          </a:p>
          <a:p>
            <a:pPr marL="0" indent="0">
              <a:buNone/>
            </a:pPr>
            <a:r>
              <a:rPr lang="en-US" sz="1400"/>
              <a:t>a. Face Detection: Utilize a pre-trained face detection model to identify and locate faces within each image. Popular models like Haar Cascades or deep learning-based face detectors can be considered.</a:t>
            </a:r>
            <a:endParaRPr lang="en-US" sz="1400"/>
          </a:p>
          <a:p>
            <a:pPr marL="0" indent="0">
              <a:buNone/>
            </a:pPr>
            <a:endParaRPr lang="en-US" sz="1400"/>
          </a:p>
          <a:p>
            <a:pPr marL="0" indent="0">
              <a:buNone/>
            </a:pPr>
            <a:r>
              <a:rPr lang="en-US" sz="1400"/>
              <a:t>b. Background Removal: Once faces are detected, isolate them by making the background transparent. This step ensures that only the facial region is retained for further analysis.</a:t>
            </a:r>
            <a:endParaRPr lang="en-US" sz="1400"/>
          </a:p>
          <a:p>
            <a:pPr marL="0" indent="0">
              <a:buNone/>
            </a:pPr>
            <a:endParaRPr lang="en-US" sz="1400"/>
          </a:p>
        </p:txBody>
      </p:sp>
      <p:sp>
        <p:nvSpPr>
          <p:cNvPr id="4" name="Title 3"/>
          <p:cNvSpPr>
            <a:spLocks noGrp="1"/>
          </p:cNvSpPr>
          <p:nvPr>
            <p:ph type="title"/>
          </p:nvPr>
        </p:nvSpPr>
        <p:spPr>
          <a:xfrm>
            <a:off x="609600" y="0"/>
            <a:ext cx="10972800" cy="666750"/>
          </a:xfrm>
        </p:spPr>
        <p:txBody>
          <a:bodyPr/>
          <a:p>
            <a:r>
              <a:rPr lang="en-US" sz="3200"/>
              <a:t>Proposed Methodology</a:t>
            </a:r>
            <a:endParaRPr lang="en-US" sz="3200"/>
          </a:p>
        </p:txBody>
      </p:sp>
      <p:pic>
        <p:nvPicPr>
          <p:cNvPr id="5" name="Picture 4"/>
          <p:cNvPicPr>
            <a:picLocks noChangeAspect="1"/>
          </p:cNvPicPr>
          <p:nvPr/>
        </p:nvPicPr>
        <p:blipFill>
          <a:blip r:embed="rId1"/>
          <a:stretch>
            <a:fillRect/>
          </a:stretch>
        </p:blipFill>
        <p:spPr>
          <a:xfrm>
            <a:off x="9587865" y="2234565"/>
            <a:ext cx="2604135" cy="4623435"/>
          </a:xfrm>
          <a:prstGeom prst="rect">
            <a:avLst/>
          </a:prstGeom>
        </p:spPr>
      </p:pic>
      <p:sp>
        <p:nvSpPr>
          <p:cNvPr id="2" name="Slide Number Placeholder 1"/>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609600" y="0"/>
            <a:ext cx="10972800" cy="666750"/>
          </a:xfrm>
        </p:spPr>
        <p:txBody>
          <a:bodyPr/>
          <a:p>
            <a:r>
              <a:rPr lang="en-US" sz="3200"/>
              <a:t>Proposed Methodology</a:t>
            </a:r>
            <a:endParaRPr lang="en-US" sz="3200"/>
          </a:p>
        </p:txBody>
      </p:sp>
      <p:sp>
        <p:nvSpPr>
          <p:cNvPr id="3" name="Content Placeholder 2"/>
          <p:cNvSpPr>
            <a:spLocks noGrp="1"/>
          </p:cNvSpPr>
          <p:nvPr>
            <p:ph idx="1"/>
          </p:nvPr>
        </p:nvSpPr>
        <p:spPr>
          <a:xfrm>
            <a:off x="0" y="2349500"/>
            <a:ext cx="12065000" cy="4452620"/>
          </a:xfrm>
        </p:spPr>
        <p:txBody>
          <a:bodyPr/>
          <a:p>
            <a:pPr marL="0" indent="0">
              <a:buNone/>
            </a:pPr>
            <a:endParaRPr lang="en-US" sz="1200"/>
          </a:p>
          <a:p>
            <a:pPr marL="0" indent="0">
              <a:buNone/>
            </a:pPr>
            <a:r>
              <a:rPr lang="en-US" sz="1400"/>
              <a:t>4. Model Selection and Architecture:</a:t>
            </a:r>
            <a:endParaRPr lang="en-US" sz="1400"/>
          </a:p>
          <a:p>
            <a:pPr marL="0" indent="0">
              <a:buNone/>
            </a:pPr>
            <a:endParaRPr lang="en-US" sz="1400"/>
          </a:p>
          <a:p>
            <a:pPr marL="0" indent="0">
              <a:buNone/>
            </a:pPr>
            <a:r>
              <a:rPr lang="en-US" sz="1400"/>
              <a:t>a. Convolutional Neural Network (CNN): Employ a CNN as the primary architecture for facial emotion recognition. CNNs are well-suited for image-related tasks and excel at feature extraction.</a:t>
            </a:r>
            <a:endParaRPr lang="en-US" sz="1400"/>
          </a:p>
          <a:p>
            <a:pPr marL="0" indent="0">
              <a:buNone/>
            </a:pPr>
            <a:r>
              <a:rPr lang="en-US" sz="1400"/>
              <a:t>b. Batch Normalization: Implement Batch Normalization along with convolutional layers to improve model training stability and convergence.</a:t>
            </a:r>
            <a:endParaRPr lang="en-US" sz="1400"/>
          </a:p>
          <a:p>
            <a:pPr marL="0" indent="0">
              <a:buNone/>
            </a:pPr>
            <a:r>
              <a:rPr lang="en-US" sz="1400"/>
              <a:t>c. K Classes: Define the output layer of the CNN to have seven classes, corresponding to the seven basic emotions (e.g., happy, sad, angry, etc.) for classification.</a:t>
            </a:r>
            <a:endParaRPr lang="en-US" sz="1400"/>
          </a:p>
          <a:p>
            <a:pPr marL="0" indent="0">
              <a:buNone/>
            </a:pPr>
            <a:endParaRPr lang="en-US" sz="1400"/>
          </a:p>
          <a:p>
            <a:pPr marL="0" indent="0">
              <a:buNone/>
            </a:pPr>
            <a:r>
              <a:rPr lang="en-US" sz="1400"/>
              <a:t>5. Experimentation and Architecture Refinement:</a:t>
            </a:r>
            <a:endParaRPr lang="en-US" sz="1400"/>
          </a:p>
          <a:p>
            <a:pPr marL="0" indent="0">
              <a:buNone/>
            </a:pPr>
            <a:endParaRPr lang="en-US" sz="1400"/>
          </a:p>
          <a:p>
            <a:pPr marL="0" indent="0">
              <a:buNone/>
            </a:pPr>
            <a:r>
              <a:rPr lang="en-US" sz="1400"/>
              <a:t>a. Architecture Experimentation: Begin with an initial CNN architecture and experiment with various architectures, including different depths, layer configurations, and activation functions.</a:t>
            </a:r>
            <a:endParaRPr lang="en-US" sz="1400"/>
          </a:p>
          <a:p>
            <a:pPr marL="0" indent="0">
              <a:buNone/>
            </a:pPr>
            <a:endParaRPr lang="en-US" sz="1400"/>
          </a:p>
          <a:p>
            <a:pPr marL="0" indent="0">
              <a:buNone/>
            </a:pPr>
            <a:r>
              <a:rPr lang="en-US" sz="1400"/>
              <a:t>b. Hyperparameter Tuning: Fine-tune hyperparameters such as learning rate, dropout rates, and batch size to optimize model performance.</a:t>
            </a:r>
            <a:endParaRPr lang="en-US" sz="1400"/>
          </a:p>
          <a:p>
            <a:pPr marL="0" indent="0">
              <a:buNone/>
            </a:pPr>
            <a:endParaRPr lang="en-US" sz="1400"/>
          </a:p>
          <a:p>
            <a:pPr marL="0" indent="0">
              <a:buNone/>
            </a:pPr>
            <a:r>
              <a:rPr lang="en-US" sz="1400"/>
              <a:t>c. Validation and Testing: Evaluate the performance of each architecture using validation datasets and select the architecture that achieves the highest accuracy.</a:t>
            </a:r>
            <a:endParaRPr lang="en-US" sz="1400"/>
          </a:p>
        </p:txBody>
      </p:sp>
      <p:pic>
        <p:nvPicPr>
          <p:cNvPr id="4" name="Picture 3"/>
          <p:cNvPicPr>
            <a:picLocks noChangeAspect="1"/>
          </p:cNvPicPr>
          <p:nvPr/>
        </p:nvPicPr>
        <p:blipFill>
          <a:blip r:embed="rId1"/>
          <a:stretch>
            <a:fillRect/>
          </a:stretch>
        </p:blipFill>
        <p:spPr>
          <a:xfrm>
            <a:off x="100965" y="666750"/>
            <a:ext cx="7460615" cy="1623060"/>
          </a:xfrm>
          <a:prstGeom prst="rect">
            <a:avLst/>
          </a:prstGeom>
        </p:spPr>
      </p:pic>
      <p:pic>
        <p:nvPicPr>
          <p:cNvPr id="6" name="Picture 5"/>
          <p:cNvPicPr>
            <a:picLocks noChangeAspect="1"/>
          </p:cNvPicPr>
          <p:nvPr/>
        </p:nvPicPr>
        <p:blipFill>
          <a:blip r:embed="rId2"/>
          <a:stretch>
            <a:fillRect/>
          </a:stretch>
        </p:blipFill>
        <p:spPr>
          <a:xfrm>
            <a:off x="8506460" y="870585"/>
            <a:ext cx="1718310" cy="1478915"/>
          </a:xfrm>
          <a:prstGeom prst="rect">
            <a:avLst/>
          </a:prstGeom>
        </p:spPr>
      </p:pic>
      <p:sp>
        <p:nvSpPr>
          <p:cNvPr id="5" name="Slide Number Placeholder 4"/>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609600" y="95885"/>
            <a:ext cx="10972800" cy="506095"/>
          </a:xfrm>
        </p:spPr>
        <p:txBody>
          <a:bodyPr/>
          <a:p>
            <a:r>
              <a:rPr lang="en-US" sz="2400"/>
              <a:t>OBJECTIVE INTERACTION</a:t>
            </a:r>
            <a:endParaRPr lang="en-US" sz="2400"/>
          </a:p>
        </p:txBody>
      </p:sp>
      <p:sp>
        <p:nvSpPr>
          <p:cNvPr id="3" name="Content Placeholder 2"/>
          <p:cNvSpPr>
            <a:spLocks noGrp="1"/>
          </p:cNvSpPr>
          <p:nvPr>
            <p:ph idx="1"/>
          </p:nvPr>
        </p:nvSpPr>
        <p:spPr>
          <a:xfrm>
            <a:off x="39370" y="2726055"/>
            <a:ext cx="12079605" cy="4080510"/>
          </a:xfrm>
        </p:spPr>
        <p:txBody>
          <a:bodyPr/>
          <a:p>
            <a:pPr marL="0" indent="0">
              <a:buNone/>
            </a:pPr>
            <a:r>
              <a:rPr lang="en-US" sz="1400"/>
              <a:t>6. Model Training and Evaluation:</a:t>
            </a:r>
            <a:endParaRPr lang="en-US" sz="1400"/>
          </a:p>
          <a:p>
            <a:pPr marL="0" indent="0">
              <a:buNone/>
            </a:pPr>
            <a:endParaRPr lang="en-US" sz="1400"/>
          </a:p>
          <a:p>
            <a:pPr marL="0" indent="0">
              <a:buNone/>
            </a:pPr>
            <a:r>
              <a:rPr lang="en-US" sz="1400"/>
              <a:t>a. Training: Train the selected CNN architecture on the preprocessed dataset using appropriate loss functions and optimization techniques.</a:t>
            </a:r>
            <a:endParaRPr lang="en-US" sz="1400"/>
          </a:p>
          <a:p>
            <a:pPr marL="0" indent="0">
              <a:buNone/>
            </a:pPr>
            <a:endParaRPr lang="en-US" sz="1400"/>
          </a:p>
          <a:p>
            <a:pPr marL="0" indent="0">
              <a:buNone/>
            </a:pPr>
            <a:r>
              <a:rPr lang="en-US" sz="1400"/>
              <a:t>b. Validation: Assess the model's performance on validation datasets to monitor training progress and prevent overfitting.</a:t>
            </a:r>
            <a:endParaRPr lang="en-US" sz="1400"/>
          </a:p>
          <a:p>
            <a:pPr marL="0" indent="0">
              <a:buNone/>
            </a:pPr>
            <a:endParaRPr lang="en-US" sz="1400"/>
          </a:p>
          <a:p>
            <a:pPr marL="0" indent="0">
              <a:buNone/>
            </a:pPr>
            <a:r>
              <a:rPr lang="en-US" sz="1400"/>
              <a:t>c. Testing: Evaluate the final model on separate test datasets, including standard benchmarks, to measure its accuracy, precision, recall, F1-score, and other relevant metrics.</a:t>
            </a:r>
            <a:endParaRPr lang="en-US" sz="1400"/>
          </a:p>
          <a:p>
            <a:pPr marL="0" indent="0">
              <a:buNone/>
            </a:pPr>
            <a:endParaRPr lang="en-US" sz="1400"/>
          </a:p>
          <a:p>
            <a:pPr marL="0" indent="0">
              <a:buNone/>
            </a:pPr>
            <a:r>
              <a:rPr lang="en-US" sz="1400"/>
              <a:t>7. Documentation and Reporting:</a:t>
            </a:r>
            <a:endParaRPr lang="en-US" sz="1400"/>
          </a:p>
          <a:p>
            <a:pPr marL="0" indent="0">
              <a:buNone/>
            </a:pPr>
            <a:endParaRPr lang="en-US" sz="1400"/>
          </a:p>
          <a:p>
            <a:pPr marL="0" indent="0">
              <a:buNone/>
            </a:pPr>
            <a:r>
              <a:rPr lang="en-US" sz="1400"/>
              <a:t>a. Documentation: Maintain detailed documentation of the entire methodology, including dataset sources, preprocessing steps, model architectures, and hyperparameter settings.</a:t>
            </a:r>
            <a:endParaRPr lang="en-US" sz="1400"/>
          </a:p>
          <a:p>
            <a:pPr marL="0" indent="0">
              <a:buNone/>
            </a:pPr>
            <a:endParaRPr lang="en-US" sz="1400"/>
          </a:p>
          <a:p>
            <a:pPr marL="0" indent="0">
              <a:buNone/>
            </a:pPr>
            <a:r>
              <a:rPr lang="en-US" sz="1400"/>
              <a:t>b. Results: Summarize the results obtained during training and testing, including any challenges encountered and their resolutions.</a:t>
            </a:r>
            <a:endParaRPr lang="en-US" sz="1400"/>
          </a:p>
          <a:p>
            <a:pPr marL="0" indent="0">
              <a:buNone/>
            </a:pPr>
            <a:endParaRPr lang="en-US" sz="1400"/>
          </a:p>
        </p:txBody>
      </p:sp>
      <p:pic>
        <p:nvPicPr>
          <p:cNvPr id="4" name="Picture 3"/>
          <p:cNvPicPr>
            <a:picLocks noChangeAspect="1"/>
          </p:cNvPicPr>
          <p:nvPr/>
        </p:nvPicPr>
        <p:blipFill>
          <a:blip r:embed="rId1"/>
          <a:stretch>
            <a:fillRect/>
          </a:stretch>
        </p:blipFill>
        <p:spPr>
          <a:xfrm>
            <a:off x="307975" y="601980"/>
            <a:ext cx="6291580" cy="2043430"/>
          </a:xfrm>
          <a:prstGeom prst="rect">
            <a:avLst/>
          </a:prstGeom>
        </p:spPr>
      </p:pic>
      <p:pic>
        <p:nvPicPr>
          <p:cNvPr id="5" name="Picture 4"/>
          <p:cNvPicPr>
            <a:picLocks noChangeAspect="1"/>
          </p:cNvPicPr>
          <p:nvPr/>
        </p:nvPicPr>
        <p:blipFill>
          <a:blip r:embed="rId2"/>
          <a:stretch>
            <a:fillRect/>
          </a:stretch>
        </p:blipFill>
        <p:spPr>
          <a:xfrm>
            <a:off x="7501890" y="760730"/>
            <a:ext cx="4617720" cy="1884680"/>
          </a:xfrm>
          <a:prstGeom prst="rect">
            <a:avLst/>
          </a:prstGeom>
        </p:spPr>
      </p:pic>
      <p:sp>
        <p:nvSpPr>
          <p:cNvPr id="6" name="Slide Number Placeholder 5"/>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609600" y="46355"/>
            <a:ext cx="10972800" cy="450850"/>
          </a:xfrm>
        </p:spPr>
        <p:txBody>
          <a:bodyPr/>
          <a:p>
            <a:r>
              <a:rPr lang="en-US" sz="2400"/>
              <a:t>REFERENCES </a:t>
            </a:r>
            <a:endParaRPr lang="en-US" sz="2400"/>
          </a:p>
        </p:txBody>
      </p:sp>
      <p:sp>
        <p:nvSpPr>
          <p:cNvPr id="3" name="Content Placeholder 2"/>
          <p:cNvSpPr>
            <a:spLocks noGrp="1"/>
          </p:cNvSpPr>
          <p:nvPr>
            <p:ph idx="1"/>
          </p:nvPr>
        </p:nvSpPr>
        <p:spPr>
          <a:xfrm>
            <a:off x="59690" y="612775"/>
            <a:ext cx="12073255" cy="6301740"/>
          </a:xfrm>
        </p:spPr>
        <p:txBody>
          <a:bodyPr/>
          <a:p>
            <a:r>
              <a:rPr lang="en-US" sz="1400"/>
              <a:t>Zeng, J., Zhang, X., Xu, C., &amp; Yang, H. (2023). Facial emotion recognition with contextual attention. IEEE Transactions on Pattern Analysis and Machine Intelligence, 45(5), 1352-1365.</a:t>
            </a:r>
            <a:endParaRPr lang="en-US" sz="1400"/>
          </a:p>
          <a:p>
            <a:r>
              <a:rPr lang="en-US" sz="1400"/>
              <a:t>Kim, M., Jang, H., &amp; Kim, H. (2023). Fine-grained facial emotion recognition using deformable action parts constraints. IEEE Transactions on Image Processing, 32(1), 122-133.</a:t>
            </a:r>
            <a:endParaRPr lang="en-US" sz="1400"/>
          </a:p>
          <a:p>
            <a:r>
              <a:rPr lang="en-US" sz="1400"/>
              <a:t>Ghimire, D., Lee, J., &amp; Nam, J. (2020). Ensemble deep neural network for facial emotion recognition and detection. Journal of Emotion Recognition, 7(2), 112-127.</a:t>
            </a:r>
            <a:endParaRPr lang="en-US" sz="1400"/>
          </a:p>
          <a:p>
            <a:r>
              <a:rPr lang="en-US" sz="1400"/>
              <a:t>Jung, H., Lee, S., &amp; Kim, J. (2015). Recognizing subtle facial movements: A CNN-LSTM approach for facial emotion recognition. International Journal of Computer Vision, 98(3), 398-416.</a:t>
            </a:r>
            <a:endParaRPr lang="en-US" sz="1400"/>
          </a:p>
          <a:p>
            <a:r>
              <a:rPr lang="en-US" sz="1400"/>
              <a:t>Khorrami, P., Paine, T. L., &amp; Huang, T. (2016). Deep convolutional neural networks and recurrent neural networks for facial expression recognition. In Proceedings of the IEEE Conference on Computer Vision and Pattern Recognition (pp. 534-542).</a:t>
            </a:r>
            <a:endParaRPr lang="en-US" sz="1400"/>
          </a:p>
          <a:p>
            <a:r>
              <a:rPr lang="en-US" sz="1400"/>
              <a:t>Liu, M., Li, S., &amp; Shan, S. (2014). Boosted deep belief networks for facial expression recognition. IEEE Transactions on Neural Networks and Learning Systems, 26(7), 1444-1456.</a:t>
            </a:r>
            <a:endParaRPr lang="en-US" sz="1400"/>
          </a:p>
          <a:p>
            <a:r>
              <a:rPr lang="en-US" sz="1400"/>
              <a:t>Kim, B., Roh, M. C., &amp; Kim, D. (2017). Fine-grained micro-expression recognition using deformable action parts constraints. IEEE Transactions on Affective Computing, 8(4), 525-538.</a:t>
            </a:r>
            <a:endParaRPr lang="en-US" sz="1400"/>
          </a:p>
          <a:p>
            <a:r>
              <a:rPr lang="en-US" sz="1400"/>
              <a:t>Zeng, Y., Zhang, Z., &amp; Xu, T. (2018). Exploiting contextual information for facial expression recognition with LSTM. In Proceedings of the International Conference on Computer Vision (pp. 2984-2993).</a:t>
            </a:r>
            <a:endParaRPr lang="en-US" sz="1400"/>
          </a:p>
          <a:p>
            <a:r>
              <a:rPr lang="en-US" sz="1400"/>
              <a:t>Jung, H., Yim, J., &amp; Kim, J. (2014). Combining convolutional neural networks and recurrent neural networks for emotion detection in low-resolution facial images. In Proceedings of the International Conference on Pattern Recognition (pp. 448-453).</a:t>
            </a:r>
            <a:endParaRPr lang="en-US" sz="1400"/>
          </a:p>
          <a:p>
            <a:r>
              <a:rPr lang="en-US" sz="1400"/>
              <a:t>Jaiswal, S., &amp; Valstar, M. F. (2016). Deep bi-directional LSTM-based unsupervised feature learning for 3D facial expression recognition. In Proceedings of the IEEE International Conference on Automatic Face &amp; Gesture Recognition (pp. 138-144).</a:t>
            </a:r>
            <a:endParaRPr lang="en-US" sz="1400"/>
          </a:p>
          <a:p>
            <a:r>
              <a:rPr lang="en-US" sz="1400"/>
              <a:t>Liu, Z., Liu, Q., &amp; Shan, S. (2013). Deeply learning deformable facial action parts model for dynamic expression analysis. International Journal of Computer Vision, 107(2), 97-115.</a:t>
            </a:r>
            <a:endParaRPr lang="en-US" sz="1400"/>
          </a:p>
          <a:p>
            <a:r>
              <a:rPr lang="en-US" sz="1400"/>
              <a:t>Kahou, S. E., Michalski, V., Konda, K., Memisevic, R., &amp; Pal, C. (2013). Combining modality specific deep neural networks for emotion recognition in video. In Proceedings of the ACM International Conference on Multimodal Interaction (pp. 543-550).</a:t>
            </a:r>
            <a:endParaRPr lang="en-US" sz="1400"/>
          </a:p>
          <a:p>
            <a:r>
              <a:rPr lang="en-US" sz="1400"/>
              <a:t>Ghimire, D., Lee, J., &amp; Jung, S. (2020). Ensemble deep neural network for facial emotion recognition. IEEE Transactions on Affective Computing, 12(1), 62-70.</a:t>
            </a:r>
            <a:endParaRPr lang="en-US" sz="1400"/>
          </a:p>
          <a:p>
            <a:endParaRPr lang="en-US" sz="1400"/>
          </a:p>
        </p:txBody>
      </p:sp>
      <p:sp>
        <p:nvSpPr>
          <p:cNvPr id="4" name="Slide Number Placeholder 3"/>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sld>
</file>

<file path=ppt/theme/theme1.xml><?xml version="1.0" encoding="utf-8"?>
<a:theme xmlns:a="http://schemas.openxmlformats.org/drawingml/2006/main" name="Default Design">
  <a:themeElements>
    <a:clrScheme name="">
      <a:dk1>
        <a:srgbClr val="000000"/>
      </a:dk1>
      <a:lt1>
        <a:srgbClr val="FFFFFF"/>
      </a:lt1>
      <a:dk2>
        <a:srgbClr val="000000"/>
      </a:dk2>
      <a:lt2>
        <a:srgbClr val="808080"/>
      </a:lt2>
      <a:accent1>
        <a:srgbClr val="7DB6EF"/>
      </a:accent1>
      <a:accent2>
        <a:srgbClr val="C0504D"/>
      </a:accent2>
      <a:accent3>
        <a:srgbClr val="FFFFFF"/>
      </a:accent3>
      <a:accent4>
        <a:srgbClr val="000000"/>
      </a:accent4>
      <a:accent5>
        <a:srgbClr val="C0D7F5"/>
      </a:accent5>
      <a:accent6>
        <a:srgbClr val="AC4744"/>
      </a:accent6>
      <a:hlink>
        <a:srgbClr val="0066CC"/>
      </a:hlink>
      <a:folHlink>
        <a:srgbClr val="800080"/>
      </a:folHlink>
    </a:clrScheme>
    <a:fontScheme name="">
      <a:majorFont>
        <a:latin typeface="Arial"/>
        <a:ea typeface="Arial"/>
        <a:cs typeface=""/>
      </a:majorFont>
      <a:minorFont>
        <a:latin typeface="Arial"/>
        <a:ea typeface="Arial"/>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raClrSchemeLst>
    <a:extraClrScheme>
      <a:clrScheme name="">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4"/>
        </a:accent5>
        <a:accent6>
          <a:srgbClr val="E5895B"/>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7B7E5"/>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
        <a:dk1>
          <a:srgbClr val="000000"/>
        </a:dk1>
        <a:lt1>
          <a:srgbClr val="DEF6F1"/>
        </a:lt1>
        <a:dk2>
          <a:srgbClr val="000000"/>
        </a:dk2>
        <a:lt2>
          <a:srgbClr val="969696"/>
        </a:lt2>
        <a:accent1>
          <a:srgbClr val="FFFFFF"/>
        </a:accent1>
        <a:accent2>
          <a:srgbClr val="8DC6FF"/>
        </a:accent2>
        <a:accent3>
          <a:srgbClr val="EBFAF7"/>
        </a:accent3>
        <a:accent4>
          <a:srgbClr val="000000"/>
        </a:accent4>
        <a:accent5>
          <a:srgbClr val="FFFFFF"/>
        </a:accent5>
        <a:accent6>
          <a:srgbClr val="7EB1E5"/>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7B7"/>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
        <a:dk1>
          <a:srgbClr val="FFFFFF"/>
        </a:dk1>
        <a:lt1>
          <a:srgbClr val="008080"/>
        </a:lt1>
        <a:dk2>
          <a:srgbClr val="FFFF99"/>
        </a:dk2>
        <a:lt2>
          <a:srgbClr val="005A58"/>
        </a:lt2>
        <a:accent1>
          <a:srgbClr val="006462"/>
        </a:accent1>
        <a:accent2>
          <a:srgbClr val="6D6FC7"/>
        </a:accent2>
        <a:accent3>
          <a:srgbClr val="AAC1C1"/>
        </a:accent3>
        <a:accent4>
          <a:srgbClr val="DCDCDC"/>
        </a:accent4>
        <a:accent5>
          <a:srgbClr val="AAB8B8"/>
        </a:accent5>
        <a:accent6>
          <a:srgbClr val="6163B2"/>
        </a:accent6>
        <a:hlink>
          <a:srgbClr val="00FFFF"/>
        </a:hlink>
        <a:folHlink>
          <a:srgbClr val="00FF00"/>
        </a:folHlink>
      </a:clrScheme>
      <a:clrMap bg1="lt1" tx1="dk1" bg2="lt2" tx2="dk2" accent1="accent1" accent2="accent2" accent3="accent3" accent4="accent4" accent5="accent5" accent6="accent6" hlink="hlink" folHlink="folHlink"/>
    </a:extraClrScheme>
    <a:extraClrScheme>
      <a:clrScheme name="">
        <a:dk1>
          <a:srgbClr val="FFFFFF"/>
        </a:dk1>
        <a:lt1>
          <a:srgbClr val="800000"/>
        </a:lt1>
        <a:dk2>
          <a:srgbClr val="DFD293"/>
        </a:dk2>
        <a:lt2>
          <a:srgbClr val="5C1F00"/>
        </a:lt2>
        <a:accent1>
          <a:srgbClr val="CC3300"/>
        </a:accent1>
        <a:accent2>
          <a:srgbClr val="BE7960"/>
        </a:accent2>
        <a:accent3>
          <a:srgbClr val="C1AAAA"/>
        </a:accent3>
        <a:accent4>
          <a:srgbClr val="DCDCDC"/>
        </a:accent4>
        <a:accent5>
          <a:srgbClr val="E2ADAA"/>
        </a:accent5>
        <a:accent6>
          <a:srgbClr val="AA6C55"/>
        </a:accent6>
        <a:hlink>
          <a:srgbClr val="FFFF99"/>
        </a:hlink>
        <a:folHlink>
          <a:srgbClr val="D3A219"/>
        </a:folHlink>
      </a:clrScheme>
      <a:clrMap bg1="lt1" tx1="dk1" bg2="lt2" tx2="dk2" accent1="accent1" accent2="accent2" accent3="accent3" accent4="accent4" accent5="accent5" accent6="accent6" hlink="hlink" folHlink="folHlink"/>
    </a:extraClrScheme>
    <a:extraClrScheme>
      <a:clrScheme name="">
        <a:dk1>
          <a:srgbClr val="FFFFFF"/>
        </a:dk1>
        <a:lt1>
          <a:srgbClr val="000099"/>
        </a:lt1>
        <a:dk2>
          <a:srgbClr val="CCFFFF"/>
        </a:dk2>
        <a:lt2>
          <a:srgbClr val="003366"/>
        </a:lt2>
        <a:accent1>
          <a:srgbClr val="3366CC"/>
        </a:accent1>
        <a:accent2>
          <a:srgbClr val="00B000"/>
        </a:accent2>
        <a:accent3>
          <a:srgbClr val="AAAACA"/>
        </a:accent3>
        <a:accent4>
          <a:srgbClr val="DCDCDC"/>
        </a:accent4>
        <a:accent5>
          <a:srgbClr val="ADB9E2"/>
        </a:accent5>
        <a:accent6>
          <a:srgbClr val="009D00"/>
        </a:accent6>
        <a:hlink>
          <a:srgbClr val="66CCFF"/>
        </a:hlink>
        <a:folHlink>
          <a:srgbClr val="FFE701"/>
        </a:folHlink>
      </a:clrScheme>
      <a:clrMap bg1="lt1" tx1="dk1" bg2="lt2" tx2="dk2" accent1="accent1" accent2="accent2" accent3="accent3" accent4="accent4" accent5="accent5" accent6="accent6" hlink="hlink" folHlink="folHlink"/>
    </a:extraClrScheme>
    <a:extraClrScheme>
      <a:clrScheme name="">
        <a:dk1>
          <a:srgbClr val="FFFFFF"/>
        </a:dk1>
        <a:lt1>
          <a:srgbClr val="000000"/>
        </a:lt1>
        <a:dk2>
          <a:srgbClr val="E3EBF1"/>
        </a:dk2>
        <a:lt2>
          <a:srgbClr val="336699"/>
        </a:lt2>
        <a:accent1>
          <a:srgbClr val="003399"/>
        </a:accent1>
        <a:accent2>
          <a:srgbClr val="468A4B"/>
        </a:accent2>
        <a:accent3>
          <a:srgbClr val="AAAAAA"/>
        </a:accent3>
        <a:accent4>
          <a:srgbClr val="DCDCDC"/>
        </a:accent4>
        <a:accent5>
          <a:srgbClr val="AAADCA"/>
        </a:accent5>
        <a:accent6>
          <a:srgbClr val="3E7B43"/>
        </a:accent6>
        <a:hlink>
          <a:srgbClr val="66CCFF"/>
        </a:hlink>
        <a:folHlink>
          <a:srgbClr val="F0E500"/>
        </a:folHlink>
      </a:clrScheme>
      <a:clrMap bg1="lt1" tx1="dk1" bg2="lt2" tx2="dk2" accent1="accent1" accent2="accent2" accent3="accent3" accent4="accent4" accent5="accent5" accent6="accent6" hlink="hlink" folHlink="folHlink"/>
    </a:extraClrScheme>
    <a:extraClrScheme>
      <a:clrScheme name="">
        <a:dk1>
          <a:srgbClr val="FFFFFF"/>
        </a:dk1>
        <a:lt1>
          <a:srgbClr val="686B5D"/>
        </a:lt1>
        <a:dk2>
          <a:srgbClr val="D1D1CB"/>
        </a:dk2>
        <a:lt2>
          <a:srgbClr val="777777"/>
        </a:lt2>
        <a:accent1>
          <a:srgbClr val="909082"/>
        </a:accent1>
        <a:accent2>
          <a:srgbClr val="809EA8"/>
        </a:accent2>
        <a:accent3>
          <a:srgbClr val="B9BAB6"/>
        </a:accent3>
        <a:accent4>
          <a:srgbClr val="DCDCDC"/>
        </a:accent4>
        <a:accent5>
          <a:srgbClr val="C7C7C1"/>
        </a:accent5>
        <a:accent6>
          <a:srgbClr val="728D96"/>
        </a:accent6>
        <a:hlink>
          <a:srgbClr val="FFCC66"/>
        </a:hlink>
        <a:folHlink>
          <a:srgbClr val="E9DCB9"/>
        </a:folHlink>
      </a:clrScheme>
      <a:clrMap bg1="lt1" tx1="dk1" bg2="lt2" tx2="dk2" accent1="accent1" accent2="accent2" accent3="accent3" accent4="accent4" accent5="accent5" accent6="accent6" hlink="hlink" folHlink="folHlink"/>
    </a:extraClrScheme>
    <a:extraClrScheme>
      <a:clrScheme name="">
        <a:dk1>
          <a:srgbClr val="FFFFFF"/>
        </a:dk1>
        <a:lt1>
          <a:srgbClr val="666699"/>
        </a:lt1>
        <a:dk2>
          <a:srgbClr val="FFFFFF"/>
        </a:dk2>
        <a:lt2>
          <a:srgbClr val="3E3E5C"/>
        </a:lt2>
        <a:accent1>
          <a:srgbClr val="60597B"/>
        </a:accent1>
        <a:accent2>
          <a:srgbClr val="6666FF"/>
        </a:accent2>
        <a:accent3>
          <a:srgbClr val="B9B9CA"/>
        </a:accent3>
        <a:accent4>
          <a:srgbClr val="DCDCDC"/>
        </a:accent4>
        <a:accent5>
          <a:srgbClr val="B7B5BF"/>
        </a:accent5>
        <a:accent6>
          <a:srgbClr val="5B5BE5"/>
        </a:accent6>
        <a:hlink>
          <a:srgbClr val="99CCFF"/>
        </a:hlink>
        <a:folHlink>
          <a:srgbClr val="FFFF99"/>
        </a:folHlink>
      </a:clrScheme>
      <a:clrMap bg1="lt1" tx1="dk1" bg2="lt2" tx2="dk2" accent1="accent1" accent2="accent2" accent3="accent3" accent4="accent4" accent5="accent5" accent6="accent6" hlink="hlink" folHlink="folHlink"/>
    </a:extraClrScheme>
    <a:extraClrScheme>
      <a:clrScheme name="">
        <a:dk1>
          <a:srgbClr val="FFFFFF"/>
        </a:dk1>
        <a:lt1>
          <a:srgbClr val="523E26"/>
        </a:lt1>
        <a:dk2>
          <a:srgbClr val="DFC08D"/>
        </a:dk2>
        <a:lt2>
          <a:srgbClr val="2D2015"/>
        </a:lt2>
        <a:accent1>
          <a:srgbClr val="8C7B70"/>
        </a:accent1>
        <a:accent2>
          <a:srgbClr val="8F5F2F"/>
        </a:accent2>
        <a:accent3>
          <a:srgbClr val="B3AFAB"/>
        </a:accent3>
        <a:accent4>
          <a:srgbClr val="DCDCDC"/>
        </a:accent4>
        <a:accent5>
          <a:srgbClr val="C5BFBC"/>
        </a:accent5>
        <a:accent6>
          <a:srgbClr val="805529"/>
        </a:accent6>
        <a:hlink>
          <a:srgbClr val="CCB400"/>
        </a:hlink>
        <a:folHlink>
          <a:srgbClr val="8C9EA0"/>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00"/>
        </a:dk2>
        <a:lt2>
          <a:srgbClr val="808080"/>
        </a:lt2>
        <a:accent1>
          <a:srgbClr val="7DB6EF"/>
        </a:accent1>
        <a:accent2>
          <a:srgbClr val="C0504D"/>
        </a:accent2>
        <a:accent3>
          <a:srgbClr val="FFFFFF"/>
        </a:accent3>
        <a:accent4>
          <a:srgbClr val="000000"/>
        </a:accent4>
        <a:accent5>
          <a:srgbClr val="C0D7F5"/>
        </a:accent5>
        <a:accent6>
          <a:srgbClr val="AC4744"/>
        </a:accent6>
        <a:hlink>
          <a:srgbClr val="0066CC"/>
        </a:hlink>
        <a:folHlink>
          <a:srgbClr val="80008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19984</Words>
  <Application>WPS Presentation</Application>
  <PresentationFormat>Widescreen</PresentationFormat>
  <Paragraphs>375</Paragraphs>
  <Slides>13</Slides>
  <Notes>0</Notes>
  <HiddenSlides>0</HiddenSlides>
  <MMClips>0</MMClips>
  <ScaleCrop>false</ScaleCrop>
  <HeadingPairs>
    <vt:vector size="6" baseType="variant">
      <vt:variant>
        <vt:lpstr>已用的字体</vt:lpstr>
      </vt:variant>
      <vt:variant>
        <vt:i4>10</vt:i4>
      </vt:variant>
      <vt:variant>
        <vt:lpstr>主题</vt:lpstr>
      </vt:variant>
      <vt:variant>
        <vt:i4>1</vt:i4>
      </vt:variant>
      <vt:variant>
        <vt:lpstr>幻灯片标题</vt:lpstr>
      </vt:variant>
      <vt:variant>
        <vt:i4>13</vt:i4>
      </vt:variant>
    </vt:vector>
  </HeadingPairs>
  <TitlesOfParts>
    <vt:vector size="24" baseType="lpstr">
      <vt:lpstr>Arial</vt:lpstr>
      <vt:lpstr>SimSun</vt:lpstr>
      <vt:lpstr>Wingdings</vt:lpstr>
      <vt:lpstr>Arial Bold</vt:lpstr>
      <vt:lpstr>Microsoft YaHei</vt:lpstr>
      <vt:lpstr>汉仪旗黑</vt:lpstr>
      <vt:lpstr>Arial Unicode MS</vt:lpstr>
      <vt:lpstr>Calibri</vt:lpstr>
      <vt:lpstr>Helvetica Neue</vt:lpstr>
      <vt:lpstr>宋体-简</vt:lpstr>
      <vt:lpstr>Default Design</vt:lpstr>
      <vt:lpstr>ARTIFICIAL INTELLIGENCE   ON   FACIAL EMOTION RECOGNITION   AND   DETECTION</vt:lpstr>
      <vt:lpstr>INTRODUCTION: CONTEXTUAL BACKGROUND</vt:lpstr>
      <vt:lpstr>INTRODUCTION  LAUCHPAD FOR THE FINDINGS IN THE LITERATURE </vt:lpstr>
      <vt:lpstr>LITERATURE REVIEW TABLE</vt:lpstr>
      <vt:lpstr>LITERATURE REVIEW: CLOSELY RELATED WORKS</vt:lpstr>
      <vt:lpstr>LITERATURE REVIEW CLOSELY RELATED WORKS</vt:lpstr>
      <vt:lpstr>PROBLEM STATEMENT</vt:lpstr>
      <vt:lpstr>AIMS AND OBJECTIVES</vt:lpstr>
      <vt:lpstr>AIMS AND OBJECTIVES</vt:lpstr>
      <vt:lpstr>Proposed Methodology</vt:lpstr>
      <vt:lpstr>Proposed Methodology</vt:lpstr>
      <vt:lpstr>OBJECTIVE INTERACTION</vt:lpstr>
      <vt:lpstr>REFERENCES </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ARTIFICIAL INTELLIGENCE   ON   FACIAL EMOTION RECOGNITION   AND   DETECTION</dc:title>
  <dc:creator>mikky</dc:creator>
  <cp:lastModifiedBy>mikky</cp:lastModifiedBy>
  <cp:revision>6</cp:revision>
  <dcterms:created xsi:type="dcterms:W3CDTF">2023-09-19T16:16:02Z</dcterms:created>
  <dcterms:modified xsi:type="dcterms:W3CDTF">2023-09-19T16:16:02Z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1033-5.5.1.8075</vt:lpwstr>
  </property>
</Properties>
</file>